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60" r:id="rId1"/>
  </p:sldMasterIdLst>
  <p:notesMasterIdLst>
    <p:notesMasterId r:id="rId19"/>
  </p:notesMasterIdLst>
  <p:sldIdLst>
    <p:sldId id="298" r:id="rId2"/>
    <p:sldId id="299" r:id="rId3"/>
    <p:sldId id="261" r:id="rId4"/>
    <p:sldId id="259" r:id="rId5"/>
    <p:sldId id="290" r:id="rId6"/>
    <p:sldId id="297" r:id="rId7"/>
    <p:sldId id="296" r:id="rId8"/>
    <p:sldId id="260" r:id="rId9"/>
    <p:sldId id="286" r:id="rId10"/>
    <p:sldId id="293" r:id="rId11"/>
    <p:sldId id="300" r:id="rId12"/>
    <p:sldId id="301" r:id="rId13"/>
    <p:sldId id="302" r:id="rId14"/>
    <p:sldId id="303" r:id="rId15"/>
    <p:sldId id="288" r:id="rId16"/>
    <p:sldId id="289" r:id="rId17"/>
    <p:sldId id="282" r:id="rId18"/>
  </p:sldIdLst>
  <p:sldSz cx="9144000" cy="5143500" type="screen16x9"/>
  <p:notesSz cx="6858000" cy="9144000"/>
  <p:embeddedFontLst>
    <p:embeddedFont>
      <p:font typeface="Poppins" pitchFamily="2" charset="77"/>
      <p:regular r:id="rId20"/>
      <p:bold r:id="rId21"/>
      <p:italic r:id="rId22"/>
      <p:boldItalic r:id="rId23"/>
    </p:embeddedFont>
    <p:embeddedFont>
      <p:font typeface="Poppins Light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181"/>
    <a:srgbClr val="FF7171"/>
    <a:srgbClr val="898989"/>
    <a:srgbClr val="C1C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FF19F3-2329-4E7B-B39F-E993869724D6}">
  <a:tblStyle styleId="{31FF19F3-2329-4E7B-B39F-E99386972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19" autoAdjust="0"/>
    <p:restoredTop sz="81701" autoAdjust="0"/>
  </p:normalViewPr>
  <p:slideViewPr>
    <p:cSldViewPr snapToGrid="0" snapToObjects="1">
      <p:cViewPr varScale="1">
        <p:scale>
          <a:sx n="96" d="100"/>
          <a:sy n="96" d="100"/>
        </p:scale>
        <p:origin x="28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Bildschirmschoner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de-DE" sz="1100" b="0" i="0" u="none" strike="noStrike" cap="none" baseline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Matthias Eberlein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de-DE" sz="1100" b="0" i="0" u="none" strike="noStrike" cap="none" baseline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Fahri Kus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de-DE" sz="1100" b="0" i="0" u="none" strike="noStrike" cap="none" baseline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Simon </a:t>
            </a:r>
            <a:r>
              <a:rPr lang="de-DE" sz="1100" b="0" i="0" u="none" strike="noStrike" cap="none" baseline="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Kreuziger</a:t>
            </a:r>
            <a:endParaRPr lang="de-DE" sz="1100" b="0" i="0" u="none" strike="noStrike" cap="none" baseline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de-DE" sz="1100" b="0" i="0" u="none" strike="noStrike" cap="none" baseline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Florian Heinrich</a:t>
            </a:r>
            <a:endParaRPr lang="en-DE" sz="1100" b="0" i="0" u="none" strike="noStrike" cap="none" baseline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Wann</a:t>
            </a:r>
            <a:r>
              <a:rPr lang="en-US" dirty="0"/>
              <a:t> </a:t>
            </a:r>
            <a:r>
              <a:rPr lang="en-US" dirty="0" err="1"/>
              <a:t>Fragen</a:t>
            </a:r>
            <a:r>
              <a:rPr lang="en-US" dirty="0"/>
              <a:t> </a:t>
            </a:r>
            <a:r>
              <a:rPr lang="en-US" dirty="0" err="1"/>
              <a:t>stellen</a:t>
            </a:r>
            <a:r>
              <a:rPr lang="en-US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-&gt; Am Ende, </a:t>
            </a:r>
            <a:r>
              <a:rPr lang="en-US" dirty="0" err="1"/>
              <a:t>wenn</a:t>
            </a:r>
            <a:r>
              <a:rPr lang="en-US" dirty="0"/>
              <a:t> Zeit und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Verständis</a:t>
            </a:r>
            <a:r>
              <a:rPr lang="en-US" dirty="0"/>
              <a:t> </a:t>
            </a:r>
            <a:r>
              <a:rPr lang="en-US" dirty="0" err="1"/>
              <a:t>direkt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6012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Da </a:t>
            </a:r>
            <a:r>
              <a:rPr lang="en-US" dirty="0" err="1"/>
              <a:t>kommt</a:t>
            </a:r>
            <a:r>
              <a:rPr lang="en-US" dirty="0"/>
              <a:t> Driving-E-Car.de ins Spiel!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34127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Kunden</a:t>
            </a:r>
            <a:r>
              <a:rPr lang="en-US" dirty="0"/>
              <a:t> direct </a:t>
            </a:r>
            <a:r>
              <a:rPr lang="en-US" dirty="0" err="1"/>
              <a:t>ansprechen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“Herr </a:t>
            </a:r>
            <a:r>
              <a:rPr lang="en-US" dirty="0" err="1"/>
              <a:t>Jarzina</a:t>
            </a:r>
            <a:r>
              <a:rPr lang="en-US" dirty="0"/>
              <a:t>, </a:t>
            </a:r>
            <a:r>
              <a:rPr lang="en-US" dirty="0" err="1"/>
              <a:t>vielleicht</a:t>
            </a:r>
            <a:r>
              <a:rPr lang="en-US" dirty="0"/>
              <a:t> </a:t>
            </a:r>
            <a:r>
              <a:rPr lang="en-US" dirty="0" err="1"/>
              <a:t>erinneren</a:t>
            </a:r>
            <a:r>
              <a:rPr lang="en-US" dirty="0"/>
              <a:t> Sie </a:t>
            </a:r>
            <a:r>
              <a:rPr lang="en-US" dirty="0" err="1"/>
              <a:t>sich</a:t>
            </a:r>
            <a:r>
              <a:rPr lang="en-US" dirty="0"/>
              <a:t>,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Einstieg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ersten</a:t>
            </a:r>
            <a:r>
              <a:rPr lang="en-US" dirty="0"/>
              <a:t> Meeting was …”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Unsere</a:t>
            </a:r>
            <a:r>
              <a:rPr lang="en-US" dirty="0"/>
              <a:t> </a:t>
            </a:r>
            <a:r>
              <a:rPr lang="en-US" dirty="0" err="1"/>
              <a:t>persönliche</a:t>
            </a:r>
            <a:r>
              <a:rPr lang="en-US" dirty="0"/>
              <a:t> und </a:t>
            </a:r>
            <a:r>
              <a:rPr lang="en-US" dirty="0" err="1"/>
              <a:t>technischer</a:t>
            </a:r>
            <a:r>
              <a:rPr lang="en-US" dirty="0"/>
              <a:t> </a:t>
            </a:r>
            <a:r>
              <a:rPr lang="en-US" dirty="0" err="1"/>
              <a:t>Herausforderung</a:t>
            </a:r>
            <a:r>
              <a:rPr lang="en-US" dirty="0"/>
              <a:t>: von </a:t>
            </a:r>
            <a:r>
              <a:rPr lang="en-US" dirty="0" err="1"/>
              <a:t>überall</a:t>
            </a:r>
            <a:r>
              <a:rPr lang="en-US" dirty="0"/>
              <a:t> </a:t>
            </a:r>
            <a:r>
              <a:rPr lang="en-US" dirty="0" err="1"/>
              <a:t>erreichbar</a:t>
            </a:r>
            <a:r>
              <a:rPr lang="en-US" dirty="0"/>
              <a:t> (Web, Mobile, </a:t>
            </a:r>
            <a:r>
              <a:rPr lang="en-US" dirty="0" err="1"/>
              <a:t>ect</a:t>
            </a:r>
            <a:r>
              <a:rPr lang="en-US" dirty="0"/>
              <a:t>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Fahri Opa Diesel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Menschen Städte Köln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Verbot für Diesel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Timing von </a:t>
            </a:r>
            <a:r>
              <a:rPr lang="de-DE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Jarzina</a:t>
            </a:r>
            <a:endParaRPr lang="de-DE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Opa noch keine Idee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Aber neues Auto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Welche E-Autos (alle)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Welche E-Autos (aktuell)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Opas bedarf (Strecke pro Ladung)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Vorstellen unserer Hilfestellung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5891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Besondere</a:t>
            </a:r>
            <a:r>
              <a:rPr lang="en-US" dirty="0"/>
              <a:t> </a:t>
            </a:r>
            <a:r>
              <a:rPr lang="en-US" dirty="0" err="1"/>
              <a:t>teschniche</a:t>
            </a:r>
            <a:r>
              <a:rPr lang="en-US" dirty="0"/>
              <a:t> </a:t>
            </a:r>
            <a:r>
              <a:rPr lang="en-US" dirty="0" err="1"/>
              <a:t>Herausforderung</a:t>
            </a:r>
            <a:r>
              <a:rPr lang="en-US" dirty="0"/>
              <a:t>: </a:t>
            </a:r>
            <a:r>
              <a:rPr lang="en-US" dirty="0" err="1"/>
              <a:t>Applikation</a:t>
            </a:r>
            <a:r>
              <a:rPr lang="en-US" dirty="0"/>
              <a:t> von </a:t>
            </a:r>
            <a:r>
              <a:rPr lang="en-US" dirty="0" err="1"/>
              <a:t>überall</a:t>
            </a:r>
            <a:r>
              <a:rPr lang="en-US" dirty="0"/>
              <a:t> </a:t>
            </a:r>
            <a:r>
              <a:rPr lang="en-US" dirty="0" err="1"/>
              <a:t>erreichbar</a:t>
            </a:r>
            <a:r>
              <a:rPr lang="en-US" dirty="0"/>
              <a:t>. Web, Mobile, etc.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09084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pc="-1" dirty="0" err="1"/>
              <a:t>Machbarkeitsanalyse</a:t>
            </a:r>
            <a:r>
              <a:rPr lang="en-US" spc="-1" dirty="0"/>
              <a:t> und </a:t>
            </a:r>
            <a:r>
              <a:rPr lang="en-US" spc="-1" dirty="0" err="1"/>
              <a:t>Konzeption</a:t>
            </a:r>
            <a:endParaRPr lang="en-US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2643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war </a:t>
            </a:r>
            <a:r>
              <a:rPr lang="en-US" dirty="0" err="1"/>
              <a:t>gefordert</a:t>
            </a:r>
            <a:r>
              <a:rPr lang="en-US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Web, Mobile, (Desktop)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Aber </a:t>
            </a:r>
            <a:r>
              <a:rPr lang="en-US" dirty="0" err="1"/>
              <a:t>wie</a:t>
            </a:r>
            <a:r>
              <a:rPr lang="en-US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Basis Problem in </a:t>
            </a:r>
            <a:r>
              <a:rPr lang="de-DE" sz="1100" dirty="0" err="1"/>
              <a:t>Koorperation</a:t>
            </a:r>
            <a:r>
              <a:rPr lang="de-DE" sz="1100" dirty="0"/>
              <a:t> Team 03: "</a:t>
            </a:r>
            <a:r>
              <a:rPr lang="de-DE" sz="1100" dirty="0" err="1"/>
              <a:t>LogistGo</a:t>
            </a:r>
            <a:r>
              <a:rPr lang="de-DE" sz="1100" dirty="0"/>
              <a:t>"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Problem </a:t>
            </a:r>
            <a:r>
              <a:rPr lang="en-US" dirty="0" err="1"/>
              <a:t>kurz</a:t>
            </a:r>
            <a:r>
              <a:rPr lang="en-US" dirty="0"/>
              <a:t> </a:t>
            </a:r>
            <a:r>
              <a:rPr lang="en-US" dirty="0" err="1"/>
              <a:t>näher</a:t>
            </a:r>
            <a:r>
              <a:rPr lang="en-US" dirty="0"/>
              <a:t> </a:t>
            </a:r>
            <a:r>
              <a:rPr lang="en-US" dirty="0" err="1"/>
              <a:t>bringen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Mobile, Web </a:t>
            </a:r>
            <a:r>
              <a:rPr lang="en-US" dirty="0" err="1"/>
              <a:t>arbeiten</a:t>
            </a:r>
            <a:r>
              <a:rPr lang="en-US" dirty="0"/>
              <a:t> </a:t>
            </a:r>
            <a:r>
              <a:rPr lang="en-US" dirty="0" err="1"/>
              <a:t>anders</a:t>
            </a:r>
            <a:r>
              <a:rPr lang="en-US" dirty="0"/>
              <a:t>, </a:t>
            </a:r>
            <a:r>
              <a:rPr lang="en-US" dirty="0" err="1"/>
              <a:t>anders</a:t>
            </a:r>
            <a:r>
              <a:rPr lang="en-US" dirty="0"/>
              <a:t> </a:t>
            </a:r>
            <a:r>
              <a:rPr lang="en-US" dirty="0" err="1"/>
              <a:t>Prinzip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368300" indent="-228600">
              <a:buAutoNum type="arabicPeriod"/>
            </a:pPr>
            <a:r>
              <a:rPr lang="en-US" dirty="0"/>
              <a:t>Mobile</a:t>
            </a:r>
          </a:p>
          <a:p>
            <a:pPr marL="368300" indent="-228600">
              <a:buAutoNum type="arabicPeriod"/>
            </a:pPr>
            <a:r>
              <a:rPr lang="en-US" dirty="0"/>
              <a:t>Web Browser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53167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Etwas</a:t>
            </a:r>
            <a:r>
              <a:rPr lang="en-US" dirty="0"/>
              <a:t> </a:t>
            </a:r>
            <a:r>
              <a:rPr lang="en-US" dirty="0" err="1"/>
              <a:t>langweilige</a:t>
            </a:r>
            <a:r>
              <a:rPr lang="en-US" dirty="0"/>
              <a:t> Part (</a:t>
            </a:r>
            <a:r>
              <a:rPr lang="en-US" dirty="0" err="1"/>
              <a:t>für</a:t>
            </a:r>
            <a:r>
              <a:rPr lang="en-US" dirty="0"/>
              <a:t> manche)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/>
              <a:t>Freie</a:t>
            </a:r>
            <a:r>
              <a:rPr lang="en-US" dirty="0"/>
              <a:t> Software/Frameworks </a:t>
            </a:r>
            <a:r>
              <a:rPr lang="en-US" dirty="0" err="1"/>
              <a:t>erwünscht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/>
              <a:t>Gute</a:t>
            </a:r>
            <a:r>
              <a:rPr lang="en-US" dirty="0"/>
              <a:t>, </a:t>
            </a:r>
            <a:r>
              <a:rPr lang="en-US" dirty="0" err="1"/>
              <a:t>renovierte</a:t>
            </a:r>
            <a:r>
              <a:rPr lang="en-US" dirty="0"/>
              <a:t>/</a:t>
            </a:r>
            <a:r>
              <a:rPr lang="en-US" dirty="0" err="1"/>
              <a:t>bewerte</a:t>
            </a:r>
            <a:r>
              <a:rPr lang="en-US" dirty="0"/>
              <a:t> Software/Framework:</a:t>
            </a:r>
          </a:p>
          <a:p>
            <a:pPr marL="139700" indent="0">
              <a:buNone/>
            </a:pPr>
            <a:r>
              <a:rPr lang="en-US" dirty="0"/>
              <a:t>  -&gt; </a:t>
            </a:r>
            <a:r>
              <a:rPr lang="en-US" dirty="0" err="1"/>
              <a:t>zeitlich</a:t>
            </a:r>
            <a:r>
              <a:rPr lang="en-US" dirty="0"/>
              <a:t> </a:t>
            </a:r>
            <a:r>
              <a:rPr lang="en-US" dirty="0" err="1"/>
              <a:t>realistisch</a:t>
            </a:r>
            <a:r>
              <a:rPr lang="en-US" dirty="0"/>
              <a:t>, da </a:t>
            </a:r>
            <a:r>
              <a:rPr lang="en-US" dirty="0" err="1"/>
              <a:t>nur</a:t>
            </a:r>
            <a:r>
              <a:rPr lang="en-US" dirty="0"/>
              <a:t> 1 Platform</a:t>
            </a:r>
          </a:p>
          <a:p>
            <a:pPr marL="139700" indent="0">
              <a:buNone/>
            </a:pPr>
            <a:r>
              <a:rPr lang="en-US" dirty="0"/>
              <a:t>  -&gt; </a:t>
            </a:r>
            <a:r>
              <a:rPr lang="en-US" dirty="0" err="1"/>
              <a:t>leichter</a:t>
            </a:r>
            <a:r>
              <a:rPr lang="en-US" dirty="0"/>
              <a:t> </a:t>
            </a:r>
            <a:r>
              <a:rPr lang="en-US" dirty="0" err="1"/>
              <a:t>erweiterbar</a:t>
            </a:r>
            <a:r>
              <a:rPr lang="en-US" dirty="0"/>
              <a:t>, </a:t>
            </a:r>
            <a:r>
              <a:rPr lang="en-US" dirty="0" err="1"/>
              <a:t>wartbar</a:t>
            </a:r>
            <a:endParaRPr lang="en-US" dirty="0"/>
          </a:p>
          <a:p>
            <a:pPr marL="457200" indent="-317500">
              <a:buFont typeface="Symbol" panose="05050102010706020507" pitchFamily="18" charset="2"/>
              <a:buChar char="Þ"/>
            </a:pPr>
            <a:r>
              <a:rPr lang="en-US" dirty="0" err="1"/>
              <a:t>später</a:t>
            </a:r>
            <a:r>
              <a:rPr lang="en-US" dirty="0"/>
              <a:t> </a:t>
            </a:r>
            <a:r>
              <a:rPr lang="en-US" dirty="0" err="1"/>
              <a:t>viel</a:t>
            </a:r>
            <a:r>
              <a:rPr lang="en-US" dirty="0"/>
              <a:t> Geld </a:t>
            </a:r>
            <a:r>
              <a:rPr lang="en-US" dirty="0" err="1"/>
              <a:t>einsparen</a:t>
            </a:r>
            <a:endParaRPr lang="en-US" dirty="0"/>
          </a:p>
          <a:p>
            <a:pPr marL="457200" indent="-317500">
              <a:buFont typeface="Symbol" panose="05050102010706020507" pitchFamily="18" charset="2"/>
              <a:buChar char="Þ"/>
            </a:pPr>
            <a:endParaRPr lang="en-US" dirty="0"/>
          </a:p>
          <a:p>
            <a:pPr marL="139700" indent="0">
              <a:buFont typeface="Symbol" panose="05050102010706020507" pitchFamily="18" charset="2"/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Entscheidungen</a:t>
            </a:r>
            <a:r>
              <a:rPr lang="en-US" dirty="0"/>
              <a:t>, </a:t>
            </a:r>
            <a:r>
              <a:rPr lang="en-US" dirty="0" err="1"/>
              <a:t>wurde</a:t>
            </a:r>
            <a:r>
              <a:rPr lang="en-US" dirty="0"/>
              <a:t> das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erst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zeitlich</a:t>
            </a:r>
            <a:r>
              <a:rPr lang="en-US" dirty="0"/>
              <a:t> </a:t>
            </a:r>
            <a:r>
              <a:rPr lang="en-US" dirty="0" err="1"/>
              <a:t>realistischen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, da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viele</a:t>
            </a:r>
            <a:r>
              <a:rPr lang="en-US" dirty="0"/>
              <a:t> </a:t>
            </a:r>
            <a:r>
              <a:rPr lang="en-US" dirty="0" err="1"/>
              <a:t>Anwendungen</a:t>
            </a:r>
            <a:r>
              <a:rPr lang="en-US" dirty="0"/>
              <a:t> auf </a:t>
            </a:r>
            <a:r>
              <a:rPr lang="en-US" dirty="0" err="1"/>
              <a:t>verschiedenen</a:t>
            </a:r>
            <a:r>
              <a:rPr lang="en-US" dirty="0"/>
              <a:t> </a:t>
            </a:r>
            <a:r>
              <a:rPr lang="en-US" dirty="0" err="1"/>
              <a:t>Platformen</a:t>
            </a:r>
            <a:r>
              <a:rPr lang="en-US" dirty="0"/>
              <a:t> </a:t>
            </a:r>
            <a:r>
              <a:rPr lang="en-US" dirty="0" err="1"/>
              <a:t>entwickeln</a:t>
            </a:r>
            <a:r>
              <a:rPr lang="en-US" dirty="0"/>
              <a:t> </a:t>
            </a:r>
            <a:r>
              <a:rPr lang="en-US" dirty="0" err="1"/>
              <a:t>mussten</a:t>
            </a:r>
            <a:r>
              <a:rPr lang="en-US" dirty="0"/>
              <a:t>.</a:t>
            </a:r>
          </a:p>
          <a:p>
            <a:pPr marL="139700" indent="0">
              <a:buNone/>
            </a:pPr>
            <a:r>
              <a:rPr lang="en-US" dirty="0" err="1"/>
              <a:t>Zusätzlich</a:t>
            </a:r>
            <a:r>
              <a:rPr lang="en-US" dirty="0"/>
              <a:t> muss man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Applikation</a:t>
            </a:r>
            <a:r>
              <a:rPr lang="en-US" dirty="0"/>
              <a:t> </a:t>
            </a:r>
            <a:r>
              <a:rPr lang="en-US" dirty="0" err="1"/>
              <a:t>warten</a:t>
            </a:r>
            <a:r>
              <a:rPr lang="en-US" dirty="0"/>
              <a:t> und </a:t>
            </a:r>
            <a:r>
              <a:rPr lang="en-US" dirty="0" err="1"/>
              <a:t>pflegen</a:t>
            </a:r>
            <a:r>
              <a:rPr lang="en-US" dirty="0"/>
              <a:t>, </a:t>
            </a:r>
            <a:r>
              <a:rPr lang="en-US" dirty="0" err="1"/>
              <a:t>wodurch</a:t>
            </a:r>
            <a:r>
              <a:rPr lang="en-US" dirty="0"/>
              <a:t> </a:t>
            </a:r>
            <a:r>
              <a:rPr lang="en-US" dirty="0" err="1"/>
              <a:t>später</a:t>
            </a:r>
            <a:r>
              <a:rPr lang="en-US" dirty="0"/>
              <a:t> </a:t>
            </a:r>
            <a:r>
              <a:rPr lang="en-US" dirty="0" err="1"/>
              <a:t>viel</a:t>
            </a:r>
            <a:r>
              <a:rPr lang="en-US" dirty="0"/>
              <a:t> Geld </a:t>
            </a:r>
            <a:r>
              <a:rPr lang="en-US" dirty="0" err="1"/>
              <a:t>eingespart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8470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liegt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2057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Unsere</a:t>
            </a:r>
            <a:r>
              <a:rPr lang="en-US" dirty="0"/>
              <a:t> </a:t>
            </a:r>
            <a:r>
              <a:rPr lang="en-US" dirty="0" err="1"/>
              <a:t>Hauptaufgaben</a:t>
            </a:r>
            <a:r>
              <a:rPr lang="en-US" dirty="0"/>
              <a:t> die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liegen</a:t>
            </a:r>
            <a:r>
              <a:rPr lang="en-US" dirty="0"/>
              <a:t>:</a:t>
            </a:r>
          </a:p>
          <a:p>
            <a:pPr marL="368300" indent="-228600">
              <a:buAutoNum type="arabicPeriod"/>
            </a:pPr>
            <a:r>
              <a:rPr lang="en-US" dirty="0" err="1"/>
              <a:t>Restliche</a:t>
            </a:r>
            <a:r>
              <a:rPr lang="en-US" dirty="0"/>
              <a:t> Filter </a:t>
            </a:r>
            <a:r>
              <a:rPr lang="en-US" dirty="0" err="1"/>
              <a:t>definieren</a:t>
            </a:r>
            <a:endParaRPr lang="en-US" dirty="0"/>
          </a:p>
          <a:p>
            <a:pPr marL="368300" indent="-228600">
              <a:buAutoNum type="arabicPeriod"/>
            </a:pPr>
            <a:r>
              <a:rPr lang="en-US" dirty="0" err="1"/>
              <a:t>Mehr</a:t>
            </a:r>
            <a:r>
              <a:rPr lang="en-US" dirty="0"/>
              <a:t> Demo </a:t>
            </a:r>
            <a:r>
              <a:rPr lang="en-US" dirty="0" err="1"/>
              <a:t>Daten</a:t>
            </a:r>
            <a:endParaRPr lang="en-US" dirty="0"/>
          </a:p>
          <a:p>
            <a:pPr marL="368300" indent="-228600">
              <a:buAutoNum type="arabicPeriod"/>
            </a:pPr>
            <a:r>
              <a:rPr lang="en-US" dirty="0"/>
              <a:t>Detail </a:t>
            </a:r>
            <a:r>
              <a:rPr lang="en-US" dirty="0" err="1"/>
              <a:t>ansicht</a:t>
            </a:r>
            <a:r>
              <a:rPr lang="en-US" dirty="0"/>
              <a:t> </a:t>
            </a:r>
            <a:r>
              <a:rPr lang="en-US" dirty="0" err="1"/>
              <a:t>einzelner</a:t>
            </a:r>
            <a:r>
              <a:rPr lang="en-US" dirty="0"/>
              <a:t> Autos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Bewertung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5954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Hoch </a:t>
            </a:r>
            <a:r>
              <a:rPr lang="en-US" dirty="0" err="1"/>
              <a:t>fragen</a:t>
            </a:r>
            <a:r>
              <a:rPr lang="en-US" dirty="0"/>
              <a:t>? (</a:t>
            </a:r>
            <a:r>
              <a:rPr lang="en-US" dirty="0" err="1"/>
              <a:t>Noch</a:t>
            </a:r>
            <a:r>
              <a:rPr lang="en-US" dirty="0"/>
              <a:t> Zeit?)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userDrawn="1">
  <p:cSld name="TITLE">
    <p:bg>
      <p:bgPr>
        <a:blipFill dpi="0" rotWithShape="1">
          <a:blip r:embed="rId2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000000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97195" y="-742443"/>
            <a:ext cx="2451351" cy="2451351"/>
            <a:chOff x="6680825" y="2549350"/>
            <a:chExt cx="1539600" cy="1539600"/>
          </a:xfrm>
        </p:grpSpPr>
        <p:sp>
          <p:nvSpPr>
            <p:cNvPr id="12" name="Google Shape;12;p2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6756043" y="879453"/>
            <a:ext cx="2812887" cy="2812887"/>
            <a:chOff x="-474900" y="321200"/>
            <a:chExt cx="2324700" cy="2324700"/>
          </a:xfrm>
        </p:grpSpPr>
        <p:sp>
          <p:nvSpPr>
            <p:cNvPr id="16" name="Google Shape;16;p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2211600" y="1991850"/>
            <a:ext cx="4720800" cy="1159800"/>
          </a:xfrm>
          <a:prstGeom prst="rect">
            <a:avLst/>
          </a:prstGeom>
          <a:effectLst>
            <a:outerShdw blurRad="85725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4BADED5-8571-7140-B42B-AA7FCF40729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‹Nr.›</a:t>
            </a:fld>
            <a:endParaRPr lang="de-DE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CABCF9-0A50-4D7F-9CAA-DD89F64E8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96" y="-40340"/>
            <a:ext cx="1321059" cy="115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itle">
  <p:cSld name="TITLE_1">
    <p:bg>
      <p:bgPr>
        <a:solidFill>
          <a:srgbClr val="C1CD9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6427669" y="2502633"/>
            <a:ext cx="2324700" cy="2324700"/>
            <a:chOff x="-474900" y="321200"/>
            <a:chExt cx="2324700" cy="2324700"/>
          </a:xfrm>
        </p:grpSpPr>
        <p:sp>
          <p:nvSpPr>
            <p:cNvPr id="24" name="Google Shape;24;p3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ctrTitle" hasCustomPrompt="1"/>
          </p:nvPr>
        </p:nvSpPr>
        <p:spPr>
          <a:xfrm>
            <a:off x="2314477" y="2236800"/>
            <a:ext cx="4503279" cy="956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r>
              <a:rPr lang="de-DE" dirty="0"/>
              <a:t>Okay</a:t>
            </a:r>
            <a:endParaRPr dirty="0"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2314477" y="3188701"/>
            <a:ext cx="4503279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grpSp>
        <p:nvGrpSpPr>
          <p:cNvPr id="30" name="Google Shape;30;p3"/>
          <p:cNvGrpSpPr/>
          <p:nvPr/>
        </p:nvGrpSpPr>
        <p:grpSpPr>
          <a:xfrm>
            <a:off x="764825" y="439375"/>
            <a:ext cx="1924500" cy="1924500"/>
            <a:chOff x="6680825" y="2549350"/>
            <a:chExt cx="1539600" cy="1539600"/>
          </a:xfrm>
        </p:grpSpPr>
        <p:sp>
          <p:nvSpPr>
            <p:cNvPr id="31" name="Google Shape;31;p3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8DD9467-8698-4427-8DF1-89714D9943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44" y="3174681"/>
            <a:ext cx="1117120" cy="98055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CA604364-4049-43BF-984A-48E60019012D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82D902-5CDC-48A2-8AD6-E690B8151991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5D6BC1A-444B-4533-8C40-05730D684831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  <p:grpSp>
        <p:nvGrpSpPr>
          <p:cNvPr id="38" name="Gruppieren 15">
            <a:extLst>
              <a:ext uri="{FF2B5EF4-FFF2-40B4-BE49-F238E27FC236}">
                <a16:creationId xmlns:a16="http://schemas.microsoft.com/office/drawing/2014/main" id="{B4666526-6F3C-4F68-9808-5D51FF34FC17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39" name="Gruppieren 13">
              <a:extLst>
                <a:ext uri="{FF2B5EF4-FFF2-40B4-BE49-F238E27FC236}">
                  <a16:creationId xmlns:a16="http://schemas.microsoft.com/office/drawing/2014/main" id="{490496E6-45EA-4ADD-8609-EF43B8842189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41" name="Grafik 2">
                <a:extLst>
                  <a:ext uri="{FF2B5EF4-FFF2-40B4-BE49-F238E27FC236}">
                    <a16:creationId xmlns:a16="http://schemas.microsoft.com/office/drawing/2014/main" id="{18EB6387-5BB9-4C1B-98F2-81C3CDB6502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42" name="Gruppieren 12">
                <a:extLst>
                  <a:ext uri="{FF2B5EF4-FFF2-40B4-BE49-F238E27FC236}">
                    <a16:creationId xmlns:a16="http://schemas.microsoft.com/office/drawing/2014/main" id="{A3B1CD16-691B-4B3E-B7A6-DF6916054B16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43" name="Textfeld 9">
                  <a:extLst>
                    <a:ext uri="{FF2B5EF4-FFF2-40B4-BE49-F238E27FC236}">
                      <a16:creationId xmlns:a16="http://schemas.microsoft.com/office/drawing/2014/main" id="{355EF4AF-F4F2-4220-AAB8-142C6B344CCF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44" name="Textfeld 11">
                  <a:extLst>
                    <a:ext uri="{FF2B5EF4-FFF2-40B4-BE49-F238E27FC236}">
                      <a16:creationId xmlns:a16="http://schemas.microsoft.com/office/drawing/2014/main" id="{3E40D9CA-8CAC-4BA2-BB35-AF3B3011EB95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40" name="Textfeld 14">
              <a:extLst>
                <a:ext uri="{FF2B5EF4-FFF2-40B4-BE49-F238E27FC236}">
                  <a16:creationId xmlns:a16="http://schemas.microsoft.com/office/drawing/2014/main" id="{76CBA897-18B7-4125-97EC-B4D5D2343355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36" name="Google Shape;36;p4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4"/>
          <p:cNvSpPr/>
          <p:nvPr/>
        </p:nvSpPr>
        <p:spPr>
          <a:xfrm>
            <a:off x="1794525" y="-40785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93700" rtl="0">
              <a:spcBef>
                <a:spcPts val="60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1599200" y="1326625"/>
            <a:ext cx="7641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latin typeface="Poppins"/>
                <a:ea typeface="Poppins"/>
                <a:cs typeface="Poppins"/>
                <a:sym typeface="Poppins"/>
              </a:rPr>
              <a:t>“</a:t>
            </a:r>
            <a:endParaRPr sz="72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6081700" y="764000"/>
            <a:ext cx="3615600" cy="36156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48" name="Google Shape;48;p5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￮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272900" y="955200"/>
            <a:ext cx="3233100" cy="32331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type A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764000" y="-1236275"/>
            <a:ext cx="7616100" cy="76161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1198300" y="-801975"/>
            <a:ext cx="6747000" cy="67470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2267900" y="267625"/>
            <a:ext cx="4608300" cy="46083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-704850" y="-2705100"/>
            <a:ext cx="10553700" cy="10553700"/>
          </a:xfrm>
          <a:prstGeom prst="donut">
            <a:avLst>
              <a:gd name="adj" fmla="val 10467"/>
            </a:avLst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grpSp>
        <p:nvGrpSpPr>
          <p:cNvPr id="20" name="Gruppieren 15">
            <a:extLst>
              <a:ext uri="{FF2B5EF4-FFF2-40B4-BE49-F238E27FC236}">
                <a16:creationId xmlns:a16="http://schemas.microsoft.com/office/drawing/2014/main" id="{5360DD37-273B-F345-891D-DCA00C42662B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21" name="Gruppieren 13">
              <a:extLst>
                <a:ext uri="{FF2B5EF4-FFF2-40B4-BE49-F238E27FC236}">
                  <a16:creationId xmlns:a16="http://schemas.microsoft.com/office/drawing/2014/main" id="{655142C9-7AEB-5446-913A-D8702D8E5676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23" name="Grafik 2">
                <a:extLst>
                  <a:ext uri="{FF2B5EF4-FFF2-40B4-BE49-F238E27FC236}">
                    <a16:creationId xmlns:a16="http://schemas.microsoft.com/office/drawing/2014/main" id="{42FBB244-8DC8-CE47-A7DF-3846D4CEE15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24" name="Gruppieren 12">
                <a:extLst>
                  <a:ext uri="{FF2B5EF4-FFF2-40B4-BE49-F238E27FC236}">
                    <a16:creationId xmlns:a16="http://schemas.microsoft.com/office/drawing/2014/main" id="{393F72E8-F7F4-144D-8BD8-2ACB646732F5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5" name="Textfeld 9">
                  <a:extLst>
                    <a:ext uri="{FF2B5EF4-FFF2-40B4-BE49-F238E27FC236}">
                      <a16:creationId xmlns:a16="http://schemas.microsoft.com/office/drawing/2014/main" id="{FA6F23DE-008A-E94C-B4AF-BEF1B0D0C323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6" name="Textfeld 11">
                  <a:extLst>
                    <a:ext uri="{FF2B5EF4-FFF2-40B4-BE49-F238E27FC236}">
                      <a16:creationId xmlns:a16="http://schemas.microsoft.com/office/drawing/2014/main" id="{3B678B3A-01E0-4B4B-B4A4-DE75EE05CE3F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22" name="Textfeld 14">
              <a:extLst>
                <a:ext uri="{FF2B5EF4-FFF2-40B4-BE49-F238E27FC236}">
                  <a16:creationId xmlns:a16="http://schemas.microsoft.com/office/drawing/2014/main" id="{8552E51F-6B4E-E84C-9220-A291E2EE8587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  <p:grpSp>
        <p:nvGrpSpPr>
          <p:cNvPr id="27" name="Group 8">
            <a:extLst>
              <a:ext uri="{FF2B5EF4-FFF2-40B4-BE49-F238E27FC236}">
                <a16:creationId xmlns:a16="http://schemas.microsoft.com/office/drawing/2014/main" id="{065B052B-FE79-3D42-8E56-961B4EF27CF9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28" name="Rectangle 4">
              <a:extLst>
                <a:ext uri="{FF2B5EF4-FFF2-40B4-BE49-F238E27FC236}">
                  <a16:creationId xmlns:a16="http://schemas.microsoft.com/office/drawing/2014/main" id="{F5F34A51-FF1D-3540-8BAA-C9119947FE96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9" name="TextBox 3">
              <a:extLst>
                <a:ext uri="{FF2B5EF4-FFF2-40B4-BE49-F238E27FC236}">
                  <a16:creationId xmlns:a16="http://schemas.microsoft.com/office/drawing/2014/main" id="{FB2BF6C3-DEE6-294F-9F0B-53AEDD425E19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ype B">
  <p:cSld name="BLANK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grpSp>
        <p:nvGrpSpPr>
          <p:cNvPr id="124" name="Google Shape;124;p12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125" name="Google Shape;125;p1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2"/>
          <p:cNvSpPr/>
          <p:nvPr/>
        </p:nvSpPr>
        <p:spPr>
          <a:xfrm>
            <a:off x="1794525" y="-40790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AFAAD68-D17D-461E-BF17-19C3D85675AF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AB65C4-4DAA-44E7-990E-FF7B4F560B25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E5E036-F03A-4A40-80A5-46C9CE7FFF6A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549852" y="4581462"/>
            <a:ext cx="4356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300" cy="26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 dirty="0"/>
          </a:p>
        </p:txBody>
      </p:sp>
      <p:grpSp>
        <p:nvGrpSpPr>
          <p:cNvPr id="18" name="Gruppieren 15">
            <a:extLst>
              <a:ext uri="{FF2B5EF4-FFF2-40B4-BE49-F238E27FC236}">
                <a16:creationId xmlns:a16="http://schemas.microsoft.com/office/drawing/2014/main" id="{0854F103-C5AE-45BE-8C80-24B23EA59E45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19" name="Gruppieren 13">
              <a:extLst>
                <a:ext uri="{FF2B5EF4-FFF2-40B4-BE49-F238E27FC236}">
                  <a16:creationId xmlns:a16="http://schemas.microsoft.com/office/drawing/2014/main" id="{4895FB6F-35B7-4EEA-A12A-AA3A1BFEFB7E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21" name="Grafik 2">
                <a:extLst>
                  <a:ext uri="{FF2B5EF4-FFF2-40B4-BE49-F238E27FC236}">
                    <a16:creationId xmlns:a16="http://schemas.microsoft.com/office/drawing/2014/main" id="{C8379682-FBF8-47D6-B4E5-30A954BE2A8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22" name="Gruppieren 12">
                <a:extLst>
                  <a:ext uri="{FF2B5EF4-FFF2-40B4-BE49-F238E27FC236}">
                    <a16:creationId xmlns:a16="http://schemas.microsoft.com/office/drawing/2014/main" id="{BB0200B5-576B-4EED-A8E7-B59B232CCC7F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3" name="Textfeld 9">
                  <a:extLst>
                    <a:ext uri="{FF2B5EF4-FFF2-40B4-BE49-F238E27FC236}">
                      <a16:creationId xmlns:a16="http://schemas.microsoft.com/office/drawing/2014/main" id="{AE6F1098-02DF-4E76-BA13-D6B5A7895F1B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4" name="Textfeld 11">
                  <a:extLst>
                    <a:ext uri="{FF2B5EF4-FFF2-40B4-BE49-F238E27FC236}">
                      <a16:creationId xmlns:a16="http://schemas.microsoft.com/office/drawing/2014/main" id="{14CE7D0F-485E-40C6-ACD0-9B58C9B99693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20" name="Textfeld 14">
              <a:extLst>
                <a:ext uri="{FF2B5EF4-FFF2-40B4-BE49-F238E27FC236}">
                  <a16:creationId xmlns:a16="http://schemas.microsoft.com/office/drawing/2014/main" id="{E1943A1A-C8DE-4042-A1A4-8CF8E812061E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3C0818F-2DEC-420C-96CC-4EA36414DAB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108" y="128883"/>
            <a:ext cx="836292" cy="73405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7" r:id="rId5"/>
    <p:sldLayoutId id="2147483658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20.png"/><Relationship Id="rId5" Type="http://schemas.openxmlformats.org/officeDocument/2006/relationships/image" Target="../media/image18.png"/><Relationship Id="rId10" Type="http://schemas.openxmlformats.org/officeDocument/2006/relationships/image" Target="../media/image11.png"/><Relationship Id="rId4" Type="http://schemas.openxmlformats.org/officeDocument/2006/relationships/image" Target="../media/image17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svg"/><Relationship Id="rId11" Type="http://schemas.openxmlformats.org/officeDocument/2006/relationships/image" Target="../media/image34.sv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ctrTitle"/>
          </p:nvPr>
        </p:nvSpPr>
        <p:spPr>
          <a:xfrm>
            <a:off x="2211600" y="1238810"/>
            <a:ext cx="47208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900" dirty="0"/>
              <a:t>d</a:t>
            </a:r>
            <a:r>
              <a:rPr lang="en" sz="4900" dirty="0"/>
              <a:t>riving-e-car</a:t>
            </a:r>
            <a:endParaRPr sz="4900" dirty="0"/>
          </a:p>
        </p:txBody>
      </p:sp>
    </p:spTree>
  </p:cSld>
  <p:clrMapOvr>
    <a:masterClrMapping/>
  </p:clrMapOvr>
  <p:transition advTm="2021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ctrTitle" idx="4294967295"/>
          </p:nvPr>
        </p:nvSpPr>
        <p:spPr>
          <a:xfrm>
            <a:off x="2351788" y="1180487"/>
            <a:ext cx="4608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H</a:t>
            </a:r>
            <a:r>
              <a:rPr lang="en-US" sz="9600"/>
              <a:t>a</a:t>
            </a:r>
            <a:r>
              <a:rPr lang="en" sz="9600"/>
              <a:t>llo</a:t>
            </a:r>
            <a:r>
              <a:rPr lang="en" sz="9600" dirty="0"/>
              <a:t>!</a:t>
            </a:r>
            <a:endParaRPr sz="9600" dirty="0"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4294967295"/>
          </p:nvPr>
        </p:nvSpPr>
        <p:spPr>
          <a:xfrm>
            <a:off x="2351800" y="2265877"/>
            <a:ext cx="4608000" cy="17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spcBef>
                <a:spcPts val="601"/>
              </a:spcBef>
              <a:buNone/>
            </a:pP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Elektroautos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sind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in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aller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Munde</a:t>
            </a:r>
            <a:endParaRPr lang="en-US" spc="-1" dirty="0">
              <a:latin typeface="Arial"/>
            </a:endParaRPr>
          </a:p>
          <a:p>
            <a:pPr marL="127000" indent="0">
              <a:spcBef>
                <a:spcPts val="601"/>
              </a:spcBef>
              <a:buNone/>
            </a:pPr>
            <a:r>
              <a:rPr lang="en-US" spc="-1" dirty="0" err="1">
                <a:solidFill>
                  <a:srgbClr val="000000"/>
                </a:solidFill>
              </a:rPr>
              <a:t>Lohnt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sich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mich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ein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Elektroauto</a:t>
            </a:r>
            <a:r>
              <a:rPr lang="en-US" spc="-1" dirty="0">
                <a:solidFill>
                  <a:srgbClr val="000000"/>
                </a:solidFill>
              </a:rPr>
              <a:t>? Welches </a:t>
            </a:r>
            <a:r>
              <a:rPr lang="en-US" spc="-1" dirty="0" err="1">
                <a:solidFill>
                  <a:srgbClr val="000000"/>
                </a:solidFill>
              </a:rPr>
              <a:t>ist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mich</a:t>
            </a:r>
            <a:r>
              <a:rPr lang="en-US" spc="-1" dirty="0">
                <a:solidFill>
                  <a:srgbClr val="000000"/>
                </a:solidFill>
              </a:rPr>
              <a:t> das </a:t>
            </a:r>
            <a:r>
              <a:rPr lang="en-US" spc="-1" dirty="0" err="1">
                <a:solidFill>
                  <a:srgbClr val="000000"/>
                </a:solidFill>
              </a:rPr>
              <a:t>Richtige</a:t>
            </a:r>
            <a:r>
              <a:rPr lang="en-US" spc="-1" dirty="0">
                <a:solidFill>
                  <a:srgbClr val="000000"/>
                </a:solidFill>
              </a:rPr>
              <a:t>?</a:t>
            </a:r>
            <a:endParaRPr lang="en-US" spc="-1" dirty="0">
              <a:latin typeface="Arial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804239" y="1506373"/>
            <a:ext cx="339835" cy="309115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EC19F48-DE41-6A48-89CE-F673BFB900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0648D35-D647-7147-95C1-19ED57690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150" y="1054450"/>
            <a:ext cx="3034500" cy="3034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89" name="Google Shape;189;p19"/>
          <p:cNvGrpSpPr/>
          <p:nvPr/>
        </p:nvGrpSpPr>
        <p:grpSpPr>
          <a:xfrm>
            <a:off x="5853100" y="3068600"/>
            <a:ext cx="1539600" cy="1539600"/>
            <a:chOff x="6680825" y="2549350"/>
            <a:chExt cx="1539600" cy="1539600"/>
          </a:xfrm>
        </p:grpSpPr>
        <p:sp>
          <p:nvSpPr>
            <p:cNvPr id="190" name="Google Shape;190;p19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67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19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pc="-1" dirty="0">
                <a:solidFill>
                  <a:srgbClr val="000000"/>
                </a:solidFill>
              </a:rPr>
              <a:t>Agenda</a:t>
            </a:r>
            <a:endParaRPr lang="en-US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194;p19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29760">
              <a:spcBef>
                <a:spcPts val="601"/>
              </a:spcBef>
            </a:pPr>
            <a:r>
              <a:rPr lang="en-US" spc="-1" dirty="0">
                <a:solidFill>
                  <a:srgbClr val="000000"/>
                </a:solidFill>
              </a:rPr>
              <a:t>Unser </a:t>
            </a:r>
            <a:r>
              <a:rPr lang="en-US" spc="-1" dirty="0" err="1">
                <a:solidFill>
                  <a:srgbClr val="000000"/>
                </a:solidFill>
              </a:rPr>
              <a:t>Auftrag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Prototypvorstellung</a:t>
            </a:r>
            <a:endParaRPr lang="en-US" spc="-1" dirty="0">
              <a:solidFill>
                <a:srgbClr val="000000"/>
              </a:solidFill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Entscheidungen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Aussichten</a:t>
            </a:r>
            <a:endParaRPr lang="en-US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6" name="Google Shape;196;p19"/>
          <p:cNvGrpSpPr/>
          <p:nvPr/>
        </p:nvGrpSpPr>
        <p:grpSpPr>
          <a:xfrm>
            <a:off x="6438110" y="3653462"/>
            <a:ext cx="369505" cy="369505"/>
            <a:chOff x="2594050" y="1631825"/>
            <a:chExt cx="439625" cy="439625"/>
          </a:xfrm>
        </p:grpSpPr>
        <p:sp>
          <p:nvSpPr>
            <p:cNvPr id="197" name="Google Shape;197;p1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2144418-DD0F-E141-92B7-00BD84285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/>
          </a:p>
        </p:txBody>
      </p:sp>
    </p:spTree>
  </p:cSld>
  <p:clrMapOvr>
    <a:masterClrMapping/>
  </p:clrMapOvr>
  <p:transition advTm="0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Unser </a:t>
            </a:r>
            <a:r>
              <a:rPr lang="en-US" dirty="0" err="1"/>
              <a:t>Auftrag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Analyse</a:t>
            </a:r>
            <a:r>
              <a:rPr lang="en-US" dirty="0"/>
              <a:t> der </a:t>
            </a:r>
            <a:r>
              <a:rPr lang="en-US" dirty="0" err="1"/>
              <a:t>Ausgangslage</a:t>
            </a:r>
            <a:r>
              <a:rPr lang="en-US" dirty="0"/>
              <a:t> und </a:t>
            </a:r>
            <a:r>
              <a:rPr lang="en-US" dirty="0" err="1"/>
              <a:t>Zieldefinition</a:t>
            </a:r>
            <a:endParaRPr lang="en-US"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6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advTm="239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loud 15">
            <a:extLst>
              <a:ext uri="{FF2B5EF4-FFF2-40B4-BE49-F238E27FC236}">
                <a16:creationId xmlns:a16="http://schemas.microsoft.com/office/drawing/2014/main" id="{FE329A19-5DA2-4C3A-A497-2FAB37BB9D50}"/>
              </a:ext>
            </a:extLst>
          </p:cNvPr>
          <p:cNvSpPr/>
          <p:nvPr/>
        </p:nvSpPr>
        <p:spPr>
          <a:xfrm>
            <a:off x="2155237" y="1612356"/>
            <a:ext cx="5250240" cy="2745512"/>
          </a:xfrm>
          <a:prstGeom prst="cloud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960747-D4B7-4076-812F-1B2CDA895271}"/>
              </a:ext>
            </a:extLst>
          </p:cNvPr>
          <p:cNvSpPr/>
          <p:nvPr/>
        </p:nvSpPr>
        <p:spPr>
          <a:xfrm>
            <a:off x="10282057" y="3312265"/>
            <a:ext cx="400243" cy="87079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0DC24-B072-4A64-9325-BD32EAB5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</p:spPr>
        <p:txBody>
          <a:bodyPr/>
          <a:lstStyle/>
          <a:p>
            <a:r>
              <a:rPr lang="de-DE" dirty="0"/>
              <a:t>Geeignet?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3EFF-DB0B-4BD3-9CC1-CEC07ECFE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A2103A-94E8-46BB-8FF6-E49C0518B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753" y="3864902"/>
            <a:ext cx="290849" cy="2908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E3D096-88F0-403D-AB7A-CFF432539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6753" y="3478537"/>
            <a:ext cx="290849" cy="29607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11486821-1AA3-4DB8-91ED-3B2863FBC2F7}"/>
              </a:ext>
            </a:extLst>
          </p:cNvPr>
          <p:cNvSpPr/>
          <p:nvPr/>
        </p:nvSpPr>
        <p:spPr>
          <a:xfrm>
            <a:off x="1189806" y="2949852"/>
            <a:ext cx="322475" cy="219776"/>
          </a:xfrm>
          <a:prstGeom prst="ellipse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B691D4-5E6C-4E61-8602-B4F66439CD50}"/>
              </a:ext>
            </a:extLst>
          </p:cNvPr>
          <p:cNvSpPr/>
          <p:nvPr/>
        </p:nvSpPr>
        <p:spPr>
          <a:xfrm>
            <a:off x="1597255" y="2762142"/>
            <a:ext cx="499213" cy="375420"/>
          </a:xfrm>
          <a:prstGeom prst="ellipse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E2A5BDE-3588-49D3-AA80-A29F7B642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026" y="4794250"/>
            <a:ext cx="1201197" cy="120119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D0AEA60-0256-DE49-975B-BD39D9E83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288" y="2736318"/>
            <a:ext cx="1329512" cy="2482114"/>
          </a:xfrm>
          <a:prstGeom prst="rect">
            <a:avLst/>
          </a:prstGeom>
        </p:spPr>
      </p:pic>
      <p:pic>
        <p:nvPicPr>
          <p:cNvPr id="19" name="Grafik 18" descr="Ein Bild, das Objekt enthält.&#10;&#10;&#10;&#10;Automatisch generierte Beschreibung">
            <a:extLst>
              <a:ext uri="{FF2B5EF4-FFF2-40B4-BE49-F238E27FC236}">
                <a16:creationId xmlns:a16="http://schemas.microsoft.com/office/drawing/2014/main" id="{E59662BE-AF42-BF44-AEA6-1ACBB77533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8499" y="2057821"/>
            <a:ext cx="564207" cy="1689842"/>
          </a:xfrm>
          <a:prstGeom prst="rect">
            <a:avLst/>
          </a:prstGeom>
        </p:spPr>
      </p:pic>
      <p:sp>
        <p:nvSpPr>
          <p:cNvPr id="20" name="Plus 19">
            <a:extLst>
              <a:ext uri="{FF2B5EF4-FFF2-40B4-BE49-F238E27FC236}">
                <a16:creationId xmlns:a16="http://schemas.microsoft.com/office/drawing/2014/main" id="{D9F06EE4-A9E2-C44F-8C7B-5A3CB854FCDD}"/>
              </a:ext>
            </a:extLst>
          </p:cNvPr>
          <p:cNvSpPr/>
          <p:nvPr/>
        </p:nvSpPr>
        <p:spPr>
          <a:xfrm>
            <a:off x="4862504" y="2687299"/>
            <a:ext cx="564207" cy="525106"/>
          </a:xfrm>
          <a:prstGeom prst="mathPlus">
            <a:avLst/>
          </a:prstGeom>
          <a:solidFill>
            <a:srgbClr val="818181"/>
          </a:solidFill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0B29D134-EAA1-864E-B9FA-855589DFCD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2626" y="2546095"/>
            <a:ext cx="2115423" cy="713293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ACDE9E8-9AF5-1E44-8CA0-F98231B61E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879269">
            <a:off x="4259505" y="2020363"/>
            <a:ext cx="314686" cy="50650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40FB1B03-E39D-3947-9D10-C2C9B6252F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53523">
            <a:off x="6197205" y="1804569"/>
            <a:ext cx="314686" cy="506503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0CDA6B0B-4219-8F41-BC6F-E6E677E8F7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9511502">
            <a:off x="5146276" y="1870952"/>
            <a:ext cx="314686" cy="506503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84D2196-7C17-A842-BD82-37A2D7B05D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3689" y="1994420"/>
            <a:ext cx="314686" cy="506503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0C4C0369-F857-204D-B2B9-11E210DD44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424532">
            <a:off x="6325619" y="2425897"/>
            <a:ext cx="314686" cy="506503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05F5E08-98A5-AD43-9D4A-8E26A04D16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728826">
            <a:off x="5100900" y="3359097"/>
            <a:ext cx="314686" cy="506503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A87A5F3B-DC6E-DB4C-B3D5-97FB805B7D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79541">
            <a:off x="4504122" y="3322013"/>
            <a:ext cx="314686" cy="506503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CB04858-1787-BC48-9FBE-0546CFED0C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79541">
            <a:off x="3356137" y="3323642"/>
            <a:ext cx="314686" cy="50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45428"/>
      </p:ext>
    </p:extLst>
  </p:cSld>
  <p:clrMapOvr>
    <a:masterClrMapping/>
  </p:clrMapOvr>
  <p:transition advTm="195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234C3C1-6EBF-5F49-A0F1-D576415257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6</a:t>
            </a:fld>
            <a:endParaRPr lang="de-DE"/>
          </a:p>
        </p:txBody>
      </p:sp>
      <p:pic>
        <p:nvPicPr>
          <p:cNvPr id="8" name="Grafik 7" descr="Ein Bild, das Screenshot enthält.&#10;&#10;&#10;&#10;Automatisch generierte Beschreibung">
            <a:extLst>
              <a:ext uri="{FF2B5EF4-FFF2-40B4-BE49-F238E27FC236}">
                <a16:creationId xmlns:a16="http://schemas.microsoft.com/office/drawing/2014/main" id="{5B331933-35A2-6C48-BF00-F4832FD17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357" y="477981"/>
            <a:ext cx="6737286" cy="394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96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D400-25DC-48D4-BDB8-9CE098B0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F9405-DDF2-4B02-A776-B815CD4B6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E-Auto?</a:t>
            </a:r>
          </a:p>
          <a:p>
            <a:r>
              <a:rPr lang="en-US" dirty="0"/>
              <a:t>Welches E-Auto?</a:t>
            </a:r>
          </a:p>
          <a:p>
            <a:r>
              <a:rPr lang="en-US" dirty="0" err="1"/>
              <a:t>Worauf</a:t>
            </a:r>
            <a:r>
              <a:rPr lang="en-US" dirty="0"/>
              <a:t> muss man </a:t>
            </a:r>
            <a:r>
              <a:rPr lang="en-US" dirty="0" err="1"/>
              <a:t>achten</a:t>
            </a:r>
            <a:r>
              <a:rPr lang="en-US" dirty="0"/>
              <a:t>?</a:t>
            </a:r>
          </a:p>
          <a:p>
            <a:r>
              <a:rPr lang="en-US" dirty="0" err="1"/>
              <a:t>Kann</a:t>
            </a:r>
            <a:r>
              <a:rPr lang="en-US" dirty="0"/>
              <a:t> ich </a:t>
            </a:r>
            <a:r>
              <a:rPr lang="en-US" dirty="0" err="1"/>
              <a:t>mir</a:t>
            </a:r>
            <a:r>
              <a:rPr lang="en-US" dirty="0"/>
              <a:t> das </a:t>
            </a:r>
            <a:r>
              <a:rPr lang="en-US" dirty="0" err="1"/>
              <a:t>überhaupt</a:t>
            </a:r>
            <a:r>
              <a:rPr lang="en-US" dirty="0"/>
              <a:t> </a:t>
            </a:r>
            <a:r>
              <a:rPr lang="en-US" dirty="0" err="1"/>
              <a:t>leisten</a:t>
            </a:r>
            <a:r>
              <a:rPr lang="en-US" dirty="0"/>
              <a:t>?</a:t>
            </a:r>
          </a:p>
          <a:p>
            <a:r>
              <a:rPr lang="en-US" dirty="0"/>
              <a:t>…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6FCDC-2A09-4C9D-A05A-F8CB7B1FEC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8C17B-AA7C-4314-BFA1-87112082C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011" y="2989080"/>
            <a:ext cx="1201197" cy="1201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51FAA4-9155-4174-8957-24E687924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504" y="1958050"/>
            <a:ext cx="457506" cy="457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DC6605-5DD4-48B6-983E-2F132263E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122" y="2672149"/>
            <a:ext cx="457506" cy="457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D97513-75E6-4BDA-A974-6C7499BEC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86239">
            <a:off x="8439712" y="1174592"/>
            <a:ext cx="457506" cy="4575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EC463D-EB5B-400E-B1FC-314B538CF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406127">
            <a:off x="6820579" y="3062897"/>
            <a:ext cx="457506" cy="4575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A94D50-6954-4573-A16A-E6B140C4D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073" y="2114244"/>
            <a:ext cx="457506" cy="4575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A8E6A4-4966-4955-AD0E-18193B5E1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851" y="3582850"/>
            <a:ext cx="457506" cy="4575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A73A46-56FD-4776-9BF8-268B5A1DA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950" y="1278922"/>
            <a:ext cx="457506" cy="4575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89623B-0AA5-474D-8664-2508B5090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89040">
            <a:off x="8659506" y="3157495"/>
            <a:ext cx="457506" cy="45750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64FFE4A-70D8-E648-ADF0-B4EBA8AB5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941" y="1096989"/>
            <a:ext cx="2158934" cy="291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34645"/>
      </p:ext>
    </p:extLst>
  </p:cSld>
  <p:clrMapOvr>
    <a:masterClrMapping/>
  </p:clrMapOvr>
  <p:transition advTm="218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indent="0">
              <a:spcBef>
                <a:spcPts val="601"/>
              </a:spcBef>
              <a:buNone/>
            </a:pPr>
            <a:r>
              <a:rPr lang="en-US" spc="-1" dirty="0" err="1">
                <a:solidFill>
                  <a:srgbClr val="000000"/>
                </a:solidFill>
              </a:rPr>
              <a:t>Ihr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macht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einfach</a:t>
            </a:r>
            <a:r>
              <a:rPr lang="en-US" spc="-1" dirty="0">
                <a:solidFill>
                  <a:srgbClr val="000000"/>
                </a:solidFill>
              </a:rPr>
              <a:t> die </a:t>
            </a:r>
            <a:r>
              <a:rPr lang="en-US" spc="-1" dirty="0" err="1">
                <a:solidFill>
                  <a:srgbClr val="000000"/>
                </a:solidFill>
              </a:rPr>
              <a:t>geilste</a:t>
            </a:r>
            <a:r>
              <a:rPr lang="en-US" spc="-1" dirty="0">
                <a:solidFill>
                  <a:srgbClr val="000000"/>
                </a:solidFill>
              </a:rPr>
              <a:t> App der Welt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Elektroautos</a:t>
            </a:r>
            <a:endParaRPr lang="en-US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634C189-0785-7345-83B8-8B6C2EE2EF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</a:t>
            </a:fld>
            <a:endParaRPr lang="de-DE"/>
          </a:p>
        </p:txBody>
      </p:sp>
    </p:spTree>
  </p:cSld>
  <p:clrMapOvr>
    <a:masterClrMapping/>
  </p:clrMapOvr>
  <p:transition advTm="209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 err="1"/>
              <a:t>Prototypen-vorstellung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/>
              <a:t>Wie </a:t>
            </a:r>
            <a:r>
              <a:rPr lang="en-US" spc="-1" dirty="0" err="1"/>
              <a:t>weit</a:t>
            </a:r>
            <a:r>
              <a:rPr lang="en-US" spc="-1" dirty="0"/>
              <a:t> </a:t>
            </a:r>
            <a:r>
              <a:rPr lang="en-US" spc="-1" dirty="0" err="1"/>
              <a:t>sind</a:t>
            </a:r>
            <a:r>
              <a:rPr lang="en-US" spc="-1" dirty="0"/>
              <a:t> </a:t>
            </a:r>
            <a:r>
              <a:rPr lang="en-US" spc="-1" dirty="0" err="1"/>
              <a:t>wir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2</a:t>
            </a:r>
            <a:endParaRPr sz="6000" dirty="0">
              <a:solidFill>
                <a:srgbClr val="FFFFFF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9A416D-8C9E-46C2-9472-98881DC67EB2}"/>
              </a:ext>
            </a:extLst>
          </p:cNvPr>
          <p:cNvGrpSpPr/>
          <p:nvPr/>
        </p:nvGrpSpPr>
        <p:grpSpPr>
          <a:xfrm>
            <a:off x="7480299" y="-511232"/>
            <a:ext cx="1825761" cy="2980532"/>
            <a:chOff x="7480299" y="-498532"/>
            <a:chExt cx="1825761" cy="298053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5F9DB6D-EC6A-407B-BC38-834A9E4575C0}"/>
                </a:ext>
              </a:extLst>
            </p:cNvPr>
            <p:cNvSpPr/>
            <p:nvPr/>
          </p:nvSpPr>
          <p:spPr>
            <a:xfrm rot="2700000">
              <a:off x="7749296" y="925236"/>
              <a:ext cx="2519663" cy="593865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2800" b="1" spc="6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4BC6571E-796D-474E-B9AC-6955C43C6D20}"/>
                </a:ext>
              </a:extLst>
            </p:cNvPr>
            <p:cNvSpPr/>
            <p:nvPr/>
          </p:nvSpPr>
          <p:spPr>
            <a:xfrm rot="10800000">
              <a:off x="7480299" y="124543"/>
              <a:ext cx="846417" cy="732705"/>
            </a:xfrm>
            <a:prstGeom prst="triangle">
              <a:avLst>
                <a:gd name="adj" fmla="val 11181"/>
              </a:avLst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DE" sz="2800" b="1" spc="600">
                <a:latin typeface="Poppins" panose="020B0604020202020204" charset="0"/>
                <a:cs typeface="Poppins" panose="020B060402020202020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34B3B5-6191-4132-99FB-4DB3376D7563}"/>
                </a:ext>
              </a:extLst>
            </p:cNvPr>
            <p:cNvSpPr/>
            <p:nvPr/>
          </p:nvSpPr>
          <p:spPr>
            <a:xfrm rot="2700000">
              <a:off x="7272683" y="464367"/>
              <a:ext cx="2519663" cy="593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spc="600" dirty="0">
                  <a:latin typeface="Poppins" panose="020B0604020202020204" charset="0"/>
                  <a:cs typeface="Poppins" panose="020B0604020202020204" charset="0"/>
                </a:rPr>
                <a:t>DEMO</a:t>
              </a:r>
              <a:endParaRPr lang="en-DE" sz="2800" b="1" spc="6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1560664"/>
      </p:ext>
    </p:extLst>
  </p:cSld>
  <p:clrMapOvr>
    <a:masterClrMapping/>
  </p:clrMapOvr>
  <p:transition advTm="188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rt 6">
            <a:extLst>
              <a:ext uri="{FF2B5EF4-FFF2-40B4-BE49-F238E27FC236}">
                <a16:creationId xmlns:a16="http://schemas.microsoft.com/office/drawing/2014/main" id="{CE9A215E-5E4B-40DC-9F5F-C3F0A5A283B9}"/>
              </a:ext>
            </a:extLst>
          </p:cNvPr>
          <p:cNvSpPr/>
          <p:nvPr/>
        </p:nvSpPr>
        <p:spPr>
          <a:xfrm>
            <a:off x="9144000" y="-1429664"/>
            <a:ext cx="5488525" cy="3415553"/>
          </a:xfrm>
          <a:prstGeom prst="heart">
            <a:avLst/>
          </a:prstGeom>
          <a:solidFill>
            <a:srgbClr val="FF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0DC24-B072-4A64-9325-BD32EAB5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Driving-E-Car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3EFF-DB0B-4BD3-9CC1-CEC07ECFE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E1C27-721B-43F5-BC79-2BF9601E0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279" y="3814780"/>
            <a:ext cx="761671" cy="1523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418DDF-C26B-4849-A4CB-DE302A942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03" y="2080138"/>
            <a:ext cx="1032775" cy="1032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47623E-A92D-4FE5-BFF3-E87EF339C8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795" y="-317195"/>
            <a:ext cx="3452500" cy="207015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088E2B-03FB-4898-921D-9016CF75BB05}"/>
              </a:ext>
            </a:extLst>
          </p:cNvPr>
          <p:cNvSpPr/>
          <p:nvPr/>
        </p:nvSpPr>
        <p:spPr>
          <a:xfrm>
            <a:off x="12749023" y="-614141"/>
            <a:ext cx="734182" cy="1173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6CA06C3-9434-4294-8B0A-BF8E0C414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0322" y="-145096"/>
            <a:ext cx="376727" cy="3767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8453B20-EB18-4322-9904-2970BDD52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5179" y="-538130"/>
            <a:ext cx="441870" cy="4418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111254-2B8A-4EEE-AA34-0E64BED314F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7227" b="14959"/>
          <a:stretch/>
        </p:blipFill>
        <p:spPr>
          <a:xfrm rot="5400000" flipH="1">
            <a:off x="12659324" y="389503"/>
            <a:ext cx="734182" cy="5822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C3AFA9-0BB5-4A76-A26E-F9F96F5ED6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3703" y="3290654"/>
            <a:ext cx="1201197" cy="1201197"/>
          </a:xfrm>
          <a:prstGeom prst="rect">
            <a:avLst/>
          </a:prstGeom>
        </p:spPr>
      </p:pic>
      <p:sp>
        <p:nvSpPr>
          <p:cNvPr id="23" name="Heart 22">
            <a:extLst>
              <a:ext uri="{FF2B5EF4-FFF2-40B4-BE49-F238E27FC236}">
                <a16:creationId xmlns:a16="http://schemas.microsoft.com/office/drawing/2014/main" id="{F2FA11F2-5541-4ED8-A450-82B2D8D8EB19}"/>
              </a:ext>
            </a:extLst>
          </p:cNvPr>
          <p:cNvSpPr/>
          <p:nvPr/>
        </p:nvSpPr>
        <p:spPr>
          <a:xfrm>
            <a:off x="12444295" y="2388972"/>
            <a:ext cx="1343638" cy="1183578"/>
          </a:xfrm>
          <a:prstGeom prst="heart">
            <a:avLst/>
          </a:prstGeom>
          <a:solidFill>
            <a:srgbClr val="FF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472170B-F2A0-C749-8802-24A598A9B2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1306" y="2216099"/>
            <a:ext cx="4741229" cy="159868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CF31D01-E32D-0441-A3EB-59A4738C51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69295">
            <a:off x="6094828" y="2693536"/>
            <a:ext cx="214287" cy="872384"/>
          </a:xfrm>
          <a:prstGeom prst="rect">
            <a:avLst/>
          </a:prstGeom>
        </p:spPr>
      </p:pic>
      <p:pic>
        <p:nvPicPr>
          <p:cNvPr id="16" name="Grafik 15" descr="Ein Bild, das Objekt enthält.&#10;&#10;&#10;&#10;Automatisch generierte Beschreibung">
            <a:extLst>
              <a:ext uri="{FF2B5EF4-FFF2-40B4-BE49-F238E27FC236}">
                <a16:creationId xmlns:a16="http://schemas.microsoft.com/office/drawing/2014/main" id="{E7F71EDB-4856-DF4F-890E-358CA65A5D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63" y="2975739"/>
            <a:ext cx="2447603" cy="226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80169"/>
      </p:ext>
    </p:extLst>
  </p:cSld>
  <p:clrMapOvr>
    <a:masterClrMapping/>
  </p:clrMapOvr>
  <p:transition advTm="211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pPr lvl="0"/>
            <a:r>
              <a:rPr lang="en-US" dirty="0" err="1"/>
              <a:t>Entscheidungen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 err="1"/>
              <a:t>Machbarkeitsanalyse</a:t>
            </a:r>
            <a:r>
              <a:rPr lang="en-US" spc="-1" dirty="0"/>
              <a:t> und </a:t>
            </a:r>
            <a:r>
              <a:rPr lang="en-US" spc="-1" dirty="0" err="1"/>
              <a:t>Konzeption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3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824043"/>
      </p:ext>
    </p:extLst>
  </p:cSld>
  <p:clrMapOvr>
    <a:masterClrMapping/>
  </p:clrMapOvr>
  <p:transition advTm="252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>
            <a:spLocks noGrp="1"/>
          </p:cNvSpPr>
          <p:nvPr>
            <p:ph type="ctrTitle" idx="4294967295"/>
          </p:nvPr>
        </p:nvSpPr>
        <p:spPr>
          <a:xfrm>
            <a:off x="2092625" y="2954950"/>
            <a:ext cx="4958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Big concept</a:t>
            </a:r>
            <a:endParaRPr sz="6000"/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4294967295"/>
          </p:nvPr>
        </p:nvSpPr>
        <p:spPr>
          <a:xfrm>
            <a:off x="2092625" y="4097352"/>
            <a:ext cx="4958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de-DE" sz="1400" dirty="0"/>
              <a:t>In </a:t>
            </a:r>
            <a:r>
              <a:rPr lang="de-DE" sz="1400" dirty="0" err="1"/>
              <a:t>Koorperation</a:t>
            </a:r>
            <a:r>
              <a:rPr lang="de-DE" sz="1400" dirty="0"/>
              <a:t> mit Team 03: "</a:t>
            </a:r>
            <a:r>
              <a:rPr lang="de-DE" sz="1400" dirty="0" err="1"/>
              <a:t>LogistGo</a:t>
            </a:r>
            <a:r>
              <a:rPr lang="de-DE" sz="1400" dirty="0"/>
              <a:t>"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8B70310-85DF-994A-81A4-44B6132C8B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</a:t>
            </a:fld>
            <a:endParaRPr lang="de-D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8CCDB16-DF91-4EBC-B6F8-5331377DC4BB}"/>
              </a:ext>
            </a:extLst>
          </p:cNvPr>
          <p:cNvGrpSpPr/>
          <p:nvPr/>
        </p:nvGrpSpPr>
        <p:grpSpPr>
          <a:xfrm>
            <a:off x="3390536" y="1032504"/>
            <a:ext cx="2362877" cy="1539246"/>
            <a:chOff x="3390536" y="1032504"/>
            <a:chExt cx="2362877" cy="1539246"/>
          </a:xfrm>
        </p:grpSpPr>
        <p:pic>
          <p:nvPicPr>
            <p:cNvPr id="17" name="Grafik 2">
              <a:extLst>
                <a:ext uri="{FF2B5EF4-FFF2-40B4-BE49-F238E27FC236}">
                  <a16:creationId xmlns:a16="http://schemas.microsoft.com/office/drawing/2014/main" id="{FF6C35CA-AD7E-4F5A-B8E1-FC20773C4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90536" y="1032504"/>
              <a:ext cx="2362877" cy="153924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924C288-64FB-4C06-82F5-5595BD4B7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4397" y="1451512"/>
              <a:ext cx="1135206" cy="996428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23BED0B-3491-4A26-A8D9-FE2D68E4B72B}"/>
              </a:ext>
            </a:extLst>
          </p:cNvPr>
          <p:cNvGrpSpPr/>
          <p:nvPr/>
        </p:nvGrpSpPr>
        <p:grpSpPr>
          <a:xfrm>
            <a:off x="1579873" y="1009112"/>
            <a:ext cx="864360" cy="1109520"/>
            <a:chOff x="1463040" y="993600"/>
            <a:chExt cx="864360" cy="1109520"/>
          </a:xfrm>
        </p:grpSpPr>
        <p:sp>
          <p:nvSpPr>
            <p:cNvPr id="18" name="CustomShape 4">
              <a:extLst>
                <a:ext uri="{FF2B5EF4-FFF2-40B4-BE49-F238E27FC236}">
                  <a16:creationId xmlns:a16="http://schemas.microsoft.com/office/drawing/2014/main" id="{D519429B-2CCD-4B2A-96CE-530C2535203D}"/>
                </a:ext>
              </a:extLst>
            </p:cNvPr>
            <p:cNvSpPr/>
            <p:nvPr/>
          </p:nvSpPr>
          <p:spPr>
            <a:xfrm>
              <a:off x="1463040" y="993600"/>
              <a:ext cx="864360" cy="1109520"/>
            </a:xfrm>
            <a:custGeom>
              <a:avLst/>
              <a:gdLst/>
              <a:ahLst/>
              <a:cxnLst/>
              <a:rect l="l" t="t" r="r" b="b"/>
              <a:pathLst>
                <a:path w="15978" h="2050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DC991B7-F1F1-4917-9C23-F688909B6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6734" y="1271830"/>
              <a:ext cx="555004" cy="487155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8C144-992A-408B-BFFE-D19181497087}"/>
              </a:ext>
            </a:extLst>
          </p:cNvPr>
          <p:cNvGrpSpPr/>
          <p:nvPr/>
        </p:nvGrpSpPr>
        <p:grpSpPr>
          <a:xfrm>
            <a:off x="845803" y="1758985"/>
            <a:ext cx="457200" cy="792360"/>
            <a:chOff x="914400" y="1676520"/>
            <a:chExt cx="457200" cy="792360"/>
          </a:xfrm>
        </p:grpSpPr>
        <p:sp>
          <p:nvSpPr>
            <p:cNvPr id="19" name="CustomShape 5">
              <a:extLst>
                <a:ext uri="{FF2B5EF4-FFF2-40B4-BE49-F238E27FC236}">
                  <a16:creationId xmlns:a16="http://schemas.microsoft.com/office/drawing/2014/main" id="{4F948CDD-64E3-4B2F-9D8F-18A5FC957C67}"/>
                </a:ext>
              </a:extLst>
            </p:cNvPr>
            <p:cNvSpPr/>
            <p:nvPr/>
          </p:nvSpPr>
          <p:spPr>
            <a:xfrm>
              <a:off x="914400" y="1676520"/>
              <a:ext cx="457200" cy="792360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8B292-E00E-4D11-A3E3-1D9A393FB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26" y="1896883"/>
              <a:ext cx="317366" cy="278568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38AABC0-B769-4318-8F12-E6157CDE298C}"/>
              </a:ext>
            </a:extLst>
          </p:cNvPr>
          <p:cNvGrpSpPr/>
          <p:nvPr/>
        </p:nvGrpSpPr>
        <p:grpSpPr>
          <a:xfrm>
            <a:off x="6601131" y="981734"/>
            <a:ext cx="1393560" cy="1319760"/>
            <a:chOff x="6601131" y="981734"/>
            <a:chExt cx="1393560" cy="1319760"/>
          </a:xfrm>
        </p:grpSpPr>
        <p:grpSp>
          <p:nvGrpSpPr>
            <p:cNvPr id="20" name="Group 6">
              <a:extLst>
                <a:ext uri="{FF2B5EF4-FFF2-40B4-BE49-F238E27FC236}">
                  <a16:creationId xmlns:a16="http://schemas.microsoft.com/office/drawing/2014/main" id="{6C3B0BF7-C9D0-4D85-8FEA-9A86ED4ED279}"/>
                </a:ext>
              </a:extLst>
            </p:cNvPr>
            <p:cNvGrpSpPr/>
            <p:nvPr/>
          </p:nvGrpSpPr>
          <p:grpSpPr>
            <a:xfrm>
              <a:off x="6601131" y="981734"/>
              <a:ext cx="1393560" cy="1319760"/>
              <a:chOff x="6126480" y="1188720"/>
              <a:chExt cx="1393560" cy="1319760"/>
            </a:xfrm>
          </p:grpSpPr>
          <p:sp>
            <p:nvSpPr>
              <p:cNvPr id="21" name="CustomShape 7">
                <a:extLst>
                  <a:ext uri="{FF2B5EF4-FFF2-40B4-BE49-F238E27FC236}">
                    <a16:creationId xmlns:a16="http://schemas.microsoft.com/office/drawing/2014/main" id="{D5FD9872-ACCB-493C-A24B-3D7EB1612B37}"/>
                  </a:ext>
                </a:extLst>
              </p:cNvPr>
              <p:cNvSpPr/>
              <p:nvPr/>
            </p:nvSpPr>
            <p:spPr>
              <a:xfrm>
                <a:off x="6483600" y="2222640"/>
                <a:ext cx="679320" cy="285840"/>
              </a:xfrm>
              <a:custGeom>
                <a:avLst/>
                <a:gdLst/>
                <a:ahLst/>
                <a:cxnLst/>
                <a:rect l="l" t="t" r="r" b="b"/>
                <a:pathLst>
                  <a:path w="9012" h="3800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w="1224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2" name="CustomShape 8">
                <a:extLst>
                  <a:ext uri="{FF2B5EF4-FFF2-40B4-BE49-F238E27FC236}">
                    <a16:creationId xmlns:a16="http://schemas.microsoft.com/office/drawing/2014/main" id="{D51B9A51-96C9-44FE-930A-9345CC3A81B8}"/>
                  </a:ext>
                </a:extLst>
              </p:cNvPr>
              <p:cNvSpPr/>
              <p:nvPr/>
            </p:nvSpPr>
            <p:spPr>
              <a:xfrm>
                <a:off x="6126480" y="1188720"/>
                <a:ext cx="1393560" cy="1014480"/>
              </a:xfrm>
              <a:custGeom>
                <a:avLst/>
                <a:gdLst/>
                <a:ahLst/>
                <a:cxnLst/>
                <a:rect l="l" t="t" r="r" b="b"/>
                <a:pathLst>
                  <a:path w="18462" h="13445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w="1224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A7C6E2F-F22A-4BA6-8E86-D237572DF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6084" y="1165761"/>
              <a:ext cx="764876" cy="671371"/>
            </a:xfrm>
            <a:prstGeom prst="rect">
              <a:avLst/>
            </a:prstGeom>
          </p:spPr>
        </p:pic>
      </p:grpSp>
    </p:spTree>
  </p:cSld>
  <p:clrMapOvr>
    <a:masterClrMapping/>
  </p:clrMapOvr>
  <p:transition advTm="288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5FBD7-CC5B-457A-8F47-C2256CA399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5F353E-729D-41CA-B0BD-7BDBF765A482}"/>
              </a:ext>
            </a:extLst>
          </p:cNvPr>
          <p:cNvGrpSpPr/>
          <p:nvPr/>
        </p:nvGrpSpPr>
        <p:grpSpPr>
          <a:xfrm>
            <a:off x="2606039" y="95177"/>
            <a:ext cx="3931922" cy="4887116"/>
            <a:chOff x="2606039" y="95177"/>
            <a:chExt cx="3931922" cy="4887116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FFAC714-E4BD-4437-89F9-DE21CD2ED4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425" t="2701" r="3425" b="2939"/>
            <a:stretch/>
          </p:blipFill>
          <p:spPr>
            <a:xfrm>
              <a:off x="2606039" y="156754"/>
              <a:ext cx="3931922" cy="4825539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B8E393C-D742-462B-8BA0-9B9B373F5B67}"/>
                </a:ext>
              </a:extLst>
            </p:cNvPr>
            <p:cNvGrpSpPr/>
            <p:nvPr/>
          </p:nvGrpSpPr>
          <p:grpSpPr>
            <a:xfrm>
              <a:off x="5363156" y="95177"/>
              <a:ext cx="1150949" cy="1569660"/>
              <a:chOff x="7098928" y="79275"/>
              <a:chExt cx="1150949" cy="156966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73C9B73-FEAB-4024-A612-B13E9743CF98}"/>
                  </a:ext>
                </a:extLst>
              </p:cNvPr>
              <p:cNvGrpSpPr/>
              <p:nvPr/>
            </p:nvGrpSpPr>
            <p:grpSpPr>
              <a:xfrm>
                <a:off x="7098928" y="317795"/>
                <a:ext cx="1150949" cy="1178957"/>
                <a:chOff x="7098928" y="317795"/>
                <a:chExt cx="1150949" cy="1178957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0303E49-7F0B-4181-84E0-21255715AF61}"/>
                    </a:ext>
                  </a:extLst>
                </p:cNvPr>
                <p:cNvSpPr/>
                <p:nvPr/>
              </p:nvSpPr>
              <p:spPr>
                <a:xfrm rot="2700000">
                  <a:off x="7306930" y="646347"/>
                  <a:ext cx="978468" cy="3213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 sz="2800" b="1" spc="600" dirty="0">
                    <a:latin typeface="Poppins" panose="020B0604020202020204" charset="0"/>
                    <a:cs typeface="Poppins" panose="020B0604020202020204" charset="0"/>
                  </a:endParaRPr>
                </a:p>
              </p:txBody>
            </p:sp>
            <p:sp>
              <p:nvSpPr>
                <p:cNvPr id="25" name="Isosceles Triangle 24">
                  <a:extLst>
                    <a:ext uri="{FF2B5EF4-FFF2-40B4-BE49-F238E27FC236}">
                      <a16:creationId xmlns:a16="http://schemas.microsoft.com/office/drawing/2014/main" id="{01E95E65-5D0E-4D0C-AB4B-C92C08816A84}"/>
                    </a:ext>
                  </a:extLst>
                </p:cNvPr>
                <p:cNvSpPr/>
                <p:nvPr/>
              </p:nvSpPr>
              <p:spPr>
                <a:xfrm rot="10800000">
                  <a:off x="7098928" y="347468"/>
                  <a:ext cx="460327" cy="396496"/>
                </a:xfrm>
                <a:prstGeom prst="triangle">
                  <a:avLst>
                    <a:gd name="adj" fmla="val 11181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DE" sz="2800" b="1" spc="600">
                    <a:latin typeface="Poppins" panose="020B0604020202020204" charset="0"/>
                    <a:cs typeface="Poppins" panose="020B0604020202020204" charset="0"/>
                  </a:endParaRPr>
                </a:p>
              </p:txBody>
            </p:sp>
            <p:sp>
              <p:nvSpPr>
                <p:cNvPr id="26" name="Isosceles Triangle 25">
                  <a:extLst>
                    <a:ext uri="{FF2B5EF4-FFF2-40B4-BE49-F238E27FC236}">
                      <a16:creationId xmlns:a16="http://schemas.microsoft.com/office/drawing/2014/main" id="{CA2A4CF6-17D9-489A-9CE7-954E75FA0845}"/>
                    </a:ext>
                  </a:extLst>
                </p:cNvPr>
                <p:cNvSpPr/>
                <p:nvPr/>
              </p:nvSpPr>
              <p:spPr>
                <a:xfrm rot="5400000" flipV="1">
                  <a:off x="7821465" y="1068341"/>
                  <a:ext cx="460327" cy="396496"/>
                </a:xfrm>
                <a:prstGeom prst="triangle">
                  <a:avLst>
                    <a:gd name="adj" fmla="val 11181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DE" sz="2800" b="1" spc="600">
                    <a:latin typeface="Poppins" panose="020B0604020202020204" charset="0"/>
                    <a:cs typeface="Poppins" panose="020B0604020202020204" charset="0"/>
                  </a:endParaRPr>
                </a:p>
              </p:txBody>
            </p:sp>
          </p:grp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B51AF2A-B260-40BE-9640-8CC167D95B43}"/>
                  </a:ext>
                </a:extLst>
              </p:cNvPr>
              <p:cNvSpPr/>
              <p:nvPr/>
            </p:nvSpPr>
            <p:spPr>
              <a:xfrm rot="2700000">
                <a:off x="7027510" y="742990"/>
                <a:ext cx="1569660" cy="2422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spc="600" dirty="0">
                    <a:solidFill>
                      <a:srgbClr val="818181"/>
                    </a:solidFill>
                    <a:latin typeface="Poppins" panose="020B0604020202020204" charset="0"/>
                    <a:cs typeface="Poppins" panose="020B0604020202020204" charset="0"/>
                  </a:rPr>
                  <a:t>Mobile</a:t>
                </a:r>
                <a:endParaRPr lang="en-DE" sz="1800" b="1" spc="600" dirty="0">
                  <a:solidFill>
                    <a:srgbClr val="818181"/>
                  </a:solidFill>
                  <a:latin typeface="Poppins" panose="020B0604020202020204" charset="0"/>
                  <a:cs typeface="Poppins" panose="020B0604020202020204" charset="0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3A9CDB-0C94-4CE9-BC18-B418A8215B0C}"/>
              </a:ext>
            </a:extLst>
          </p:cNvPr>
          <p:cNvGrpSpPr/>
          <p:nvPr/>
        </p:nvGrpSpPr>
        <p:grpSpPr>
          <a:xfrm>
            <a:off x="4310447" y="79275"/>
            <a:ext cx="4023656" cy="4932775"/>
            <a:chOff x="4310447" y="79275"/>
            <a:chExt cx="4023656" cy="4932775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CEDD63B-B24D-45B6-8635-984F7542E5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70" t="2556" r="2154" b="2554"/>
            <a:stretch/>
          </p:blipFill>
          <p:spPr>
            <a:xfrm>
              <a:off x="4310447" y="131449"/>
              <a:ext cx="4023656" cy="4880601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56EC94A-4F44-428C-A945-A4198D8E7FEF}"/>
                </a:ext>
              </a:extLst>
            </p:cNvPr>
            <p:cNvGrpSpPr/>
            <p:nvPr/>
          </p:nvGrpSpPr>
          <p:grpSpPr>
            <a:xfrm>
              <a:off x="7098928" y="79275"/>
              <a:ext cx="1150949" cy="1569660"/>
              <a:chOff x="7098928" y="79275"/>
              <a:chExt cx="1150949" cy="1569660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DA23FB68-4753-4722-9859-12BEAAC0E0A5}"/>
                  </a:ext>
                </a:extLst>
              </p:cNvPr>
              <p:cNvGrpSpPr/>
              <p:nvPr/>
            </p:nvGrpSpPr>
            <p:grpSpPr>
              <a:xfrm>
                <a:off x="7098928" y="317795"/>
                <a:ext cx="1150949" cy="1178957"/>
                <a:chOff x="7098928" y="317795"/>
                <a:chExt cx="1150949" cy="1178957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E350B757-E9C1-4C18-B4D5-7BA5087AF819}"/>
                    </a:ext>
                  </a:extLst>
                </p:cNvPr>
                <p:cNvSpPr/>
                <p:nvPr/>
              </p:nvSpPr>
              <p:spPr>
                <a:xfrm rot="2700000">
                  <a:off x="7306930" y="646347"/>
                  <a:ext cx="978468" cy="3213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 sz="2800" b="1" spc="600" dirty="0">
                    <a:latin typeface="Poppins" panose="020B0604020202020204" charset="0"/>
                    <a:cs typeface="Poppins" panose="020B0604020202020204" charset="0"/>
                  </a:endParaRPr>
                </a:p>
              </p:txBody>
            </p:sp>
            <p:sp>
              <p:nvSpPr>
                <p:cNvPr id="41" name="Isosceles Triangle 40">
                  <a:extLst>
                    <a:ext uri="{FF2B5EF4-FFF2-40B4-BE49-F238E27FC236}">
                      <a16:creationId xmlns:a16="http://schemas.microsoft.com/office/drawing/2014/main" id="{1943E9E5-16E8-4E23-A0E6-7ADC044671E0}"/>
                    </a:ext>
                  </a:extLst>
                </p:cNvPr>
                <p:cNvSpPr/>
                <p:nvPr/>
              </p:nvSpPr>
              <p:spPr>
                <a:xfrm rot="10800000">
                  <a:off x="7098928" y="347468"/>
                  <a:ext cx="460327" cy="396496"/>
                </a:xfrm>
                <a:prstGeom prst="triangle">
                  <a:avLst>
                    <a:gd name="adj" fmla="val 11181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DE" sz="2800" b="1" spc="600">
                    <a:latin typeface="Poppins" panose="020B0604020202020204" charset="0"/>
                    <a:cs typeface="Poppins" panose="020B0604020202020204" charset="0"/>
                  </a:endParaRPr>
                </a:p>
              </p:txBody>
            </p:sp>
            <p:sp>
              <p:nvSpPr>
                <p:cNvPr id="42" name="Isosceles Triangle 41">
                  <a:extLst>
                    <a:ext uri="{FF2B5EF4-FFF2-40B4-BE49-F238E27FC236}">
                      <a16:creationId xmlns:a16="http://schemas.microsoft.com/office/drawing/2014/main" id="{4FE716F3-A5AB-45F5-A5EB-04696005DFFA}"/>
                    </a:ext>
                  </a:extLst>
                </p:cNvPr>
                <p:cNvSpPr/>
                <p:nvPr/>
              </p:nvSpPr>
              <p:spPr>
                <a:xfrm rot="5400000" flipV="1">
                  <a:off x="7821465" y="1068341"/>
                  <a:ext cx="460327" cy="396496"/>
                </a:xfrm>
                <a:prstGeom prst="triangle">
                  <a:avLst>
                    <a:gd name="adj" fmla="val 11181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DE" sz="2800" b="1" spc="600">
                    <a:latin typeface="Poppins" panose="020B0604020202020204" charset="0"/>
                    <a:cs typeface="Poppins" panose="020B0604020202020204" charset="0"/>
                  </a:endParaRPr>
                </a:p>
              </p:txBody>
            </p:sp>
          </p:grp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97C3B3D-AAEE-41F9-9ECE-D301E8864732}"/>
                  </a:ext>
                </a:extLst>
              </p:cNvPr>
              <p:cNvSpPr/>
              <p:nvPr/>
            </p:nvSpPr>
            <p:spPr>
              <a:xfrm rot="2700000">
                <a:off x="7027510" y="742990"/>
                <a:ext cx="1569660" cy="2422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spc="600" dirty="0">
                    <a:solidFill>
                      <a:srgbClr val="818181"/>
                    </a:solidFill>
                    <a:latin typeface="Poppins" panose="020B0604020202020204" charset="0"/>
                    <a:cs typeface="Poppins" panose="020B0604020202020204" charset="0"/>
                  </a:rPr>
                  <a:t>Web</a:t>
                </a:r>
                <a:endParaRPr lang="en-DE" sz="1800" b="1" spc="600" dirty="0">
                  <a:solidFill>
                    <a:srgbClr val="818181"/>
                  </a:solidFill>
                  <a:latin typeface="Poppins" panose="020B0604020202020204" charset="0"/>
                  <a:cs typeface="Poppins" panose="020B060402020202020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879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-0.22795 -0.0012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06" y="-62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19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250" fill="hold"/>
                                        <p:tgtEl>
                                          <p:spTgt spid="35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94C5B1-BAA3-47AC-9E21-832556908F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C7BFF-7EC7-4C39-A7C2-1CA58EE6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907" y="3146112"/>
            <a:ext cx="764362" cy="7643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6A9F355-B7D4-426E-A5F8-7B3A68FD5562}"/>
              </a:ext>
            </a:extLst>
          </p:cNvPr>
          <p:cNvGrpSpPr/>
          <p:nvPr/>
        </p:nvGrpSpPr>
        <p:grpSpPr>
          <a:xfrm>
            <a:off x="673388" y="2214512"/>
            <a:ext cx="2174578" cy="715341"/>
            <a:chOff x="673388" y="2214512"/>
            <a:chExt cx="2174578" cy="71534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2D66CB1-004F-4FEB-A620-EF025A1DF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2625" y="2214512"/>
              <a:ext cx="715341" cy="715341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20EB12E3-6276-449F-B06E-5791B4201F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30144" b="32176"/>
            <a:stretch/>
          </p:blipFill>
          <p:spPr>
            <a:xfrm>
              <a:off x="673388" y="2274655"/>
              <a:ext cx="1545427" cy="582319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2BF038B-7A1E-4E46-9DFF-5EE033A94F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884" y="1145529"/>
            <a:ext cx="934412" cy="93441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F93E06A-6D9C-4F55-B856-1972EBAD6F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0679" y="197321"/>
            <a:ext cx="1484819" cy="908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6B2BA6-3446-4C98-9833-2F0580938E22}"/>
              </a:ext>
            </a:extLst>
          </p:cNvPr>
          <p:cNvSpPr txBox="1"/>
          <p:nvPr/>
        </p:nvSpPr>
        <p:spPr>
          <a:xfrm>
            <a:off x="3106270" y="389965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Open-Source, cross-platform JavaScript </a:t>
            </a:r>
            <a:r>
              <a:rPr lang="en-US" dirty="0" err="1"/>
              <a:t>Laufzeitumgebung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7B8C3-D18B-4C1B-90A8-2A2CAF265864}"/>
              </a:ext>
            </a:extLst>
          </p:cNvPr>
          <p:cNvSpPr txBox="1"/>
          <p:nvPr/>
        </p:nvSpPr>
        <p:spPr>
          <a:xfrm>
            <a:off x="3106270" y="1348871"/>
            <a:ext cx="454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Clientseitiges</a:t>
            </a:r>
            <a:r>
              <a:rPr lang="en-US" dirty="0"/>
              <a:t> JavaScript-</a:t>
            </a:r>
            <a:r>
              <a:rPr lang="en-US" dirty="0" err="1"/>
              <a:t>Webframework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die </a:t>
            </a:r>
            <a:r>
              <a:rPr lang="en-US" dirty="0" err="1"/>
              <a:t>Benutzeroberfläche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A5252E-3FD9-44EE-B35E-DA3631E06BBC}"/>
              </a:ext>
            </a:extLst>
          </p:cNvPr>
          <p:cNvSpPr txBox="1"/>
          <p:nvPr/>
        </p:nvSpPr>
        <p:spPr>
          <a:xfrm>
            <a:off x="3106270" y="2307777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Framework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Erstellung</a:t>
            </a:r>
            <a:r>
              <a:rPr lang="en-US" dirty="0"/>
              <a:t> von Mobile </a:t>
            </a:r>
            <a:r>
              <a:rPr lang="en-US" dirty="0" err="1"/>
              <a:t>Applikationen</a:t>
            </a:r>
            <a:r>
              <a:rPr lang="en-US" dirty="0"/>
              <a:t>. </a:t>
            </a:r>
            <a:r>
              <a:rPr lang="en-US" dirty="0" err="1"/>
              <a:t>Basiert</a:t>
            </a:r>
            <a:r>
              <a:rPr lang="en-US" dirty="0"/>
              <a:t> auf Cordova.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01F35-E243-4CE6-906F-6D1F1FDD7F56}"/>
              </a:ext>
            </a:extLst>
          </p:cNvPr>
          <p:cNvSpPr txBox="1"/>
          <p:nvPr/>
        </p:nvSpPr>
        <p:spPr>
          <a:xfrm>
            <a:off x="3106270" y="3240557"/>
            <a:ext cx="43165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Framework, welches die </a:t>
            </a:r>
            <a:r>
              <a:rPr lang="en-US" dirty="0" err="1"/>
              <a:t>Ausführung</a:t>
            </a:r>
            <a:r>
              <a:rPr lang="en-US" dirty="0"/>
              <a:t> von cross-platform Desktop-</a:t>
            </a:r>
            <a:r>
              <a:rPr lang="en-US" dirty="0" err="1"/>
              <a:t>Anwendungen</a:t>
            </a:r>
            <a:r>
              <a:rPr lang="en-US" dirty="0"/>
              <a:t> </a:t>
            </a:r>
            <a:r>
              <a:rPr lang="en-US" dirty="0" err="1"/>
              <a:t>ermöglicht</a:t>
            </a:r>
            <a:r>
              <a:rPr lang="en-US" dirty="0"/>
              <a:t>.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28BA2-883D-42BF-8ED5-7433DDA53178}"/>
              </a:ext>
            </a:extLst>
          </p:cNvPr>
          <p:cNvSpPr txBox="1"/>
          <p:nvPr/>
        </p:nvSpPr>
        <p:spPr>
          <a:xfrm>
            <a:off x="3106270" y="4225589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Freie Webanwendung zur Administration von MySQL-Datenbanken</a:t>
            </a:r>
            <a:endParaRPr lang="en-DE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8F585BA-34EE-4F91-88FF-387484E0D9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2938" y="4041661"/>
            <a:ext cx="1260299" cy="89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0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 err="1"/>
              <a:t>Ausblick</a:t>
            </a:r>
            <a:endParaRPr lang="en-US" b="0" spc="-1" dirty="0">
              <a:latin typeface="Arial"/>
            </a:endParaRPr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/>
              <a:t>Was </a:t>
            </a:r>
            <a:r>
              <a:rPr lang="en-US" spc="-1" dirty="0" err="1"/>
              <a:t>liegt</a:t>
            </a:r>
            <a:r>
              <a:rPr lang="en-US" spc="-1" dirty="0"/>
              <a:t> </a:t>
            </a:r>
            <a:r>
              <a:rPr lang="en-US" spc="-1" dirty="0" err="1"/>
              <a:t>noch</a:t>
            </a:r>
            <a:r>
              <a:rPr lang="en-US" spc="-1" dirty="0"/>
              <a:t> </a:t>
            </a:r>
            <a:r>
              <a:rPr lang="en-US" spc="-1" dirty="0" err="1"/>
              <a:t>vor</a:t>
            </a:r>
            <a:r>
              <a:rPr lang="en-US" spc="-1" dirty="0"/>
              <a:t> </a:t>
            </a:r>
            <a:r>
              <a:rPr lang="en-US" spc="-1" dirty="0" err="1"/>
              <a:t>uns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4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38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AAC144-5B35-4BAC-8CB1-CB3DC61A41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FBA0F8-5ECF-40C4-AC51-8E89A7ACF702}"/>
              </a:ext>
            </a:extLst>
          </p:cNvPr>
          <p:cNvGrpSpPr/>
          <p:nvPr/>
        </p:nvGrpSpPr>
        <p:grpSpPr>
          <a:xfrm>
            <a:off x="1216348" y="407601"/>
            <a:ext cx="2497473" cy="4328297"/>
            <a:chOff x="1216348" y="407601"/>
            <a:chExt cx="2497473" cy="432829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B5BC36-B1BE-41B0-8093-F5D0F153DADA}"/>
                </a:ext>
              </a:extLst>
            </p:cNvPr>
            <p:cNvGrpSpPr/>
            <p:nvPr/>
          </p:nvGrpSpPr>
          <p:grpSpPr>
            <a:xfrm>
              <a:off x="1517375" y="959561"/>
              <a:ext cx="1896672" cy="2975516"/>
              <a:chOff x="1517375" y="959561"/>
              <a:chExt cx="1896672" cy="297551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BC151C0-2389-483B-9DE6-CE8BF36E15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40710"/>
              <a:stretch/>
            </p:blipFill>
            <p:spPr>
              <a:xfrm>
                <a:off x="1517375" y="959561"/>
                <a:ext cx="1896672" cy="2009299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896CAA22-0677-4A02-AE7E-E074619BEC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83896"/>
              <a:stretch/>
            </p:blipFill>
            <p:spPr>
              <a:xfrm>
                <a:off x="1517375" y="3389331"/>
                <a:ext cx="1896672" cy="545746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65994EB-4EE6-462B-9C08-AAC07D56C2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64677" b="22903"/>
              <a:stretch/>
            </p:blipFill>
            <p:spPr>
              <a:xfrm>
                <a:off x="1517375" y="2968860"/>
                <a:ext cx="1896672" cy="420866"/>
              </a:xfrm>
              <a:prstGeom prst="rect">
                <a:avLst/>
              </a:prstGeom>
            </p:spPr>
          </p:pic>
        </p:grpSp>
        <p:sp>
          <p:nvSpPr>
            <p:cNvPr id="5" name="CustomShape 5">
              <a:extLst>
                <a:ext uri="{FF2B5EF4-FFF2-40B4-BE49-F238E27FC236}">
                  <a16:creationId xmlns:a16="http://schemas.microsoft.com/office/drawing/2014/main" id="{9B8F6E41-1EEA-4172-A514-E9F17451C55A}"/>
                </a:ext>
              </a:extLst>
            </p:cNvPr>
            <p:cNvSpPr/>
            <p:nvPr/>
          </p:nvSpPr>
          <p:spPr>
            <a:xfrm>
              <a:off x="1216348" y="407601"/>
              <a:ext cx="2497473" cy="4328297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C4702B5-B261-45FF-ABA1-07DD9300D47A}"/>
              </a:ext>
            </a:extLst>
          </p:cNvPr>
          <p:cNvGrpSpPr/>
          <p:nvPr/>
        </p:nvGrpSpPr>
        <p:grpSpPr>
          <a:xfrm>
            <a:off x="5430179" y="407995"/>
            <a:ext cx="2497473" cy="4328297"/>
            <a:chOff x="5430179" y="407995"/>
            <a:chExt cx="2497473" cy="432829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2EDDF90-D07D-4A7C-9515-625BB93AAC52}"/>
                </a:ext>
              </a:extLst>
            </p:cNvPr>
            <p:cNvGrpSpPr/>
            <p:nvPr/>
          </p:nvGrpSpPr>
          <p:grpSpPr>
            <a:xfrm>
              <a:off x="5729952" y="959955"/>
              <a:ext cx="1904443" cy="2947677"/>
              <a:chOff x="5729952" y="959955"/>
              <a:chExt cx="1904443" cy="2947677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A1FC245-2B5C-442A-8493-DFBE6E2CCED9}"/>
                  </a:ext>
                </a:extLst>
              </p:cNvPr>
              <p:cNvGrpSpPr/>
              <p:nvPr/>
            </p:nvGrpSpPr>
            <p:grpSpPr>
              <a:xfrm>
                <a:off x="5729952" y="959955"/>
                <a:ext cx="1903255" cy="2947677"/>
                <a:chOff x="5729952" y="959955"/>
                <a:chExt cx="1903255" cy="2947677"/>
              </a:xfrm>
            </p:grpSpPr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04ACFA50-4275-4748-8F93-E4AED21468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t="35502" b="61544"/>
                <a:stretch/>
              </p:blipFill>
              <p:spPr>
                <a:xfrm>
                  <a:off x="5729952" y="3389726"/>
                  <a:ext cx="1896673" cy="517906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1EE3AB1A-2EDD-4AC5-8C57-6F9AD18AA8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28246"/>
                <a:stretch/>
              </p:blipFill>
              <p:spPr>
                <a:xfrm>
                  <a:off x="5736534" y="959955"/>
                  <a:ext cx="1896673" cy="2429771"/>
                </a:xfrm>
                <a:prstGeom prst="rect">
                  <a:avLst/>
                </a:prstGeom>
              </p:spPr>
            </p:pic>
          </p:grp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95309C77-524C-4B89-A42F-26A839115C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96008" b="-6811"/>
              <a:stretch/>
            </p:blipFill>
            <p:spPr>
              <a:xfrm>
                <a:off x="5737722" y="3386545"/>
                <a:ext cx="1896673" cy="365836"/>
              </a:xfrm>
              <a:prstGeom prst="rect">
                <a:avLst/>
              </a:prstGeom>
            </p:spPr>
          </p:pic>
        </p:grpSp>
        <p:sp>
          <p:nvSpPr>
            <p:cNvPr id="14" name="CustomShape 5">
              <a:extLst>
                <a:ext uri="{FF2B5EF4-FFF2-40B4-BE49-F238E27FC236}">
                  <a16:creationId xmlns:a16="http://schemas.microsoft.com/office/drawing/2014/main" id="{B71A8171-D6E1-49C3-B693-D42377CEBC52}"/>
                </a:ext>
              </a:extLst>
            </p:cNvPr>
            <p:cNvSpPr/>
            <p:nvPr/>
          </p:nvSpPr>
          <p:spPr>
            <a:xfrm>
              <a:off x="5430179" y="407995"/>
              <a:ext cx="2497473" cy="4328297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  <p:extLst>
      <p:ext uri="{BB962C8B-B14F-4D97-AF65-F5344CB8AC3E}">
        <p14:creationId xmlns:p14="http://schemas.microsoft.com/office/powerpoint/2010/main" val="151445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0"/>
          <p:cNvSpPr txBox="1"/>
          <p:nvPr/>
        </p:nvSpPr>
        <p:spPr>
          <a:xfrm>
            <a:off x="2773450" y="1150500"/>
            <a:ext cx="57825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200" b="1" dirty="0" err="1">
                <a:latin typeface="Poppins"/>
                <a:cs typeface="Poppins"/>
                <a:sym typeface="Poppins Light"/>
              </a:rPr>
              <a:t>Vielen</a:t>
            </a:r>
            <a:r>
              <a:rPr lang="en-US" sz="5200" b="1" dirty="0">
                <a:latin typeface="Poppins"/>
                <a:cs typeface="Poppins"/>
                <a:sym typeface="Poppins Light"/>
              </a:rPr>
              <a:t> Dank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 err="1">
                <a:latin typeface="Poppins"/>
                <a:cs typeface="Poppins"/>
                <a:sym typeface="Poppins Light"/>
              </a:rPr>
              <a:t>für</a:t>
            </a:r>
            <a:r>
              <a:rPr lang="en-US" sz="2800" b="1" dirty="0">
                <a:latin typeface="Poppins"/>
                <a:cs typeface="Poppins"/>
                <a:sym typeface="Poppins Light"/>
              </a:rPr>
              <a:t> </a:t>
            </a:r>
            <a:r>
              <a:rPr lang="en-US" sz="2800" b="1" dirty="0" err="1">
                <a:latin typeface="Poppins"/>
                <a:cs typeface="Poppins"/>
                <a:sym typeface="Poppins Light"/>
              </a:rPr>
              <a:t>Ihre</a:t>
            </a:r>
            <a:r>
              <a:rPr lang="en-US" sz="2800" b="1" dirty="0">
                <a:latin typeface="Poppins"/>
                <a:cs typeface="Poppins"/>
                <a:sym typeface="Poppins Light"/>
              </a:rPr>
              <a:t> </a:t>
            </a:r>
            <a:r>
              <a:rPr lang="en-US" sz="2800" b="1" dirty="0" err="1">
                <a:latin typeface="Poppins"/>
                <a:cs typeface="Poppins"/>
                <a:sym typeface="Poppins Light"/>
              </a:rPr>
              <a:t>Aufmerksamkeit</a:t>
            </a:r>
            <a:endParaRPr sz="2800" b="1" dirty="0">
              <a:latin typeface="Poppins"/>
              <a:cs typeface="Poppins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09" name="Google Shape;909;p40"/>
          <p:cNvSpPr txBox="1"/>
          <p:nvPr/>
        </p:nvSpPr>
        <p:spPr>
          <a:xfrm>
            <a:off x="1258575" y="1092646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F1C232"/>
                </a:solidFill>
                <a:latin typeface="Poppins Light"/>
                <a:ea typeface="Poppins Light"/>
                <a:cs typeface="Poppins Light"/>
                <a:sym typeface="Poppins Light"/>
              </a:rPr>
              <a:t>😉</a:t>
            </a:r>
            <a:endParaRPr sz="9600">
              <a:solidFill>
                <a:srgbClr val="F1C23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FB328C7-FCBF-A645-A47C-5AC64030C7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17</a:t>
            </a:fld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mbelin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Microsoft Macintosh PowerPoint</Application>
  <PresentationFormat>Bildschirmpräsentation (16:9)</PresentationFormat>
  <Paragraphs>110</Paragraphs>
  <Slides>17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Arial</vt:lpstr>
      <vt:lpstr>Symbol</vt:lpstr>
      <vt:lpstr>Poppins Light</vt:lpstr>
      <vt:lpstr>Poppins</vt:lpstr>
      <vt:lpstr>Cymbeline template</vt:lpstr>
      <vt:lpstr>driving-e-car</vt:lpstr>
      <vt:lpstr>Hallo!</vt:lpstr>
      <vt:lpstr>Agenda</vt:lpstr>
      <vt:lpstr>Unser Auftrag</vt:lpstr>
      <vt:lpstr>Geeignet?</vt:lpstr>
      <vt:lpstr>PowerPoint-Präsentation</vt:lpstr>
      <vt:lpstr>PowerPoint-Präsentation</vt:lpstr>
      <vt:lpstr>PowerPoint-Präsentation</vt:lpstr>
      <vt:lpstr>Prototypen-vorstellung</vt:lpstr>
      <vt:lpstr>Driving-E-Car</vt:lpstr>
      <vt:lpstr>Entscheidungen</vt:lpstr>
      <vt:lpstr>Big concept</vt:lpstr>
      <vt:lpstr>PowerPoint-Präsentation</vt:lpstr>
      <vt:lpstr>PowerPoint-Präsentation</vt:lpstr>
      <vt:lpstr>Ausblick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Simson Example</cp:lastModifiedBy>
  <cp:revision>59</cp:revision>
  <cp:lastPrinted>2018-12-13T11:32:07Z</cp:lastPrinted>
  <dcterms:modified xsi:type="dcterms:W3CDTF">2018-12-13T15:46:41Z</dcterms:modified>
</cp:coreProperties>
</file>