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autoCompressPictures="0">
  <p:sldMasterIdLst>
    <p:sldMasterId id="2147483660" r:id="rId1"/>
  </p:sldMasterIdLst>
  <p:notesMasterIdLst>
    <p:notesMasterId r:id="rId20"/>
  </p:notesMasterIdLst>
  <p:sldIdLst>
    <p:sldId id="256" r:id="rId2"/>
    <p:sldId id="258" r:id="rId3"/>
    <p:sldId id="261" r:id="rId4"/>
    <p:sldId id="259" r:id="rId5"/>
    <p:sldId id="290" r:id="rId6"/>
    <p:sldId id="297" r:id="rId7"/>
    <p:sldId id="296" r:id="rId8"/>
    <p:sldId id="260" r:id="rId9"/>
    <p:sldId id="286" r:id="rId10"/>
    <p:sldId id="292" r:id="rId11"/>
    <p:sldId id="293" r:id="rId12"/>
    <p:sldId id="295" r:id="rId13"/>
    <p:sldId id="262" r:id="rId14"/>
    <p:sldId id="298" r:id="rId15"/>
    <p:sldId id="299" r:id="rId16"/>
    <p:sldId id="288" r:id="rId17"/>
    <p:sldId id="289" r:id="rId18"/>
    <p:sldId id="282" r:id="rId19"/>
  </p:sldIdLst>
  <p:sldSz cx="9144000" cy="5143500" type="screen16x9"/>
  <p:notesSz cx="6858000" cy="9144000"/>
  <p:embeddedFontLst>
    <p:embeddedFont>
      <p:font typeface="Poppins" panose="020B0604020202020204" charset="0"/>
      <p:regular r:id="rId21"/>
      <p:bold r:id="rId22"/>
      <p:italic r:id="rId23"/>
      <p:boldItalic r:id="rId24"/>
    </p:embeddedFont>
    <p:embeddedFont>
      <p:font typeface="Poppins Light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8181"/>
    <a:srgbClr val="FF7171"/>
    <a:srgbClr val="898989"/>
    <a:srgbClr val="C1CD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FF19F3-2329-4E7B-B39F-E993869724D6}">
  <a:tblStyle styleId="{31FF19F3-2329-4E7B-B39F-E993869724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19" autoAdjust="0"/>
    <p:restoredTop sz="81667" autoAdjust="0"/>
  </p:normalViewPr>
  <p:slideViewPr>
    <p:cSldViewPr snapToGrid="0" snapToObjects="1">
      <p:cViewPr varScale="1">
        <p:scale>
          <a:sx n="73" d="100"/>
          <a:sy n="73" d="100"/>
        </p:scale>
        <p:origin x="930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Aufhänger</a:t>
            </a:r>
            <a:r>
              <a:rPr lang="en-US" dirty="0"/>
              <a:t>, Interesse </a:t>
            </a:r>
            <a:r>
              <a:rPr lang="en-US" dirty="0" err="1"/>
              <a:t>wecken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Marktlücke</a:t>
            </a:r>
            <a:r>
              <a:rPr lang="en-US" dirty="0"/>
              <a:t>??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Kurze</a:t>
            </a:r>
            <a:r>
              <a:rPr lang="en-US" dirty="0"/>
              <a:t> </a:t>
            </a:r>
            <a:r>
              <a:rPr lang="en-US" dirty="0" err="1"/>
              <a:t>Vorstellung</a:t>
            </a:r>
            <a:r>
              <a:rPr lang="en-US" dirty="0"/>
              <a:t> der </a:t>
            </a:r>
            <a:r>
              <a:rPr lang="en-US" dirty="0" err="1"/>
              <a:t>Personen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Wann</a:t>
            </a:r>
            <a:r>
              <a:rPr lang="en-US" dirty="0"/>
              <a:t> </a:t>
            </a:r>
            <a:r>
              <a:rPr lang="en-US" dirty="0" err="1"/>
              <a:t>Fragen</a:t>
            </a:r>
            <a:r>
              <a:rPr lang="en-US" dirty="0"/>
              <a:t> </a:t>
            </a:r>
            <a:r>
              <a:rPr lang="en-US" dirty="0" err="1"/>
              <a:t>stellen</a:t>
            </a:r>
            <a:r>
              <a:rPr lang="en-US" dirty="0"/>
              <a:t>? (-&gt; Am Ende, </a:t>
            </a:r>
            <a:r>
              <a:rPr lang="en-US" dirty="0" err="1"/>
              <a:t>wenn</a:t>
            </a:r>
            <a:r>
              <a:rPr lang="en-US" dirty="0"/>
              <a:t> Zeit und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Verständis</a:t>
            </a:r>
            <a:r>
              <a:rPr lang="en-US" dirty="0"/>
              <a:t> </a:t>
            </a:r>
            <a:r>
              <a:rPr lang="en-US" dirty="0" err="1"/>
              <a:t>direkt</a:t>
            </a:r>
            <a:r>
              <a:rPr lang="en-US" dirty="0"/>
              <a:t>)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16012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/>
              <a:t>Da </a:t>
            </a:r>
            <a:r>
              <a:rPr lang="en-US" dirty="0" err="1"/>
              <a:t>kommt</a:t>
            </a:r>
            <a:r>
              <a:rPr lang="en-US" dirty="0"/>
              <a:t> Driving-E-Car.de ins Spiel!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734127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Kunden</a:t>
            </a:r>
            <a:r>
              <a:rPr lang="en-US" dirty="0"/>
              <a:t> direct </a:t>
            </a:r>
            <a:r>
              <a:rPr lang="en-US" dirty="0" err="1"/>
              <a:t>ansprechen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“Herr </a:t>
            </a:r>
            <a:r>
              <a:rPr lang="en-US" dirty="0" err="1"/>
              <a:t>Jarzina</a:t>
            </a:r>
            <a:r>
              <a:rPr lang="en-US" dirty="0"/>
              <a:t>, </a:t>
            </a:r>
            <a:r>
              <a:rPr lang="en-US" dirty="0" err="1"/>
              <a:t>vielleicht</a:t>
            </a:r>
            <a:r>
              <a:rPr lang="en-US" dirty="0"/>
              <a:t> </a:t>
            </a:r>
            <a:r>
              <a:rPr lang="en-US" dirty="0" err="1"/>
              <a:t>erinneren</a:t>
            </a:r>
            <a:r>
              <a:rPr lang="en-US" dirty="0"/>
              <a:t> Sie </a:t>
            </a:r>
            <a:r>
              <a:rPr lang="en-US" dirty="0" err="1"/>
              <a:t>sich</a:t>
            </a:r>
            <a:r>
              <a:rPr lang="en-US" dirty="0"/>
              <a:t>, </a:t>
            </a:r>
            <a:r>
              <a:rPr lang="en-US" dirty="0" err="1"/>
              <a:t>ihr</a:t>
            </a:r>
            <a:r>
              <a:rPr lang="en-US" dirty="0"/>
              <a:t> </a:t>
            </a:r>
            <a:r>
              <a:rPr lang="en-US" dirty="0" err="1"/>
              <a:t>Einstieg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ersten</a:t>
            </a:r>
            <a:r>
              <a:rPr lang="en-US" dirty="0"/>
              <a:t> Meeting was …”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 err="1"/>
              <a:t>Unsere</a:t>
            </a:r>
            <a:r>
              <a:rPr lang="en-US" dirty="0"/>
              <a:t> </a:t>
            </a:r>
            <a:r>
              <a:rPr lang="en-US" dirty="0" err="1"/>
              <a:t>persönliche</a:t>
            </a:r>
            <a:r>
              <a:rPr lang="en-US" dirty="0"/>
              <a:t> und </a:t>
            </a:r>
            <a:r>
              <a:rPr lang="en-US" dirty="0" err="1"/>
              <a:t>technischer</a:t>
            </a:r>
            <a:r>
              <a:rPr lang="en-US" dirty="0"/>
              <a:t> </a:t>
            </a:r>
            <a:r>
              <a:rPr lang="en-US" dirty="0" err="1"/>
              <a:t>Herausforderung</a:t>
            </a:r>
            <a:r>
              <a:rPr lang="en-US" dirty="0"/>
              <a:t>: von </a:t>
            </a:r>
            <a:r>
              <a:rPr lang="en-US" dirty="0" err="1"/>
              <a:t>überall</a:t>
            </a:r>
            <a:r>
              <a:rPr lang="en-US" dirty="0"/>
              <a:t> </a:t>
            </a:r>
            <a:r>
              <a:rPr lang="en-US" dirty="0" err="1"/>
              <a:t>erreichbar</a:t>
            </a:r>
            <a:r>
              <a:rPr lang="en-US" dirty="0"/>
              <a:t> (Web, Mobile, </a:t>
            </a:r>
            <a:r>
              <a:rPr lang="en-US" dirty="0" err="1"/>
              <a:t>ect</a:t>
            </a:r>
            <a:r>
              <a:rPr lang="en-US" dirty="0"/>
              <a:t>.)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Ggf</a:t>
            </a:r>
            <a:r>
              <a:rPr lang="en-US" dirty="0"/>
              <a:t>.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nebenssatz</a:t>
            </a:r>
            <a:r>
              <a:rPr lang="en-US" dirty="0"/>
              <a:t> </a:t>
            </a:r>
            <a:r>
              <a:rPr lang="en-US" dirty="0" err="1"/>
              <a:t>erwähnen</a:t>
            </a:r>
            <a:r>
              <a:rPr lang="en-US" dirty="0"/>
              <a:t>, das </a:t>
            </a:r>
            <a:r>
              <a:rPr lang="en-US" dirty="0" err="1"/>
              <a:t>Anmelden</a:t>
            </a:r>
            <a:r>
              <a:rPr lang="en-US" dirty="0"/>
              <a:t> und </a:t>
            </a:r>
            <a:r>
              <a:rPr lang="en-US" dirty="0" err="1"/>
              <a:t>Registrieren</a:t>
            </a:r>
            <a:r>
              <a:rPr lang="en-US" dirty="0"/>
              <a:t> </a:t>
            </a:r>
            <a:r>
              <a:rPr lang="en-US" dirty="0" err="1"/>
              <a:t>fertig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, </a:t>
            </a:r>
            <a:r>
              <a:rPr lang="en-US" dirty="0" err="1"/>
              <a:t>aber</a:t>
            </a:r>
            <a:r>
              <a:rPr lang="en-US" dirty="0"/>
              <a:t> </a:t>
            </a:r>
            <a:r>
              <a:rPr lang="en-US" dirty="0" err="1"/>
              <a:t>aus</a:t>
            </a:r>
            <a:r>
              <a:rPr lang="en-US" dirty="0"/>
              <a:t> </a:t>
            </a:r>
            <a:r>
              <a:rPr lang="en-US" dirty="0" err="1"/>
              <a:t>banalität</a:t>
            </a:r>
            <a:r>
              <a:rPr lang="en-US" dirty="0"/>
              <a:t> und </a:t>
            </a:r>
            <a:r>
              <a:rPr lang="en-US" dirty="0" err="1"/>
              <a:t>zeitgründen</a:t>
            </a:r>
            <a:r>
              <a:rPr lang="en-US" dirty="0"/>
              <a:t> </a:t>
            </a:r>
            <a:r>
              <a:rPr lang="en-US" dirty="0" err="1"/>
              <a:t>nicht</a:t>
            </a:r>
            <a:r>
              <a:rPr lang="en-US" dirty="0"/>
              <a:t> </a:t>
            </a:r>
            <a:r>
              <a:rPr lang="en-US" dirty="0" err="1"/>
              <a:t>vorgeführt</a:t>
            </a:r>
            <a:r>
              <a:rPr lang="en-US" dirty="0"/>
              <a:t> </a:t>
            </a:r>
            <a:r>
              <a:rPr lang="en-US" dirty="0" err="1"/>
              <a:t>wird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58917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 err="1"/>
              <a:t>Savety</a:t>
            </a:r>
            <a:r>
              <a:rPr lang="en-US" dirty="0"/>
              <a:t> first.</a:t>
            </a:r>
          </a:p>
          <a:p>
            <a:pPr marL="139700" indent="0">
              <a:buNone/>
            </a:pPr>
            <a:r>
              <a:rPr lang="en-US" dirty="0"/>
              <a:t>Falls DEMO </a:t>
            </a:r>
            <a:r>
              <a:rPr lang="en-US" dirty="0" err="1"/>
              <a:t>aus</a:t>
            </a:r>
            <a:r>
              <a:rPr lang="en-US" dirty="0"/>
              <a:t> </a:t>
            </a:r>
            <a:r>
              <a:rPr lang="en-US" dirty="0" err="1"/>
              <a:t>irgendeinem</a:t>
            </a:r>
            <a:r>
              <a:rPr lang="en-US" dirty="0"/>
              <a:t> </a:t>
            </a:r>
            <a:r>
              <a:rPr lang="en-US" dirty="0" err="1"/>
              <a:t>Grund</a:t>
            </a:r>
            <a:r>
              <a:rPr lang="en-US" dirty="0"/>
              <a:t> </a:t>
            </a:r>
            <a:r>
              <a:rPr lang="en-US" dirty="0" err="1"/>
              <a:t>nicht</a:t>
            </a:r>
            <a:r>
              <a:rPr lang="en-US" dirty="0"/>
              <a:t> </a:t>
            </a:r>
            <a:r>
              <a:rPr lang="en-US" dirty="0" err="1"/>
              <a:t>funktioniert</a:t>
            </a:r>
            <a:r>
              <a:rPr lang="en-US" dirty="0"/>
              <a:t> </a:t>
            </a:r>
            <a:r>
              <a:rPr lang="en-US" dirty="0" err="1"/>
              <a:t>bzw</a:t>
            </a:r>
            <a:r>
              <a:rPr lang="en-US" dirty="0"/>
              <a:t>. </a:t>
            </a:r>
            <a:r>
              <a:rPr lang="en-US" dirty="0" err="1"/>
              <a:t>Für</a:t>
            </a:r>
            <a:r>
              <a:rPr lang="en-US" dirty="0"/>
              <a:t> die PDF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r>
              <a:rPr lang="en-US" dirty="0"/>
              <a:t>Am </a:t>
            </a:r>
            <a:r>
              <a:rPr lang="en-US" dirty="0" err="1"/>
              <a:t>Besten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Story </a:t>
            </a:r>
            <a:r>
              <a:rPr lang="en-US" dirty="0" err="1"/>
              <a:t>verpacken</a:t>
            </a:r>
            <a:r>
              <a:rPr lang="en-US" dirty="0"/>
              <a:t>.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r>
              <a:rPr lang="en-US" dirty="0"/>
              <a:t>Web: Demo: </a:t>
            </a:r>
            <a:r>
              <a:rPr lang="en-US" dirty="0" err="1"/>
              <a:t>Hauptseite</a:t>
            </a:r>
            <a:r>
              <a:rPr lang="en-US" dirty="0"/>
              <a:t>, Filter </a:t>
            </a:r>
            <a:r>
              <a:rPr lang="en-US" dirty="0" err="1"/>
              <a:t>Beispiele</a:t>
            </a:r>
            <a:endParaRPr lang="en-US" dirty="0"/>
          </a:p>
          <a:p>
            <a:pPr marL="139700" indent="0">
              <a:buNone/>
            </a:pPr>
            <a:r>
              <a:rPr lang="en-US" dirty="0"/>
              <a:t>Mobile </a:t>
            </a:r>
            <a:r>
              <a:rPr lang="en-US" dirty="0" err="1"/>
              <a:t>Ansicht</a:t>
            </a:r>
            <a:endParaRPr lang="en-US" dirty="0"/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r>
              <a:rPr lang="en-US" dirty="0" err="1"/>
              <a:t>Wenn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schnell, </a:t>
            </a:r>
            <a:r>
              <a:rPr lang="en-US" dirty="0" err="1"/>
              <a:t>dann</a:t>
            </a:r>
            <a:r>
              <a:rPr lang="en-US" dirty="0"/>
              <a:t> </a:t>
            </a:r>
            <a:r>
              <a:rPr lang="en-US" dirty="0" err="1"/>
              <a:t>kurz</a:t>
            </a:r>
            <a:r>
              <a:rPr lang="en-US" dirty="0"/>
              <a:t> die </a:t>
            </a:r>
            <a:r>
              <a:rPr lang="en-US" dirty="0" err="1"/>
              <a:t>Reistrierung</a:t>
            </a:r>
            <a:r>
              <a:rPr lang="en-US" dirty="0"/>
              <a:t> und </a:t>
            </a:r>
            <a:r>
              <a:rPr lang="en-US" dirty="0" err="1"/>
              <a:t>Anmelde</a:t>
            </a:r>
            <a:r>
              <a:rPr lang="en-US" dirty="0"/>
              <a:t> </a:t>
            </a:r>
            <a:r>
              <a:rPr lang="en-US" dirty="0" err="1"/>
              <a:t>Maske</a:t>
            </a:r>
            <a:r>
              <a:rPr lang="en-US" dirty="0"/>
              <a:t> </a:t>
            </a:r>
            <a:r>
              <a:rPr lang="en-US" dirty="0" err="1"/>
              <a:t>zeigen</a:t>
            </a:r>
            <a:r>
              <a:rPr lang="en-US" dirty="0"/>
              <a:t>.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8554047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 err="1"/>
              <a:t>Besondere</a:t>
            </a:r>
            <a:r>
              <a:rPr lang="en-US" dirty="0"/>
              <a:t> </a:t>
            </a:r>
            <a:r>
              <a:rPr lang="en-US" dirty="0" err="1"/>
              <a:t>teschniche</a:t>
            </a:r>
            <a:r>
              <a:rPr lang="en-US" dirty="0"/>
              <a:t> </a:t>
            </a:r>
            <a:r>
              <a:rPr lang="en-US" dirty="0" err="1"/>
              <a:t>Herausforderung</a:t>
            </a:r>
            <a:r>
              <a:rPr lang="en-US" dirty="0"/>
              <a:t>: </a:t>
            </a:r>
            <a:r>
              <a:rPr lang="en-US" dirty="0" err="1"/>
              <a:t>Applikation</a:t>
            </a:r>
            <a:r>
              <a:rPr lang="en-US" dirty="0"/>
              <a:t> von </a:t>
            </a:r>
            <a:r>
              <a:rPr lang="en-US" dirty="0" err="1"/>
              <a:t>überall</a:t>
            </a:r>
            <a:r>
              <a:rPr lang="en-US" dirty="0"/>
              <a:t> </a:t>
            </a:r>
            <a:r>
              <a:rPr lang="en-US" dirty="0" err="1"/>
              <a:t>erreichbar</a:t>
            </a:r>
            <a:r>
              <a:rPr lang="en-US" dirty="0"/>
              <a:t>. Web, Mobile, etc.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0090844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dirty="0" err="1"/>
              <a:t>Entscheidung</a:t>
            </a:r>
            <a:r>
              <a:rPr lang="en-US" dirty="0"/>
              <a:t>: </a:t>
            </a:r>
            <a:r>
              <a:rPr lang="en-US" dirty="0" err="1"/>
              <a:t>Adminbereich</a:t>
            </a:r>
            <a:r>
              <a:rPr lang="en-US" dirty="0"/>
              <a:t> -&gt; phpMyAdmin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dirty="0"/>
              <a:t>Next page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26435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Was </a:t>
            </a:r>
            <a:r>
              <a:rPr lang="en-US" dirty="0" err="1"/>
              <a:t>ermöglicht</a:t>
            </a:r>
            <a:r>
              <a:rPr lang="en-US" dirty="0"/>
              <a:t> </a:t>
            </a:r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Technisk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Was </a:t>
            </a:r>
            <a:r>
              <a:rPr lang="en-US" dirty="0" err="1"/>
              <a:t>haben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gemeinsam</a:t>
            </a:r>
            <a:r>
              <a:rPr lang="en-US" dirty="0"/>
              <a:t> </a:t>
            </a:r>
            <a:r>
              <a:rPr lang="en-US" dirty="0" err="1"/>
              <a:t>erarbeitet</a:t>
            </a:r>
            <a:r>
              <a:rPr lang="en-US" dirty="0"/>
              <a:t>, was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unser</a:t>
            </a:r>
            <a:r>
              <a:rPr lang="en-US" dirty="0"/>
              <a:t> Team (</a:t>
            </a:r>
            <a:r>
              <a:rPr lang="en-US" dirty="0" err="1"/>
              <a:t>z.B</a:t>
            </a:r>
            <a:r>
              <a:rPr lang="en-US" dirty="0"/>
              <a:t>. </a:t>
            </a:r>
            <a:r>
              <a:rPr lang="en-US" dirty="0" err="1"/>
              <a:t>wir</a:t>
            </a:r>
            <a:r>
              <a:rPr lang="en-US" dirty="0"/>
              <a:t> plus electron)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Technik: Angular (GUI), Ionic (</a:t>
            </a:r>
            <a:r>
              <a:rPr lang="en-US" dirty="0" err="1"/>
              <a:t>cordova</a:t>
            </a:r>
            <a:r>
              <a:rPr lang="en-US" dirty="0"/>
              <a:t>, Mobile App Builder), Electron (Desktop)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Ggf</a:t>
            </a:r>
            <a:r>
              <a:rPr lang="en-US" dirty="0"/>
              <a:t>. Falls Zeit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grobes</a:t>
            </a:r>
            <a:r>
              <a:rPr lang="en-US" dirty="0"/>
              <a:t> </a:t>
            </a:r>
            <a:r>
              <a:rPr lang="en-US" dirty="0" err="1"/>
              <a:t>technisches</a:t>
            </a:r>
            <a:r>
              <a:rPr lang="en-US" dirty="0"/>
              <a:t> </a:t>
            </a:r>
            <a:r>
              <a:rPr lang="en-US" dirty="0" err="1"/>
              <a:t>Verständnis</a:t>
            </a:r>
            <a:r>
              <a:rPr lang="en-US" dirty="0"/>
              <a:t> und </a:t>
            </a:r>
            <a:r>
              <a:rPr lang="en-US" dirty="0" err="1"/>
              <a:t>für</a:t>
            </a:r>
            <a:r>
              <a:rPr lang="en-US" dirty="0"/>
              <a:t> den </a:t>
            </a:r>
            <a:r>
              <a:rPr lang="en-US" dirty="0" err="1"/>
              <a:t>Unterschied</a:t>
            </a:r>
            <a:r>
              <a:rPr lang="en-US" dirty="0"/>
              <a:t> </a:t>
            </a:r>
            <a:r>
              <a:rPr lang="en-US" dirty="0" err="1"/>
              <a:t>architektur</a:t>
            </a:r>
            <a:r>
              <a:rPr lang="en-US" dirty="0"/>
              <a:t> </a:t>
            </a:r>
            <a:r>
              <a:rPr lang="en-US" dirty="0" err="1"/>
              <a:t>Bilder</a:t>
            </a:r>
            <a:r>
              <a:rPr lang="en-US" dirty="0"/>
              <a:t> </a:t>
            </a:r>
            <a:r>
              <a:rPr lang="en-US" dirty="0" err="1"/>
              <a:t>aus</a:t>
            </a:r>
            <a:r>
              <a:rPr lang="en-US" dirty="0"/>
              <a:t> der README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Entscheidungen</a:t>
            </a:r>
            <a:r>
              <a:rPr lang="en-US" dirty="0"/>
              <a:t>, </a:t>
            </a:r>
            <a:r>
              <a:rPr lang="en-US" dirty="0" err="1"/>
              <a:t>wurde</a:t>
            </a:r>
            <a:r>
              <a:rPr lang="en-US" dirty="0"/>
              <a:t> das </a:t>
            </a:r>
            <a:r>
              <a:rPr lang="en-US" dirty="0" err="1"/>
              <a:t>Projekt</a:t>
            </a:r>
            <a:r>
              <a:rPr lang="en-US" dirty="0"/>
              <a:t> </a:t>
            </a:r>
            <a:r>
              <a:rPr lang="en-US" dirty="0" err="1"/>
              <a:t>erst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einem</a:t>
            </a:r>
            <a:r>
              <a:rPr lang="en-US" dirty="0"/>
              <a:t> </a:t>
            </a:r>
            <a:r>
              <a:rPr lang="en-US" dirty="0" err="1"/>
              <a:t>zeitlich</a:t>
            </a:r>
            <a:r>
              <a:rPr lang="en-US" dirty="0"/>
              <a:t> </a:t>
            </a:r>
            <a:r>
              <a:rPr lang="en-US" dirty="0" err="1"/>
              <a:t>realistischen</a:t>
            </a:r>
            <a:r>
              <a:rPr lang="en-US" dirty="0"/>
              <a:t> </a:t>
            </a:r>
            <a:r>
              <a:rPr lang="en-US" dirty="0" err="1"/>
              <a:t>Projekt</a:t>
            </a:r>
            <a:r>
              <a:rPr lang="en-US" dirty="0"/>
              <a:t>, da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nicht</a:t>
            </a:r>
            <a:r>
              <a:rPr lang="en-US" dirty="0"/>
              <a:t> </a:t>
            </a:r>
            <a:r>
              <a:rPr lang="en-US" dirty="0" err="1"/>
              <a:t>viele</a:t>
            </a:r>
            <a:r>
              <a:rPr lang="en-US" dirty="0"/>
              <a:t> </a:t>
            </a:r>
            <a:r>
              <a:rPr lang="en-US" dirty="0" err="1"/>
              <a:t>Anwendungen</a:t>
            </a:r>
            <a:r>
              <a:rPr lang="en-US" dirty="0"/>
              <a:t> auf </a:t>
            </a:r>
            <a:r>
              <a:rPr lang="en-US" dirty="0" err="1"/>
              <a:t>verschiedenen</a:t>
            </a:r>
            <a:r>
              <a:rPr lang="en-US" dirty="0"/>
              <a:t> </a:t>
            </a:r>
            <a:r>
              <a:rPr lang="en-US" dirty="0" err="1"/>
              <a:t>Platformen</a:t>
            </a:r>
            <a:r>
              <a:rPr lang="en-US" dirty="0"/>
              <a:t> </a:t>
            </a:r>
            <a:r>
              <a:rPr lang="en-US" dirty="0" err="1"/>
              <a:t>entwickeln</a:t>
            </a:r>
            <a:r>
              <a:rPr lang="en-US" dirty="0"/>
              <a:t> </a:t>
            </a:r>
            <a:r>
              <a:rPr lang="en-US" dirty="0" err="1"/>
              <a:t>mussten</a:t>
            </a:r>
            <a:r>
              <a:rPr lang="en-US" dirty="0"/>
              <a:t>.</a:t>
            </a:r>
          </a:p>
          <a:p>
            <a:pPr marL="139700" indent="0">
              <a:buNone/>
            </a:pPr>
            <a:r>
              <a:rPr lang="en-US" dirty="0" err="1"/>
              <a:t>Zusätzlich</a:t>
            </a:r>
            <a:r>
              <a:rPr lang="en-US" dirty="0"/>
              <a:t> muss man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Applikation</a:t>
            </a:r>
            <a:r>
              <a:rPr lang="en-US" dirty="0"/>
              <a:t> </a:t>
            </a:r>
            <a:r>
              <a:rPr lang="en-US" dirty="0" err="1"/>
              <a:t>warten</a:t>
            </a:r>
            <a:r>
              <a:rPr lang="en-US" dirty="0"/>
              <a:t> und </a:t>
            </a:r>
            <a:r>
              <a:rPr lang="en-US" dirty="0" err="1"/>
              <a:t>pflegen</a:t>
            </a:r>
            <a:r>
              <a:rPr lang="en-US" dirty="0"/>
              <a:t>, </a:t>
            </a:r>
            <a:r>
              <a:rPr lang="en-US" dirty="0" err="1"/>
              <a:t>wodurch</a:t>
            </a:r>
            <a:r>
              <a:rPr lang="en-US" dirty="0"/>
              <a:t> </a:t>
            </a:r>
            <a:r>
              <a:rPr lang="en-US" dirty="0" err="1"/>
              <a:t>später</a:t>
            </a:r>
            <a:r>
              <a:rPr lang="en-US" dirty="0"/>
              <a:t> </a:t>
            </a:r>
            <a:r>
              <a:rPr lang="en-US" dirty="0" err="1"/>
              <a:t>viel</a:t>
            </a:r>
            <a:r>
              <a:rPr lang="en-US" dirty="0"/>
              <a:t> Geld </a:t>
            </a:r>
            <a:r>
              <a:rPr lang="en-US" dirty="0" err="1"/>
              <a:t>eingespart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 </a:t>
            </a:r>
            <a:r>
              <a:rPr lang="en-US" dirty="0" err="1"/>
              <a:t>kann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84709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Was </a:t>
            </a:r>
            <a:r>
              <a:rPr lang="en-US" dirty="0" err="1"/>
              <a:t>noch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</a:t>
            </a:r>
            <a:r>
              <a:rPr lang="en-US" dirty="0" err="1"/>
              <a:t>uns</a:t>
            </a:r>
            <a:r>
              <a:rPr lang="en-US" dirty="0"/>
              <a:t> </a:t>
            </a:r>
            <a:r>
              <a:rPr lang="en-US" dirty="0" err="1"/>
              <a:t>liegt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820578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 err="1"/>
              <a:t>Unsere</a:t>
            </a:r>
            <a:r>
              <a:rPr lang="en-US" dirty="0"/>
              <a:t> </a:t>
            </a:r>
            <a:r>
              <a:rPr lang="en-US" dirty="0" err="1"/>
              <a:t>Hauptaufgaben</a:t>
            </a:r>
            <a:r>
              <a:rPr lang="en-US" dirty="0"/>
              <a:t> die </a:t>
            </a:r>
            <a:r>
              <a:rPr lang="en-US" dirty="0" err="1"/>
              <a:t>noch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</a:t>
            </a:r>
            <a:r>
              <a:rPr lang="en-US" dirty="0" err="1"/>
              <a:t>uns</a:t>
            </a:r>
            <a:r>
              <a:rPr lang="en-US" dirty="0"/>
              <a:t> </a:t>
            </a:r>
            <a:r>
              <a:rPr lang="en-US" dirty="0" err="1"/>
              <a:t>liegen</a:t>
            </a:r>
            <a:r>
              <a:rPr lang="en-US" dirty="0"/>
              <a:t>:</a:t>
            </a:r>
          </a:p>
          <a:p>
            <a:pPr marL="368300" indent="-228600">
              <a:buAutoNum type="arabicPeriod"/>
            </a:pPr>
            <a:r>
              <a:rPr lang="en-US" dirty="0" err="1"/>
              <a:t>Restliche</a:t>
            </a:r>
            <a:r>
              <a:rPr lang="en-US" dirty="0"/>
              <a:t> Filter </a:t>
            </a:r>
            <a:r>
              <a:rPr lang="en-US" dirty="0" err="1"/>
              <a:t>definieren</a:t>
            </a:r>
            <a:endParaRPr lang="en-US" dirty="0"/>
          </a:p>
          <a:p>
            <a:pPr marL="368300" indent="-228600">
              <a:buAutoNum type="arabicPeriod"/>
            </a:pPr>
            <a:r>
              <a:rPr lang="en-US" dirty="0" err="1"/>
              <a:t>Mehr</a:t>
            </a:r>
            <a:r>
              <a:rPr lang="en-US" dirty="0"/>
              <a:t> Demo </a:t>
            </a:r>
            <a:r>
              <a:rPr lang="en-US" dirty="0" err="1"/>
              <a:t>Daten</a:t>
            </a:r>
            <a:endParaRPr lang="en-US" dirty="0"/>
          </a:p>
          <a:p>
            <a:pPr marL="368300" indent="-228600">
              <a:buAutoNum type="arabicPeriod"/>
            </a:pPr>
            <a:r>
              <a:rPr lang="en-US" dirty="0"/>
              <a:t>Detail </a:t>
            </a:r>
            <a:r>
              <a:rPr lang="en-US" dirty="0" err="1"/>
              <a:t>ansicht</a:t>
            </a:r>
            <a:r>
              <a:rPr lang="en-US" dirty="0"/>
              <a:t> </a:t>
            </a:r>
            <a:r>
              <a:rPr lang="en-US" dirty="0" err="1"/>
              <a:t>einzelner</a:t>
            </a:r>
            <a:r>
              <a:rPr lang="en-US" dirty="0"/>
              <a:t> Autos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Bewertung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5954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134fb1cf8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134fb1cf8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Hoch </a:t>
            </a:r>
            <a:r>
              <a:rPr lang="en-US" dirty="0" err="1"/>
              <a:t>fragen</a:t>
            </a:r>
            <a:r>
              <a:rPr lang="en-US" dirty="0"/>
              <a:t>? (</a:t>
            </a:r>
            <a:r>
              <a:rPr lang="en-US" dirty="0" err="1"/>
              <a:t>Noch</a:t>
            </a:r>
            <a:r>
              <a:rPr lang="en-US" dirty="0"/>
              <a:t> Zeit?)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" userDrawn="1">
  <p:cSld name="TITLE">
    <p:bg>
      <p:bgPr>
        <a:blipFill dpi="0" rotWithShape="1">
          <a:blip r:embed="rId2">
            <a:alphaModFix amt="9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92400" y="-407850"/>
            <a:ext cx="5959200" cy="5959200"/>
          </a:xfrm>
          <a:prstGeom prst="ellipse">
            <a:avLst/>
          </a:prstGeom>
          <a:solidFill>
            <a:srgbClr val="000000">
              <a:alpha val="26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497195" y="-742443"/>
            <a:ext cx="2451351" cy="2451351"/>
            <a:chOff x="6680825" y="2549350"/>
            <a:chExt cx="1539600" cy="1539600"/>
          </a:xfrm>
        </p:grpSpPr>
        <p:sp>
          <p:nvSpPr>
            <p:cNvPr id="12" name="Google Shape;12;p2"/>
            <p:cNvSpPr/>
            <p:nvPr/>
          </p:nvSpPr>
          <p:spPr>
            <a:xfrm>
              <a:off x="6825669" y="2694194"/>
              <a:ext cx="1249800" cy="1249800"/>
            </a:xfrm>
            <a:prstGeom prst="ellipse">
              <a:avLst/>
            </a:prstGeom>
            <a:solidFill>
              <a:srgbClr val="000000">
                <a:alpha val="18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894850" y="2763375"/>
              <a:ext cx="1111200" cy="11112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680825" y="2549350"/>
              <a:ext cx="1539600" cy="1539600"/>
            </a:xfrm>
            <a:prstGeom prst="donut">
              <a:avLst>
                <a:gd name="adj" fmla="val 495"/>
              </a:avLst>
            </a:prstGeom>
            <a:solidFill>
              <a:srgbClr val="000000">
                <a:alpha val="6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15;p2"/>
          <p:cNvGrpSpPr/>
          <p:nvPr/>
        </p:nvGrpSpPr>
        <p:grpSpPr>
          <a:xfrm>
            <a:off x="6756043" y="879453"/>
            <a:ext cx="2812887" cy="2812887"/>
            <a:chOff x="-474900" y="321200"/>
            <a:chExt cx="2324700" cy="2324700"/>
          </a:xfrm>
        </p:grpSpPr>
        <p:sp>
          <p:nvSpPr>
            <p:cNvPr id="16" name="Google Shape;16;p2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2211600" y="1991850"/>
            <a:ext cx="4720800" cy="1159800"/>
          </a:xfrm>
          <a:prstGeom prst="rect">
            <a:avLst/>
          </a:prstGeom>
          <a:effectLst>
            <a:outerShdw blurRad="85725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4BADED5-8571-7140-B42B-AA7FCF40729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‹#›</a:t>
            </a:fld>
            <a:endParaRPr lang="de-DE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ECABCF9-0A50-4D7F-9CAA-DD89F64E8B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296" y="-40340"/>
            <a:ext cx="1321059" cy="115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ubtitle">
  <p:cSld name="TITLE_1">
    <p:bg>
      <p:bgPr>
        <a:solidFill>
          <a:srgbClr val="C1CD9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3"/>
          <p:cNvGrpSpPr/>
          <p:nvPr/>
        </p:nvGrpSpPr>
        <p:grpSpPr>
          <a:xfrm>
            <a:off x="6427669" y="2502633"/>
            <a:ext cx="2324700" cy="2324700"/>
            <a:chOff x="-474900" y="321200"/>
            <a:chExt cx="2324700" cy="2324700"/>
          </a:xfrm>
        </p:grpSpPr>
        <p:sp>
          <p:nvSpPr>
            <p:cNvPr id="24" name="Google Shape;24;p3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Google Shape;22;p3"/>
          <p:cNvSpPr/>
          <p:nvPr/>
        </p:nvSpPr>
        <p:spPr>
          <a:xfrm>
            <a:off x="1592400" y="-407850"/>
            <a:ext cx="5959200" cy="595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ctrTitle" hasCustomPrompt="1"/>
          </p:nvPr>
        </p:nvSpPr>
        <p:spPr>
          <a:xfrm>
            <a:off x="2314477" y="2236800"/>
            <a:ext cx="4503279" cy="956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9pPr>
          </a:lstStyle>
          <a:p>
            <a:r>
              <a:rPr lang="de-DE" dirty="0"/>
              <a:t>Okay</a:t>
            </a:r>
            <a:endParaRPr dirty="0"/>
          </a:p>
        </p:txBody>
      </p:sp>
      <p:sp>
        <p:nvSpPr>
          <p:cNvPr id="29" name="Google Shape;29;p3"/>
          <p:cNvSpPr txBox="1">
            <a:spLocks noGrp="1"/>
          </p:cNvSpPr>
          <p:nvPr>
            <p:ph type="subTitle" idx="1"/>
          </p:nvPr>
        </p:nvSpPr>
        <p:spPr>
          <a:xfrm>
            <a:off x="2314477" y="3188701"/>
            <a:ext cx="4503279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9pPr>
          </a:lstStyle>
          <a:p>
            <a:endParaRPr dirty="0"/>
          </a:p>
        </p:txBody>
      </p:sp>
      <p:grpSp>
        <p:nvGrpSpPr>
          <p:cNvPr id="30" name="Google Shape;30;p3"/>
          <p:cNvGrpSpPr/>
          <p:nvPr/>
        </p:nvGrpSpPr>
        <p:grpSpPr>
          <a:xfrm>
            <a:off x="764825" y="439375"/>
            <a:ext cx="1924500" cy="1924500"/>
            <a:chOff x="6680825" y="2549350"/>
            <a:chExt cx="1539600" cy="1539600"/>
          </a:xfrm>
        </p:grpSpPr>
        <p:sp>
          <p:nvSpPr>
            <p:cNvPr id="31" name="Google Shape;31;p3"/>
            <p:cNvSpPr/>
            <p:nvPr/>
          </p:nvSpPr>
          <p:spPr>
            <a:xfrm>
              <a:off x="6825669" y="2694194"/>
              <a:ext cx="1249800" cy="1249800"/>
            </a:xfrm>
            <a:prstGeom prst="ellipse">
              <a:avLst/>
            </a:prstGeom>
            <a:solidFill>
              <a:srgbClr val="666666">
                <a:alpha val="526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6894850" y="2763375"/>
              <a:ext cx="1111200" cy="1111200"/>
            </a:xfrm>
            <a:prstGeom prst="ellipse">
              <a:avLst/>
            </a:prstGeom>
            <a:solidFill>
              <a:srgbClr val="666666">
                <a:alpha val="526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6680825" y="2549350"/>
              <a:ext cx="1539600" cy="1539600"/>
            </a:xfrm>
            <a:prstGeom prst="donut">
              <a:avLst>
                <a:gd name="adj" fmla="val 495"/>
              </a:avLst>
            </a:prstGeom>
            <a:solidFill>
              <a:srgbClr val="666666">
                <a:alpha val="526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A8DD9467-8698-4427-8DF1-89714D9943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6644" y="3174681"/>
            <a:ext cx="1117120" cy="980553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CA604364-4049-43BF-984A-48E60019012D}"/>
              </a:ext>
            </a:extLst>
          </p:cNvPr>
          <p:cNvGrpSpPr/>
          <p:nvPr userDrawn="1"/>
        </p:nvGrpSpPr>
        <p:grpSpPr>
          <a:xfrm>
            <a:off x="0" y="4952538"/>
            <a:ext cx="9144000" cy="230832"/>
            <a:chOff x="0" y="4952538"/>
            <a:chExt cx="9144000" cy="230832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F82D902-5CDC-48A2-8AD6-E690B8151991}"/>
                </a:ext>
              </a:extLst>
            </p:cNvPr>
            <p:cNvSpPr/>
            <p:nvPr userDrawn="1"/>
          </p:nvSpPr>
          <p:spPr>
            <a:xfrm>
              <a:off x="0" y="5012713"/>
              <a:ext cx="9144000" cy="137243"/>
            </a:xfrm>
            <a:prstGeom prst="rect">
              <a:avLst/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5D6BC1A-444B-4533-8C40-05730D684831}"/>
                </a:ext>
              </a:extLst>
            </p:cNvPr>
            <p:cNvSpPr txBox="1"/>
            <p:nvPr userDrawn="1"/>
          </p:nvSpPr>
          <p:spPr>
            <a:xfrm>
              <a:off x="158548" y="4952538"/>
              <a:ext cx="882690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900" b="0" i="0" u="none" strike="noStrike" cap="none" baseline="0" dirty="0">
                  <a:solidFill>
                    <a:schemeClr val="bg1"/>
                  </a:solidFill>
                  <a:latin typeface="+mj-lt"/>
                  <a:cs typeface="Arial"/>
                  <a:sym typeface="Arial"/>
                </a:rPr>
                <a:t>Matthias Eberlein, Florian Heinrich, Fahri Kus, Simon </a:t>
              </a:r>
              <a:r>
                <a:rPr lang="de-DE" sz="900" b="0" i="0" u="none" strike="noStrike" cap="none" baseline="0" dirty="0" err="1">
                  <a:solidFill>
                    <a:schemeClr val="bg1"/>
                  </a:solidFill>
                  <a:latin typeface="+mj-lt"/>
                  <a:cs typeface="Arial"/>
                  <a:sym typeface="Arial"/>
                </a:rPr>
                <a:t>Kreuziger</a:t>
              </a:r>
              <a:endParaRPr lang="en-DE" sz="900" b="0" i="0" u="none" strike="noStrike" cap="none" baseline="0" dirty="0">
                <a:solidFill>
                  <a:schemeClr val="bg1"/>
                </a:solidFill>
                <a:latin typeface="+mj-lt"/>
                <a:cs typeface="Arial"/>
                <a:sym typeface="Arial"/>
              </a:endParaRPr>
            </a:p>
          </p:txBody>
        </p:sp>
      </p:grpSp>
      <p:grpSp>
        <p:nvGrpSpPr>
          <p:cNvPr id="38" name="Gruppieren 15">
            <a:extLst>
              <a:ext uri="{FF2B5EF4-FFF2-40B4-BE49-F238E27FC236}">
                <a16:creationId xmlns:a16="http://schemas.microsoft.com/office/drawing/2014/main" id="{B4666526-6F3C-4F68-9808-5D51FF34FC17}"/>
              </a:ext>
            </a:extLst>
          </p:cNvPr>
          <p:cNvGrpSpPr/>
          <p:nvPr userDrawn="1"/>
        </p:nvGrpSpPr>
        <p:grpSpPr>
          <a:xfrm>
            <a:off x="-6626" y="-67987"/>
            <a:ext cx="9161411" cy="239942"/>
            <a:chOff x="-6626" y="4955532"/>
            <a:chExt cx="9161411" cy="239942"/>
          </a:xfrm>
        </p:grpSpPr>
        <p:grpSp>
          <p:nvGrpSpPr>
            <p:cNvPr id="39" name="Gruppieren 13">
              <a:extLst>
                <a:ext uri="{FF2B5EF4-FFF2-40B4-BE49-F238E27FC236}">
                  <a16:creationId xmlns:a16="http://schemas.microsoft.com/office/drawing/2014/main" id="{490496E6-45EA-4ADD-8609-EF43B8842189}"/>
                </a:ext>
              </a:extLst>
            </p:cNvPr>
            <p:cNvGrpSpPr/>
            <p:nvPr userDrawn="1"/>
          </p:nvGrpSpPr>
          <p:grpSpPr>
            <a:xfrm>
              <a:off x="-6626" y="4955532"/>
              <a:ext cx="9154785" cy="239942"/>
              <a:chOff x="-6626" y="4955532"/>
              <a:chExt cx="9154785" cy="239942"/>
            </a:xfrm>
          </p:grpSpPr>
          <p:pic>
            <p:nvPicPr>
              <p:cNvPr id="41" name="Grafik 2">
                <a:extLst>
                  <a:ext uri="{FF2B5EF4-FFF2-40B4-BE49-F238E27FC236}">
                    <a16:creationId xmlns:a16="http://schemas.microsoft.com/office/drawing/2014/main" id="{18EB6387-5BB9-4C1B-98F2-81C3CDB6502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alphaModFix amt="90000"/>
              </a:blip>
              <a:stretch>
                <a:fillRect/>
              </a:stretch>
            </p:blipFill>
            <p:spPr>
              <a:xfrm>
                <a:off x="0" y="5017062"/>
                <a:ext cx="9148159" cy="126438"/>
              </a:xfrm>
              <a:prstGeom prst="rect">
                <a:avLst/>
              </a:prstGeom>
            </p:spPr>
          </p:pic>
          <p:grpSp>
            <p:nvGrpSpPr>
              <p:cNvPr id="42" name="Gruppieren 12">
                <a:extLst>
                  <a:ext uri="{FF2B5EF4-FFF2-40B4-BE49-F238E27FC236}">
                    <a16:creationId xmlns:a16="http://schemas.microsoft.com/office/drawing/2014/main" id="{A3B1CD16-691B-4B3E-B7A6-DF6916054B16}"/>
                  </a:ext>
                </a:extLst>
              </p:cNvPr>
              <p:cNvGrpSpPr/>
              <p:nvPr userDrawn="1"/>
            </p:nvGrpSpPr>
            <p:grpSpPr>
              <a:xfrm>
                <a:off x="-6626" y="4955532"/>
                <a:ext cx="6094347" cy="239942"/>
                <a:chOff x="-6626" y="4955532"/>
                <a:chExt cx="6094347" cy="239942"/>
              </a:xfrm>
            </p:grpSpPr>
            <p:sp>
              <p:nvSpPr>
                <p:cNvPr id="43" name="Textfeld 9">
                  <a:extLst>
                    <a:ext uri="{FF2B5EF4-FFF2-40B4-BE49-F238E27FC236}">
                      <a16:creationId xmlns:a16="http://schemas.microsoft.com/office/drawing/2014/main" id="{355EF4AF-F4F2-4220-AAB8-142C6B344CCF}"/>
                    </a:ext>
                  </a:extLst>
                </p:cNvPr>
                <p:cNvSpPr txBox="1"/>
                <p:nvPr userDrawn="1"/>
              </p:nvSpPr>
              <p:spPr>
                <a:xfrm>
                  <a:off x="-6626" y="4964642"/>
                  <a:ext cx="3062177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baseline="0" dirty="0">
                      <a:solidFill>
                        <a:schemeClr val="bg1"/>
                      </a:solidFill>
                      <a:latin typeface="+mj-lt"/>
                    </a:rPr>
                    <a:t>Technische Hochschule Köln Deutz</a:t>
                  </a:r>
                </a:p>
              </p:txBody>
            </p:sp>
            <p:sp>
              <p:nvSpPr>
                <p:cNvPr id="44" name="Textfeld 11">
                  <a:extLst>
                    <a:ext uri="{FF2B5EF4-FFF2-40B4-BE49-F238E27FC236}">
                      <a16:creationId xmlns:a16="http://schemas.microsoft.com/office/drawing/2014/main" id="{3E40D9CA-8CAC-4BA2-BB35-AF3B3011EB95}"/>
                    </a:ext>
                  </a:extLst>
                </p:cNvPr>
                <p:cNvSpPr txBox="1"/>
                <p:nvPr userDrawn="1"/>
              </p:nvSpPr>
              <p:spPr>
                <a:xfrm>
                  <a:off x="3056279" y="4955532"/>
                  <a:ext cx="3031442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dirty="0">
                      <a:solidFill>
                        <a:schemeClr val="bg1"/>
                      </a:solidFill>
                    </a:rPr>
                    <a:t>www.</a:t>
                  </a:r>
                  <a:r>
                    <a:rPr lang="de-DE" sz="900" baseline="0" dirty="0">
                      <a:solidFill>
                        <a:schemeClr val="bg1"/>
                      </a:solidFill>
                    </a:rPr>
                    <a:t>driving-e-car</a:t>
                  </a:r>
                  <a:r>
                    <a:rPr lang="de-DE" sz="900" dirty="0">
                      <a:solidFill>
                        <a:schemeClr val="bg1"/>
                      </a:solidFill>
                    </a:rPr>
                    <a:t>.de</a:t>
                  </a:r>
                </a:p>
              </p:txBody>
            </p:sp>
          </p:grpSp>
        </p:grpSp>
        <p:sp>
          <p:nvSpPr>
            <p:cNvPr id="40" name="Textfeld 14">
              <a:extLst>
                <a:ext uri="{FF2B5EF4-FFF2-40B4-BE49-F238E27FC236}">
                  <a16:creationId xmlns:a16="http://schemas.microsoft.com/office/drawing/2014/main" id="{76CBA897-18B7-4125-97EC-B4D5D2343355}"/>
                </a:ext>
              </a:extLst>
            </p:cNvPr>
            <p:cNvSpPr txBox="1"/>
            <p:nvPr userDrawn="1"/>
          </p:nvSpPr>
          <p:spPr>
            <a:xfrm>
              <a:off x="6112559" y="4963845"/>
              <a:ext cx="3042226" cy="230832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de-DE" sz="900" baseline="0" dirty="0">
                  <a:solidFill>
                    <a:schemeClr val="bg1"/>
                  </a:solidFill>
                </a:rPr>
                <a:t>WS 18/19</a:t>
              </a: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35;p4"/>
          <p:cNvGrpSpPr/>
          <p:nvPr/>
        </p:nvGrpSpPr>
        <p:grpSpPr>
          <a:xfrm>
            <a:off x="818844" y="502333"/>
            <a:ext cx="2324700" cy="2324700"/>
            <a:chOff x="-474900" y="321200"/>
            <a:chExt cx="2324700" cy="2324700"/>
          </a:xfrm>
        </p:grpSpPr>
        <p:sp>
          <p:nvSpPr>
            <p:cNvPr id="36" name="Google Shape;36;p4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" name="Google Shape;40;p4"/>
          <p:cNvSpPr/>
          <p:nvPr/>
        </p:nvSpPr>
        <p:spPr>
          <a:xfrm>
            <a:off x="1794525" y="-407850"/>
            <a:ext cx="5959200" cy="5959200"/>
          </a:xfrm>
          <a:prstGeom prst="ellipse">
            <a:avLst/>
          </a:prstGeom>
          <a:solidFill>
            <a:srgbClr val="000000">
              <a:alpha val="65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" name="Google Shape;42;p4"/>
          <p:cNvSpPr txBox="1">
            <a:spLocks noGrp="1"/>
          </p:cNvSpPr>
          <p:nvPr>
            <p:ph type="body" idx="1"/>
          </p:nvPr>
        </p:nvSpPr>
        <p:spPr>
          <a:xfrm>
            <a:off x="2385525" y="1310550"/>
            <a:ext cx="4777200" cy="3265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93700" rtl="0">
              <a:spcBef>
                <a:spcPts val="600"/>
              </a:spcBef>
              <a:spcAft>
                <a:spcPts val="0"/>
              </a:spcAft>
              <a:buSzPts val="2600"/>
              <a:buFont typeface="Poppins"/>
              <a:buChar char="￮"/>
              <a:defRPr sz="2600" b="1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￮"/>
              <a:defRPr sz="2600" b="1"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￮"/>
              <a:defRPr sz="2600" b="1"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  <a:defRPr sz="2600" b="1"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○"/>
              <a:defRPr sz="2600" b="1"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■"/>
              <a:defRPr sz="2600" b="1"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  <a:defRPr sz="2600" b="1"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○"/>
              <a:defRPr sz="2600" b="1"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9370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■"/>
              <a:defRPr sz="26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3" name="Google Shape;43;p4"/>
          <p:cNvSpPr txBox="1"/>
          <p:nvPr/>
        </p:nvSpPr>
        <p:spPr>
          <a:xfrm>
            <a:off x="1599200" y="1326625"/>
            <a:ext cx="7641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latin typeface="Poppins"/>
                <a:ea typeface="Poppins"/>
                <a:cs typeface="Poppins"/>
                <a:sym typeface="Poppins"/>
              </a:rPr>
              <a:t>“</a:t>
            </a:r>
            <a:endParaRPr sz="72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/>
          <p:nvPr/>
        </p:nvSpPr>
        <p:spPr>
          <a:xfrm>
            <a:off x="6081700" y="764000"/>
            <a:ext cx="3615600" cy="3615600"/>
          </a:xfrm>
          <a:prstGeom prst="ellipse">
            <a:avLst/>
          </a:prstGeom>
          <a:noFill/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>
            <a:off x="-442731" y="337284"/>
            <a:ext cx="2324700" cy="2324700"/>
            <a:chOff x="-474900" y="321200"/>
            <a:chExt cx="2324700" cy="2324700"/>
          </a:xfrm>
        </p:grpSpPr>
        <p:sp>
          <p:nvSpPr>
            <p:cNvPr id="48" name="Google Shape;48;p5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1"/>
          </p:nvPr>
        </p:nvSpPr>
        <p:spPr>
          <a:xfrm>
            <a:off x="1069625" y="1958050"/>
            <a:ext cx="4608000" cy="2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SzPts val="1600"/>
              <a:buChar char="￮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￮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￮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6272900" y="955200"/>
            <a:ext cx="3233100" cy="3233100"/>
          </a:xfrm>
          <a:prstGeom prst="ellipse">
            <a:avLst/>
          </a:prstGeom>
          <a:solidFill>
            <a:srgbClr val="000000">
              <a:alpha val="65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type A" type="blank">
  <p:cSld name="BLANK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/>
          <p:nvPr/>
        </p:nvSpPr>
        <p:spPr>
          <a:xfrm>
            <a:off x="764000" y="-1236275"/>
            <a:ext cx="7616100" cy="7616100"/>
          </a:xfrm>
          <a:prstGeom prst="ellipse">
            <a:avLst/>
          </a:prstGeom>
          <a:noFill/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1"/>
          <p:cNvSpPr/>
          <p:nvPr/>
        </p:nvSpPr>
        <p:spPr>
          <a:xfrm>
            <a:off x="1198300" y="-801975"/>
            <a:ext cx="6747000" cy="6747000"/>
          </a:xfrm>
          <a:prstGeom prst="ellipse">
            <a:avLst/>
          </a:prstGeom>
          <a:noFill/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1"/>
          <p:cNvSpPr/>
          <p:nvPr/>
        </p:nvSpPr>
        <p:spPr>
          <a:xfrm>
            <a:off x="2267900" y="267625"/>
            <a:ext cx="4608300" cy="4608300"/>
          </a:xfrm>
          <a:prstGeom prst="ellipse">
            <a:avLst/>
          </a:prstGeom>
          <a:noFill/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1"/>
          <p:cNvSpPr/>
          <p:nvPr/>
        </p:nvSpPr>
        <p:spPr>
          <a:xfrm>
            <a:off x="-704850" y="-2705100"/>
            <a:ext cx="10553700" cy="10553700"/>
          </a:xfrm>
          <a:prstGeom prst="donut">
            <a:avLst>
              <a:gd name="adj" fmla="val 10467"/>
            </a:avLst>
          </a:prstGeom>
          <a:solidFill>
            <a:srgbClr val="000000">
              <a:alpha val="65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1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1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0" name="Gruppieren 15">
            <a:extLst>
              <a:ext uri="{FF2B5EF4-FFF2-40B4-BE49-F238E27FC236}">
                <a16:creationId xmlns:a16="http://schemas.microsoft.com/office/drawing/2014/main" id="{5360DD37-273B-F345-891D-DCA00C42662B}"/>
              </a:ext>
            </a:extLst>
          </p:cNvPr>
          <p:cNvGrpSpPr/>
          <p:nvPr userDrawn="1"/>
        </p:nvGrpSpPr>
        <p:grpSpPr>
          <a:xfrm>
            <a:off x="-6626" y="-67987"/>
            <a:ext cx="9161411" cy="239942"/>
            <a:chOff x="-6626" y="4955532"/>
            <a:chExt cx="9161411" cy="239942"/>
          </a:xfrm>
        </p:grpSpPr>
        <p:grpSp>
          <p:nvGrpSpPr>
            <p:cNvPr id="21" name="Gruppieren 13">
              <a:extLst>
                <a:ext uri="{FF2B5EF4-FFF2-40B4-BE49-F238E27FC236}">
                  <a16:creationId xmlns:a16="http://schemas.microsoft.com/office/drawing/2014/main" id="{655142C9-7AEB-5446-913A-D8702D8E5676}"/>
                </a:ext>
              </a:extLst>
            </p:cNvPr>
            <p:cNvGrpSpPr/>
            <p:nvPr userDrawn="1"/>
          </p:nvGrpSpPr>
          <p:grpSpPr>
            <a:xfrm>
              <a:off x="-6626" y="4955532"/>
              <a:ext cx="9154785" cy="239942"/>
              <a:chOff x="-6626" y="4955532"/>
              <a:chExt cx="9154785" cy="239942"/>
            </a:xfrm>
          </p:grpSpPr>
          <p:pic>
            <p:nvPicPr>
              <p:cNvPr id="23" name="Grafik 2">
                <a:extLst>
                  <a:ext uri="{FF2B5EF4-FFF2-40B4-BE49-F238E27FC236}">
                    <a16:creationId xmlns:a16="http://schemas.microsoft.com/office/drawing/2014/main" id="{42FBB244-8DC8-CE47-A7DF-3846D4CEE15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alphaModFix amt="90000"/>
              </a:blip>
              <a:stretch>
                <a:fillRect/>
              </a:stretch>
            </p:blipFill>
            <p:spPr>
              <a:xfrm>
                <a:off x="0" y="5017062"/>
                <a:ext cx="9148159" cy="126438"/>
              </a:xfrm>
              <a:prstGeom prst="rect">
                <a:avLst/>
              </a:prstGeom>
            </p:spPr>
          </p:pic>
          <p:grpSp>
            <p:nvGrpSpPr>
              <p:cNvPr id="24" name="Gruppieren 12">
                <a:extLst>
                  <a:ext uri="{FF2B5EF4-FFF2-40B4-BE49-F238E27FC236}">
                    <a16:creationId xmlns:a16="http://schemas.microsoft.com/office/drawing/2014/main" id="{393F72E8-F7F4-144D-8BD8-2ACB646732F5}"/>
                  </a:ext>
                </a:extLst>
              </p:cNvPr>
              <p:cNvGrpSpPr/>
              <p:nvPr userDrawn="1"/>
            </p:nvGrpSpPr>
            <p:grpSpPr>
              <a:xfrm>
                <a:off x="-6626" y="4955532"/>
                <a:ext cx="6094347" cy="239942"/>
                <a:chOff x="-6626" y="4955532"/>
                <a:chExt cx="6094347" cy="239942"/>
              </a:xfrm>
            </p:grpSpPr>
            <p:sp>
              <p:nvSpPr>
                <p:cNvPr id="25" name="Textfeld 9">
                  <a:extLst>
                    <a:ext uri="{FF2B5EF4-FFF2-40B4-BE49-F238E27FC236}">
                      <a16:creationId xmlns:a16="http://schemas.microsoft.com/office/drawing/2014/main" id="{FA6F23DE-008A-E94C-B4AF-BEF1B0D0C323}"/>
                    </a:ext>
                  </a:extLst>
                </p:cNvPr>
                <p:cNvSpPr txBox="1"/>
                <p:nvPr userDrawn="1"/>
              </p:nvSpPr>
              <p:spPr>
                <a:xfrm>
                  <a:off x="-6626" y="4964642"/>
                  <a:ext cx="3062177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baseline="0" dirty="0">
                      <a:solidFill>
                        <a:schemeClr val="bg1"/>
                      </a:solidFill>
                      <a:latin typeface="+mj-lt"/>
                    </a:rPr>
                    <a:t>Technische Hochschule Köln Deutz</a:t>
                  </a:r>
                </a:p>
              </p:txBody>
            </p:sp>
            <p:sp>
              <p:nvSpPr>
                <p:cNvPr id="26" name="Textfeld 11">
                  <a:extLst>
                    <a:ext uri="{FF2B5EF4-FFF2-40B4-BE49-F238E27FC236}">
                      <a16:creationId xmlns:a16="http://schemas.microsoft.com/office/drawing/2014/main" id="{3B678B3A-01E0-4B4B-B4A4-DE75EE05CE3F}"/>
                    </a:ext>
                  </a:extLst>
                </p:cNvPr>
                <p:cNvSpPr txBox="1"/>
                <p:nvPr userDrawn="1"/>
              </p:nvSpPr>
              <p:spPr>
                <a:xfrm>
                  <a:off x="3056279" y="4955532"/>
                  <a:ext cx="3031442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dirty="0">
                      <a:solidFill>
                        <a:schemeClr val="bg1"/>
                      </a:solidFill>
                    </a:rPr>
                    <a:t>www.</a:t>
                  </a:r>
                  <a:r>
                    <a:rPr lang="de-DE" sz="900" baseline="0" dirty="0">
                      <a:solidFill>
                        <a:schemeClr val="bg1"/>
                      </a:solidFill>
                    </a:rPr>
                    <a:t>driving-e-car</a:t>
                  </a:r>
                  <a:r>
                    <a:rPr lang="de-DE" sz="900" dirty="0">
                      <a:solidFill>
                        <a:schemeClr val="bg1"/>
                      </a:solidFill>
                    </a:rPr>
                    <a:t>.de</a:t>
                  </a:r>
                </a:p>
              </p:txBody>
            </p:sp>
          </p:grpSp>
        </p:grpSp>
        <p:sp>
          <p:nvSpPr>
            <p:cNvPr id="22" name="Textfeld 14">
              <a:extLst>
                <a:ext uri="{FF2B5EF4-FFF2-40B4-BE49-F238E27FC236}">
                  <a16:creationId xmlns:a16="http://schemas.microsoft.com/office/drawing/2014/main" id="{8552E51F-6B4E-E84C-9220-A291E2EE8587}"/>
                </a:ext>
              </a:extLst>
            </p:cNvPr>
            <p:cNvSpPr txBox="1"/>
            <p:nvPr userDrawn="1"/>
          </p:nvSpPr>
          <p:spPr>
            <a:xfrm>
              <a:off x="6112559" y="4963845"/>
              <a:ext cx="3042226" cy="230832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de-DE" sz="900" baseline="0" dirty="0">
                  <a:solidFill>
                    <a:schemeClr val="bg1"/>
                  </a:solidFill>
                </a:rPr>
                <a:t>WS 18/19</a:t>
              </a:r>
            </a:p>
          </p:txBody>
        </p:sp>
      </p:grpSp>
      <p:grpSp>
        <p:nvGrpSpPr>
          <p:cNvPr id="27" name="Group 8">
            <a:extLst>
              <a:ext uri="{FF2B5EF4-FFF2-40B4-BE49-F238E27FC236}">
                <a16:creationId xmlns:a16="http://schemas.microsoft.com/office/drawing/2014/main" id="{065B052B-FE79-3D42-8E56-961B4EF27CF9}"/>
              </a:ext>
            </a:extLst>
          </p:cNvPr>
          <p:cNvGrpSpPr/>
          <p:nvPr userDrawn="1"/>
        </p:nvGrpSpPr>
        <p:grpSpPr>
          <a:xfrm>
            <a:off x="0" y="4952538"/>
            <a:ext cx="9144000" cy="230832"/>
            <a:chOff x="0" y="4952538"/>
            <a:chExt cx="9144000" cy="230832"/>
          </a:xfrm>
        </p:grpSpPr>
        <p:sp>
          <p:nvSpPr>
            <p:cNvPr id="28" name="Rectangle 4">
              <a:extLst>
                <a:ext uri="{FF2B5EF4-FFF2-40B4-BE49-F238E27FC236}">
                  <a16:creationId xmlns:a16="http://schemas.microsoft.com/office/drawing/2014/main" id="{F5F34A51-FF1D-3540-8BAA-C9119947FE96}"/>
                </a:ext>
              </a:extLst>
            </p:cNvPr>
            <p:cNvSpPr/>
            <p:nvPr userDrawn="1"/>
          </p:nvSpPr>
          <p:spPr>
            <a:xfrm>
              <a:off x="0" y="5012713"/>
              <a:ext cx="9144000" cy="137243"/>
            </a:xfrm>
            <a:prstGeom prst="rect">
              <a:avLst/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9" name="TextBox 3">
              <a:extLst>
                <a:ext uri="{FF2B5EF4-FFF2-40B4-BE49-F238E27FC236}">
                  <a16:creationId xmlns:a16="http://schemas.microsoft.com/office/drawing/2014/main" id="{FB2BF6C3-DEE6-294F-9F0B-53AEDD425E19}"/>
                </a:ext>
              </a:extLst>
            </p:cNvPr>
            <p:cNvSpPr txBox="1"/>
            <p:nvPr userDrawn="1"/>
          </p:nvSpPr>
          <p:spPr>
            <a:xfrm>
              <a:off x="158548" y="4952538"/>
              <a:ext cx="882690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900" b="0" i="0" u="none" strike="noStrike" cap="none" baseline="0" dirty="0">
                  <a:solidFill>
                    <a:schemeClr val="bg1"/>
                  </a:solidFill>
                  <a:latin typeface="+mj-lt"/>
                  <a:cs typeface="Arial"/>
                  <a:sym typeface="Arial"/>
                </a:rPr>
                <a:t>Matthias Eberlein, Florian Heinrich, Fahri Kus, Simon </a:t>
              </a:r>
              <a:r>
                <a:rPr lang="de-DE" sz="900" b="0" i="0" u="none" strike="noStrike" cap="none" baseline="0" dirty="0" err="1">
                  <a:solidFill>
                    <a:schemeClr val="bg1"/>
                  </a:solidFill>
                  <a:latin typeface="+mj-lt"/>
                  <a:cs typeface="Arial"/>
                  <a:sym typeface="Arial"/>
                </a:rPr>
                <a:t>Kreuziger</a:t>
              </a:r>
              <a:endParaRPr lang="en-DE" sz="900" b="0" i="0" u="none" strike="noStrike" cap="none" baseline="0" dirty="0">
                <a:solidFill>
                  <a:schemeClr val="bg1"/>
                </a:solidFill>
                <a:latin typeface="+mj-lt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type B">
  <p:cSld name="BLANK_2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24" name="Google Shape;124;p12"/>
          <p:cNvGrpSpPr/>
          <p:nvPr/>
        </p:nvGrpSpPr>
        <p:grpSpPr>
          <a:xfrm>
            <a:off x="818844" y="502333"/>
            <a:ext cx="2324700" cy="2324700"/>
            <a:chOff x="-474900" y="321200"/>
            <a:chExt cx="2324700" cy="2324700"/>
          </a:xfrm>
        </p:grpSpPr>
        <p:sp>
          <p:nvSpPr>
            <p:cNvPr id="125" name="Google Shape;125;p12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2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2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2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" name="Google Shape;129;p12"/>
          <p:cNvSpPr/>
          <p:nvPr/>
        </p:nvSpPr>
        <p:spPr>
          <a:xfrm>
            <a:off x="1794525" y="-407900"/>
            <a:ext cx="5959200" cy="5959200"/>
          </a:xfrm>
          <a:prstGeom prst="ellipse">
            <a:avLst/>
          </a:prstGeom>
          <a:solidFill>
            <a:srgbClr val="000000">
              <a:alpha val="65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AFAAD68-D17D-461E-BF17-19C3D85675AF}"/>
              </a:ext>
            </a:extLst>
          </p:cNvPr>
          <p:cNvGrpSpPr/>
          <p:nvPr userDrawn="1"/>
        </p:nvGrpSpPr>
        <p:grpSpPr>
          <a:xfrm>
            <a:off x="0" y="4952538"/>
            <a:ext cx="9144000" cy="230832"/>
            <a:chOff x="0" y="4952538"/>
            <a:chExt cx="9144000" cy="23083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6AB65C4-4DAA-44E7-990E-FF7B4F560B25}"/>
                </a:ext>
              </a:extLst>
            </p:cNvPr>
            <p:cNvSpPr/>
            <p:nvPr userDrawn="1"/>
          </p:nvSpPr>
          <p:spPr>
            <a:xfrm>
              <a:off x="0" y="5012713"/>
              <a:ext cx="9144000" cy="137243"/>
            </a:xfrm>
            <a:prstGeom prst="rect">
              <a:avLst/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DE5E036-F03A-4A40-80A5-46C9CE7FFF6A}"/>
                </a:ext>
              </a:extLst>
            </p:cNvPr>
            <p:cNvSpPr txBox="1"/>
            <p:nvPr userDrawn="1"/>
          </p:nvSpPr>
          <p:spPr>
            <a:xfrm>
              <a:off x="158548" y="4952538"/>
              <a:ext cx="882690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900" b="0" i="0" u="none" strike="noStrike" cap="none" baseline="0" dirty="0">
                  <a:solidFill>
                    <a:schemeClr val="bg1"/>
                  </a:solidFill>
                  <a:latin typeface="+mj-lt"/>
                  <a:cs typeface="Arial"/>
                  <a:sym typeface="Arial"/>
                </a:rPr>
                <a:t>Matthias Eberlein, Florian Heinrich, Fahri Kus, Simon </a:t>
              </a:r>
              <a:r>
                <a:rPr lang="de-DE" sz="900" b="0" i="0" u="none" strike="noStrike" cap="none" baseline="0" dirty="0" err="1">
                  <a:solidFill>
                    <a:schemeClr val="bg1"/>
                  </a:solidFill>
                  <a:latin typeface="+mj-lt"/>
                  <a:cs typeface="Arial"/>
                  <a:sym typeface="Arial"/>
                </a:rPr>
                <a:t>Kreuziger</a:t>
              </a:r>
              <a:endParaRPr lang="en-DE" sz="900" b="0" i="0" u="none" strike="noStrike" cap="none" baseline="0" dirty="0">
                <a:solidFill>
                  <a:schemeClr val="bg1"/>
                </a:solidFill>
                <a:latin typeface="+mj-lt"/>
                <a:cs typeface="Arial"/>
                <a:sym typeface="Arial"/>
              </a:endParaRPr>
            </a:p>
          </p:txBody>
        </p:sp>
      </p:grpSp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549852" y="4581462"/>
            <a:ext cx="4356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1069625" y="1958050"/>
            <a:ext cx="4608300" cy="26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￮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￮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￮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●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○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■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●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○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■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 dirty="0"/>
          </a:p>
        </p:txBody>
      </p:sp>
      <p:grpSp>
        <p:nvGrpSpPr>
          <p:cNvPr id="18" name="Gruppieren 15">
            <a:extLst>
              <a:ext uri="{FF2B5EF4-FFF2-40B4-BE49-F238E27FC236}">
                <a16:creationId xmlns:a16="http://schemas.microsoft.com/office/drawing/2014/main" id="{0854F103-C5AE-45BE-8C80-24B23EA59E45}"/>
              </a:ext>
            </a:extLst>
          </p:cNvPr>
          <p:cNvGrpSpPr/>
          <p:nvPr userDrawn="1"/>
        </p:nvGrpSpPr>
        <p:grpSpPr>
          <a:xfrm>
            <a:off x="-6626" y="-67987"/>
            <a:ext cx="9161411" cy="239942"/>
            <a:chOff x="-6626" y="4955532"/>
            <a:chExt cx="9161411" cy="239942"/>
          </a:xfrm>
        </p:grpSpPr>
        <p:grpSp>
          <p:nvGrpSpPr>
            <p:cNvPr id="19" name="Gruppieren 13">
              <a:extLst>
                <a:ext uri="{FF2B5EF4-FFF2-40B4-BE49-F238E27FC236}">
                  <a16:creationId xmlns:a16="http://schemas.microsoft.com/office/drawing/2014/main" id="{4895FB6F-35B7-4EEA-A12A-AA3A1BFEFB7E}"/>
                </a:ext>
              </a:extLst>
            </p:cNvPr>
            <p:cNvGrpSpPr/>
            <p:nvPr userDrawn="1"/>
          </p:nvGrpSpPr>
          <p:grpSpPr>
            <a:xfrm>
              <a:off x="-6626" y="4955532"/>
              <a:ext cx="9154785" cy="239942"/>
              <a:chOff x="-6626" y="4955532"/>
              <a:chExt cx="9154785" cy="239942"/>
            </a:xfrm>
          </p:grpSpPr>
          <p:pic>
            <p:nvPicPr>
              <p:cNvPr id="21" name="Grafik 2">
                <a:extLst>
                  <a:ext uri="{FF2B5EF4-FFF2-40B4-BE49-F238E27FC236}">
                    <a16:creationId xmlns:a16="http://schemas.microsoft.com/office/drawing/2014/main" id="{C8379682-FBF8-47D6-B4E5-30A954BE2A8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8">
                <a:alphaModFix amt="90000"/>
              </a:blip>
              <a:stretch>
                <a:fillRect/>
              </a:stretch>
            </p:blipFill>
            <p:spPr>
              <a:xfrm>
                <a:off x="0" y="5017062"/>
                <a:ext cx="9148159" cy="126438"/>
              </a:xfrm>
              <a:prstGeom prst="rect">
                <a:avLst/>
              </a:prstGeom>
            </p:spPr>
          </p:pic>
          <p:grpSp>
            <p:nvGrpSpPr>
              <p:cNvPr id="22" name="Gruppieren 12">
                <a:extLst>
                  <a:ext uri="{FF2B5EF4-FFF2-40B4-BE49-F238E27FC236}">
                    <a16:creationId xmlns:a16="http://schemas.microsoft.com/office/drawing/2014/main" id="{BB0200B5-576B-4EED-A8E7-B59B232CCC7F}"/>
                  </a:ext>
                </a:extLst>
              </p:cNvPr>
              <p:cNvGrpSpPr/>
              <p:nvPr userDrawn="1"/>
            </p:nvGrpSpPr>
            <p:grpSpPr>
              <a:xfrm>
                <a:off x="-6626" y="4955532"/>
                <a:ext cx="6094347" cy="239942"/>
                <a:chOff x="-6626" y="4955532"/>
                <a:chExt cx="6094347" cy="239942"/>
              </a:xfrm>
            </p:grpSpPr>
            <p:sp>
              <p:nvSpPr>
                <p:cNvPr id="23" name="Textfeld 9">
                  <a:extLst>
                    <a:ext uri="{FF2B5EF4-FFF2-40B4-BE49-F238E27FC236}">
                      <a16:creationId xmlns:a16="http://schemas.microsoft.com/office/drawing/2014/main" id="{AE6F1098-02DF-4E76-BA13-D6B5A7895F1B}"/>
                    </a:ext>
                  </a:extLst>
                </p:cNvPr>
                <p:cNvSpPr txBox="1"/>
                <p:nvPr userDrawn="1"/>
              </p:nvSpPr>
              <p:spPr>
                <a:xfrm>
                  <a:off x="-6626" y="4964642"/>
                  <a:ext cx="3062177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baseline="0" dirty="0">
                      <a:solidFill>
                        <a:schemeClr val="bg1"/>
                      </a:solidFill>
                      <a:latin typeface="+mj-lt"/>
                    </a:rPr>
                    <a:t>Technische Hochschule Köln Deutz</a:t>
                  </a:r>
                </a:p>
              </p:txBody>
            </p:sp>
            <p:sp>
              <p:nvSpPr>
                <p:cNvPr id="24" name="Textfeld 11">
                  <a:extLst>
                    <a:ext uri="{FF2B5EF4-FFF2-40B4-BE49-F238E27FC236}">
                      <a16:creationId xmlns:a16="http://schemas.microsoft.com/office/drawing/2014/main" id="{14CE7D0F-485E-40C6-ACD0-9B58C9B99693}"/>
                    </a:ext>
                  </a:extLst>
                </p:cNvPr>
                <p:cNvSpPr txBox="1"/>
                <p:nvPr userDrawn="1"/>
              </p:nvSpPr>
              <p:spPr>
                <a:xfrm>
                  <a:off x="3056279" y="4955532"/>
                  <a:ext cx="3031442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dirty="0">
                      <a:solidFill>
                        <a:schemeClr val="bg1"/>
                      </a:solidFill>
                    </a:rPr>
                    <a:t>www.</a:t>
                  </a:r>
                  <a:r>
                    <a:rPr lang="de-DE" sz="900" baseline="0" dirty="0">
                      <a:solidFill>
                        <a:schemeClr val="bg1"/>
                      </a:solidFill>
                    </a:rPr>
                    <a:t>driving-e-car</a:t>
                  </a:r>
                  <a:r>
                    <a:rPr lang="de-DE" sz="900" dirty="0">
                      <a:solidFill>
                        <a:schemeClr val="bg1"/>
                      </a:solidFill>
                    </a:rPr>
                    <a:t>.de</a:t>
                  </a:r>
                </a:p>
              </p:txBody>
            </p:sp>
          </p:grpSp>
        </p:grpSp>
        <p:sp>
          <p:nvSpPr>
            <p:cNvPr id="20" name="Textfeld 14">
              <a:extLst>
                <a:ext uri="{FF2B5EF4-FFF2-40B4-BE49-F238E27FC236}">
                  <a16:creationId xmlns:a16="http://schemas.microsoft.com/office/drawing/2014/main" id="{E1943A1A-C8DE-4042-A1A4-8CF8E812061E}"/>
                </a:ext>
              </a:extLst>
            </p:cNvPr>
            <p:cNvSpPr txBox="1"/>
            <p:nvPr userDrawn="1"/>
          </p:nvSpPr>
          <p:spPr>
            <a:xfrm>
              <a:off x="6112559" y="4963845"/>
              <a:ext cx="3042226" cy="230832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de-DE" sz="900" baseline="0" dirty="0">
                  <a:solidFill>
                    <a:schemeClr val="bg1"/>
                  </a:solidFill>
                </a:rPr>
                <a:t>WS 18/19</a:t>
              </a: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83C0818F-2DEC-420C-96CC-4EA36414DABC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108" y="128883"/>
            <a:ext cx="836292" cy="734057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7" r:id="rId5"/>
    <p:sldLayoutId id="2147483658" r:id="rId6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openxmlformats.org/officeDocument/2006/relationships/image" Target="../media/image7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11" Type="http://schemas.openxmlformats.org/officeDocument/2006/relationships/image" Target="../media/image20.png"/><Relationship Id="rId5" Type="http://schemas.openxmlformats.org/officeDocument/2006/relationships/image" Target="../media/image18.png"/><Relationship Id="rId10" Type="http://schemas.openxmlformats.org/officeDocument/2006/relationships/image" Target="../media/image11.png"/><Relationship Id="rId4" Type="http://schemas.openxmlformats.org/officeDocument/2006/relationships/image" Target="../media/image17.png"/><Relationship Id="rId9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4" Type="http://schemas.openxmlformats.org/officeDocument/2006/relationships/image" Target="../media/image2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svg"/><Relationship Id="rId11" Type="http://schemas.openxmlformats.org/officeDocument/2006/relationships/image" Target="../media/image34.sv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>
            <a:spLocks noGrp="1"/>
          </p:cNvSpPr>
          <p:nvPr>
            <p:ph type="ctrTitle"/>
          </p:nvPr>
        </p:nvSpPr>
        <p:spPr>
          <a:xfrm>
            <a:off x="2211600" y="1238810"/>
            <a:ext cx="47208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900" dirty="0"/>
              <a:t>d</a:t>
            </a:r>
            <a:r>
              <a:rPr lang="en" sz="4900" dirty="0"/>
              <a:t>riving-e-car</a:t>
            </a:r>
            <a:endParaRPr sz="4900" dirty="0"/>
          </a:p>
        </p:txBody>
      </p:sp>
    </p:spTree>
  </p:cSld>
  <p:clrMapOvr>
    <a:masterClrMapping/>
  </p:clrMapOvr>
  <p:transition advTm="2021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ctrTitle" idx="4294967295"/>
          </p:nvPr>
        </p:nvSpPr>
        <p:spPr>
          <a:xfrm>
            <a:off x="2351788" y="1180487"/>
            <a:ext cx="46080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/>
              <a:t>H</a:t>
            </a:r>
            <a:r>
              <a:rPr lang="en-US" sz="9600"/>
              <a:t>a</a:t>
            </a:r>
            <a:r>
              <a:rPr lang="en" sz="9600"/>
              <a:t>llo</a:t>
            </a:r>
            <a:r>
              <a:rPr lang="en" sz="9600" dirty="0"/>
              <a:t>!</a:t>
            </a:r>
            <a:endParaRPr sz="9600" dirty="0"/>
          </a:p>
        </p:txBody>
      </p:sp>
      <p:sp>
        <p:nvSpPr>
          <p:cNvPr id="168" name="Google Shape;168;p16"/>
          <p:cNvSpPr txBox="1">
            <a:spLocks noGrp="1"/>
          </p:cNvSpPr>
          <p:nvPr>
            <p:ph type="subTitle" idx="4294967295"/>
          </p:nvPr>
        </p:nvSpPr>
        <p:spPr>
          <a:xfrm>
            <a:off x="2351800" y="2265877"/>
            <a:ext cx="4608000" cy="17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0" indent="0">
              <a:spcBef>
                <a:spcPts val="601"/>
              </a:spcBef>
              <a:buNone/>
            </a:pPr>
            <a:r>
              <a:rPr lang="en-US" b="1" spc="-1" dirty="0" err="1">
                <a:solidFill>
                  <a:srgbClr val="000000"/>
                </a:solidFill>
                <a:latin typeface="Poppins"/>
              </a:rPr>
              <a:t>Elektroautos</a:t>
            </a:r>
            <a:r>
              <a:rPr lang="en-US" b="1" spc="-1" dirty="0">
                <a:solidFill>
                  <a:srgbClr val="000000"/>
                </a:solidFill>
                <a:latin typeface="Poppins"/>
              </a:rPr>
              <a:t> </a:t>
            </a:r>
            <a:r>
              <a:rPr lang="en-US" b="1" spc="-1" dirty="0" err="1">
                <a:solidFill>
                  <a:srgbClr val="000000"/>
                </a:solidFill>
                <a:latin typeface="Poppins"/>
              </a:rPr>
              <a:t>sind</a:t>
            </a:r>
            <a:r>
              <a:rPr lang="en-US" b="1" spc="-1" dirty="0">
                <a:solidFill>
                  <a:srgbClr val="000000"/>
                </a:solidFill>
                <a:latin typeface="Poppins"/>
              </a:rPr>
              <a:t> in </a:t>
            </a:r>
            <a:r>
              <a:rPr lang="en-US" b="1" spc="-1" dirty="0" err="1">
                <a:solidFill>
                  <a:srgbClr val="000000"/>
                </a:solidFill>
                <a:latin typeface="Poppins"/>
              </a:rPr>
              <a:t>aller</a:t>
            </a:r>
            <a:r>
              <a:rPr lang="en-US" b="1" spc="-1" dirty="0">
                <a:solidFill>
                  <a:srgbClr val="000000"/>
                </a:solidFill>
                <a:latin typeface="Poppins"/>
              </a:rPr>
              <a:t> </a:t>
            </a:r>
            <a:r>
              <a:rPr lang="en-US" b="1" spc="-1" dirty="0" err="1">
                <a:solidFill>
                  <a:srgbClr val="000000"/>
                </a:solidFill>
                <a:latin typeface="Poppins"/>
              </a:rPr>
              <a:t>Munde</a:t>
            </a:r>
            <a:endParaRPr lang="en-US" spc="-1" dirty="0">
              <a:latin typeface="Arial"/>
            </a:endParaRPr>
          </a:p>
          <a:p>
            <a:pPr marL="127000" indent="0">
              <a:spcBef>
                <a:spcPts val="601"/>
              </a:spcBef>
              <a:buNone/>
            </a:pPr>
            <a:r>
              <a:rPr lang="en-US" spc="-1" dirty="0" err="1">
                <a:solidFill>
                  <a:srgbClr val="000000"/>
                </a:solidFill>
              </a:rPr>
              <a:t>Lohnt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sich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für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mich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ein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Elektroauto</a:t>
            </a:r>
            <a:r>
              <a:rPr lang="en-US" spc="-1" dirty="0">
                <a:solidFill>
                  <a:srgbClr val="000000"/>
                </a:solidFill>
              </a:rPr>
              <a:t>? Welches </a:t>
            </a:r>
            <a:r>
              <a:rPr lang="en-US" spc="-1" dirty="0" err="1">
                <a:solidFill>
                  <a:srgbClr val="000000"/>
                </a:solidFill>
              </a:rPr>
              <a:t>ist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für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mich</a:t>
            </a:r>
            <a:r>
              <a:rPr lang="en-US" spc="-1" dirty="0">
                <a:solidFill>
                  <a:srgbClr val="000000"/>
                </a:solidFill>
              </a:rPr>
              <a:t> das </a:t>
            </a:r>
            <a:r>
              <a:rPr lang="en-US" spc="-1" dirty="0" err="1">
                <a:solidFill>
                  <a:srgbClr val="000000"/>
                </a:solidFill>
              </a:rPr>
              <a:t>Richtige</a:t>
            </a:r>
            <a:r>
              <a:rPr lang="en-US" spc="-1" dirty="0">
                <a:solidFill>
                  <a:srgbClr val="000000"/>
                </a:solidFill>
              </a:rPr>
              <a:t>?</a:t>
            </a:r>
            <a:endParaRPr lang="en-US" spc="-1" dirty="0">
              <a:latin typeface="Arial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1804239" y="1506373"/>
            <a:ext cx="339835" cy="309115"/>
          </a:xfrm>
          <a:custGeom>
            <a:avLst/>
            <a:gdLst/>
            <a:ahLst/>
            <a:cxnLst/>
            <a:rect l="l" t="t" r="r" b="b"/>
            <a:pathLst>
              <a:path w="16173" h="14711" fill="none" extrusionOk="0">
                <a:moveTo>
                  <a:pt x="8087" y="1"/>
                </a:moveTo>
                <a:lnTo>
                  <a:pt x="8087" y="1"/>
                </a:lnTo>
                <a:lnTo>
                  <a:pt x="7672" y="1"/>
                </a:lnTo>
                <a:lnTo>
                  <a:pt x="7258" y="25"/>
                </a:lnTo>
                <a:lnTo>
                  <a:pt x="6844" y="74"/>
                </a:lnTo>
                <a:lnTo>
                  <a:pt x="6455" y="122"/>
                </a:lnTo>
                <a:lnTo>
                  <a:pt x="6065" y="195"/>
                </a:lnTo>
                <a:lnTo>
                  <a:pt x="5675" y="293"/>
                </a:lnTo>
                <a:lnTo>
                  <a:pt x="5310" y="415"/>
                </a:lnTo>
                <a:lnTo>
                  <a:pt x="4945" y="536"/>
                </a:lnTo>
                <a:lnTo>
                  <a:pt x="4579" y="658"/>
                </a:lnTo>
                <a:lnTo>
                  <a:pt x="4238" y="829"/>
                </a:lnTo>
                <a:lnTo>
                  <a:pt x="3897" y="975"/>
                </a:lnTo>
                <a:lnTo>
                  <a:pt x="3557" y="1170"/>
                </a:lnTo>
                <a:lnTo>
                  <a:pt x="3240" y="1364"/>
                </a:lnTo>
                <a:lnTo>
                  <a:pt x="2948" y="1559"/>
                </a:lnTo>
                <a:lnTo>
                  <a:pt x="2655" y="1778"/>
                </a:lnTo>
                <a:lnTo>
                  <a:pt x="2363" y="1998"/>
                </a:lnTo>
                <a:lnTo>
                  <a:pt x="2095" y="2241"/>
                </a:lnTo>
                <a:lnTo>
                  <a:pt x="1852" y="2485"/>
                </a:lnTo>
                <a:lnTo>
                  <a:pt x="1608" y="2753"/>
                </a:lnTo>
                <a:lnTo>
                  <a:pt x="1389" y="3021"/>
                </a:lnTo>
                <a:lnTo>
                  <a:pt x="1170" y="3288"/>
                </a:lnTo>
                <a:lnTo>
                  <a:pt x="975" y="3581"/>
                </a:lnTo>
                <a:lnTo>
                  <a:pt x="804" y="3873"/>
                </a:lnTo>
                <a:lnTo>
                  <a:pt x="634" y="4190"/>
                </a:lnTo>
                <a:lnTo>
                  <a:pt x="488" y="4506"/>
                </a:lnTo>
                <a:lnTo>
                  <a:pt x="366" y="4823"/>
                </a:lnTo>
                <a:lnTo>
                  <a:pt x="244" y="5139"/>
                </a:lnTo>
                <a:lnTo>
                  <a:pt x="171" y="5480"/>
                </a:lnTo>
                <a:lnTo>
                  <a:pt x="98" y="5821"/>
                </a:lnTo>
                <a:lnTo>
                  <a:pt x="49" y="6162"/>
                </a:lnTo>
                <a:lnTo>
                  <a:pt x="1" y="6503"/>
                </a:lnTo>
                <a:lnTo>
                  <a:pt x="1" y="6869"/>
                </a:lnTo>
                <a:lnTo>
                  <a:pt x="1" y="6869"/>
                </a:lnTo>
                <a:lnTo>
                  <a:pt x="1" y="7234"/>
                </a:lnTo>
                <a:lnTo>
                  <a:pt x="49" y="7624"/>
                </a:lnTo>
                <a:lnTo>
                  <a:pt x="98" y="7989"/>
                </a:lnTo>
                <a:lnTo>
                  <a:pt x="196" y="8330"/>
                </a:lnTo>
                <a:lnTo>
                  <a:pt x="293" y="8695"/>
                </a:lnTo>
                <a:lnTo>
                  <a:pt x="415" y="9036"/>
                </a:lnTo>
                <a:lnTo>
                  <a:pt x="561" y="9377"/>
                </a:lnTo>
                <a:lnTo>
                  <a:pt x="731" y="9718"/>
                </a:lnTo>
                <a:lnTo>
                  <a:pt x="902" y="10035"/>
                </a:lnTo>
                <a:lnTo>
                  <a:pt x="1097" y="10327"/>
                </a:lnTo>
                <a:lnTo>
                  <a:pt x="1340" y="10644"/>
                </a:lnTo>
                <a:lnTo>
                  <a:pt x="1559" y="10936"/>
                </a:lnTo>
                <a:lnTo>
                  <a:pt x="1827" y="11204"/>
                </a:lnTo>
                <a:lnTo>
                  <a:pt x="2095" y="11472"/>
                </a:lnTo>
                <a:lnTo>
                  <a:pt x="2387" y="11740"/>
                </a:lnTo>
                <a:lnTo>
                  <a:pt x="2680" y="11983"/>
                </a:lnTo>
                <a:lnTo>
                  <a:pt x="2680" y="11983"/>
                </a:lnTo>
                <a:lnTo>
                  <a:pt x="2485" y="12349"/>
                </a:lnTo>
                <a:lnTo>
                  <a:pt x="2266" y="12714"/>
                </a:lnTo>
                <a:lnTo>
                  <a:pt x="2022" y="13104"/>
                </a:lnTo>
                <a:lnTo>
                  <a:pt x="1706" y="13469"/>
                </a:lnTo>
                <a:lnTo>
                  <a:pt x="1365" y="13834"/>
                </a:lnTo>
                <a:lnTo>
                  <a:pt x="1170" y="14005"/>
                </a:lnTo>
                <a:lnTo>
                  <a:pt x="951" y="14151"/>
                </a:lnTo>
                <a:lnTo>
                  <a:pt x="731" y="14297"/>
                </a:lnTo>
                <a:lnTo>
                  <a:pt x="512" y="14443"/>
                </a:lnTo>
                <a:lnTo>
                  <a:pt x="269" y="14540"/>
                </a:lnTo>
                <a:lnTo>
                  <a:pt x="1" y="14662"/>
                </a:lnTo>
                <a:lnTo>
                  <a:pt x="1" y="14662"/>
                </a:lnTo>
                <a:lnTo>
                  <a:pt x="122" y="14662"/>
                </a:lnTo>
                <a:lnTo>
                  <a:pt x="488" y="14711"/>
                </a:lnTo>
                <a:lnTo>
                  <a:pt x="1024" y="14711"/>
                </a:lnTo>
                <a:lnTo>
                  <a:pt x="1365" y="14711"/>
                </a:lnTo>
                <a:lnTo>
                  <a:pt x="1706" y="14687"/>
                </a:lnTo>
                <a:lnTo>
                  <a:pt x="2095" y="14614"/>
                </a:lnTo>
                <a:lnTo>
                  <a:pt x="2485" y="14540"/>
                </a:lnTo>
                <a:lnTo>
                  <a:pt x="2899" y="14419"/>
                </a:lnTo>
                <a:lnTo>
                  <a:pt x="3313" y="14273"/>
                </a:lnTo>
                <a:lnTo>
                  <a:pt x="3751" y="14078"/>
                </a:lnTo>
                <a:lnTo>
                  <a:pt x="4165" y="13834"/>
                </a:lnTo>
                <a:lnTo>
                  <a:pt x="4579" y="13566"/>
                </a:lnTo>
                <a:lnTo>
                  <a:pt x="4969" y="13201"/>
                </a:lnTo>
                <a:lnTo>
                  <a:pt x="4969" y="13201"/>
                </a:lnTo>
                <a:lnTo>
                  <a:pt x="5334" y="13323"/>
                </a:lnTo>
                <a:lnTo>
                  <a:pt x="5700" y="13444"/>
                </a:lnTo>
                <a:lnTo>
                  <a:pt x="6089" y="13518"/>
                </a:lnTo>
                <a:lnTo>
                  <a:pt x="6479" y="13591"/>
                </a:lnTo>
                <a:lnTo>
                  <a:pt x="6869" y="13664"/>
                </a:lnTo>
                <a:lnTo>
                  <a:pt x="7258" y="13712"/>
                </a:lnTo>
                <a:lnTo>
                  <a:pt x="7672" y="13737"/>
                </a:lnTo>
                <a:lnTo>
                  <a:pt x="8087" y="13737"/>
                </a:lnTo>
                <a:lnTo>
                  <a:pt x="8087" y="13737"/>
                </a:lnTo>
                <a:lnTo>
                  <a:pt x="8501" y="13737"/>
                </a:lnTo>
                <a:lnTo>
                  <a:pt x="8915" y="13712"/>
                </a:lnTo>
                <a:lnTo>
                  <a:pt x="9329" y="13664"/>
                </a:lnTo>
                <a:lnTo>
                  <a:pt x="9718" y="13591"/>
                </a:lnTo>
                <a:lnTo>
                  <a:pt x="10108" y="13518"/>
                </a:lnTo>
                <a:lnTo>
                  <a:pt x="10498" y="13420"/>
                </a:lnTo>
                <a:lnTo>
                  <a:pt x="10863" y="13323"/>
                </a:lnTo>
                <a:lnTo>
                  <a:pt x="11228" y="13201"/>
                </a:lnTo>
                <a:lnTo>
                  <a:pt x="11594" y="13055"/>
                </a:lnTo>
                <a:lnTo>
                  <a:pt x="11935" y="12909"/>
                </a:lnTo>
                <a:lnTo>
                  <a:pt x="12276" y="12738"/>
                </a:lnTo>
                <a:lnTo>
                  <a:pt x="12617" y="12568"/>
                </a:lnTo>
                <a:lnTo>
                  <a:pt x="12933" y="12373"/>
                </a:lnTo>
                <a:lnTo>
                  <a:pt x="13225" y="12178"/>
                </a:lnTo>
                <a:lnTo>
                  <a:pt x="13518" y="11959"/>
                </a:lnTo>
                <a:lnTo>
                  <a:pt x="13810" y="11715"/>
                </a:lnTo>
                <a:lnTo>
                  <a:pt x="14078" y="11496"/>
                </a:lnTo>
                <a:lnTo>
                  <a:pt x="14321" y="11228"/>
                </a:lnTo>
                <a:lnTo>
                  <a:pt x="14565" y="10985"/>
                </a:lnTo>
                <a:lnTo>
                  <a:pt x="14784" y="10717"/>
                </a:lnTo>
                <a:lnTo>
                  <a:pt x="15003" y="10424"/>
                </a:lnTo>
                <a:lnTo>
                  <a:pt x="15198" y="10132"/>
                </a:lnTo>
                <a:lnTo>
                  <a:pt x="15369" y="9840"/>
                </a:lnTo>
                <a:lnTo>
                  <a:pt x="15539" y="9548"/>
                </a:lnTo>
                <a:lnTo>
                  <a:pt x="15685" y="9231"/>
                </a:lnTo>
                <a:lnTo>
                  <a:pt x="15807" y="8914"/>
                </a:lnTo>
                <a:lnTo>
                  <a:pt x="15929" y="8574"/>
                </a:lnTo>
                <a:lnTo>
                  <a:pt x="16002" y="8257"/>
                </a:lnTo>
                <a:lnTo>
                  <a:pt x="16075" y="7916"/>
                </a:lnTo>
                <a:lnTo>
                  <a:pt x="16124" y="7575"/>
                </a:lnTo>
                <a:lnTo>
                  <a:pt x="16172" y="7210"/>
                </a:lnTo>
                <a:lnTo>
                  <a:pt x="16172" y="6869"/>
                </a:lnTo>
                <a:lnTo>
                  <a:pt x="16172" y="6869"/>
                </a:lnTo>
                <a:lnTo>
                  <a:pt x="16172" y="6503"/>
                </a:lnTo>
                <a:lnTo>
                  <a:pt x="16124" y="6162"/>
                </a:lnTo>
                <a:lnTo>
                  <a:pt x="16075" y="5821"/>
                </a:lnTo>
                <a:lnTo>
                  <a:pt x="16002" y="5480"/>
                </a:lnTo>
                <a:lnTo>
                  <a:pt x="15929" y="5139"/>
                </a:lnTo>
                <a:lnTo>
                  <a:pt x="15807" y="4823"/>
                </a:lnTo>
                <a:lnTo>
                  <a:pt x="15685" y="4506"/>
                </a:lnTo>
                <a:lnTo>
                  <a:pt x="15539" y="4190"/>
                </a:lnTo>
                <a:lnTo>
                  <a:pt x="15369" y="3873"/>
                </a:lnTo>
                <a:lnTo>
                  <a:pt x="15198" y="3581"/>
                </a:lnTo>
                <a:lnTo>
                  <a:pt x="15003" y="3288"/>
                </a:lnTo>
                <a:lnTo>
                  <a:pt x="14784" y="3021"/>
                </a:lnTo>
                <a:lnTo>
                  <a:pt x="14565" y="2753"/>
                </a:lnTo>
                <a:lnTo>
                  <a:pt x="14321" y="2485"/>
                </a:lnTo>
                <a:lnTo>
                  <a:pt x="14078" y="2241"/>
                </a:lnTo>
                <a:lnTo>
                  <a:pt x="13810" y="1998"/>
                </a:lnTo>
                <a:lnTo>
                  <a:pt x="13518" y="1778"/>
                </a:lnTo>
                <a:lnTo>
                  <a:pt x="13225" y="1559"/>
                </a:lnTo>
                <a:lnTo>
                  <a:pt x="12933" y="1364"/>
                </a:lnTo>
                <a:lnTo>
                  <a:pt x="12617" y="1170"/>
                </a:lnTo>
                <a:lnTo>
                  <a:pt x="12276" y="975"/>
                </a:lnTo>
                <a:lnTo>
                  <a:pt x="11935" y="829"/>
                </a:lnTo>
                <a:lnTo>
                  <a:pt x="11594" y="658"/>
                </a:lnTo>
                <a:lnTo>
                  <a:pt x="11228" y="536"/>
                </a:lnTo>
                <a:lnTo>
                  <a:pt x="10863" y="415"/>
                </a:lnTo>
                <a:lnTo>
                  <a:pt x="10498" y="293"/>
                </a:lnTo>
                <a:lnTo>
                  <a:pt x="10108" y="195"/>
                </a:lnTo>
                <a:lnTo>
                  <a:pt x="9718" y="122"/>
                </a:lnTo>
                <a:lnTo>
                  <a:pt x="9329" y="74"/>
                </a:lnTo>
                <a:lnTo>
                  <a:pt x="8915" y="25"/>
                </a:lnTo>
                <a:lnTo>
                  <a:pt x="8501" y="1"/>
                </a:lnTo>
                <a:lnTo>
                  <a:pt x="8087" y="1"/>
                </a:lnTo>
                <a:lnTo>
                  <a:pt x="8087" y="1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EC19F48-DE41-6A48-89CE-F673BFB900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2</a:t>
            </a:fld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0648D35-D647-7147-95C1-19ED57690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2150" y="1054450"/>
            <a:ext cx="3034500" cy="30345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89" name="Google Shape;189;p19"/>
          <p:cNvGrpSpPr/>
          <p:nvPr/>
        </p:nvGrpSpPr>
        <p:grpSpPr>
          <a:xfrm>
            <a:off x="5853100" y="3068600"/>
            <a:ext cx="1539600" cy="1539600"/>
            <a:chOff x="6680825" y="2549350"/>
            <a:chExt cx="1539600" cy="1539600"/>
          </a:xfrm>
        </p:grpSpPr>
        <p:sp>
          <p:nvSpPr>
            <p:cNvPr id="190" name="Google Shape;190;p19"/>
            <p:cNvSpPr/>
            <p:nvPr/>
          </p:nvSpPr>
          <p:spPr>
            <a:xfrm>
              <a:off x="6825669" y="2694194"/>
              <a:ext cx="1249800" cy="1249800"/>
            </a:xfrm>
            <a:prstGeom prst="ellipse">
              <a:avLst/>
            </a:prstGeom>
            <a:solidFill>
              <a:srgbClr val="000000">
                <a:alpha val="18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9"/>
            <p:cNvSpPr/>
            <p:nvPr/>
          </p:nvSpPr>
          <p:spPr>
            <a:xfrm>
              <a:off x="6894850" y="2763375"/>
              <a:ext cx="1111200" cy="11112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9"/>
            <p:cNvSpPr/>
            <p:nvPr/>
          </p:nvSpPr>
          <p:spPr>
            <a:xfrm>
              <a:off x="6680825" y="2549350"/>
              <a:ext cx="1539600" cy="1539600"/>
            </a:xfrm>
            <a:prstGeom prst="donut">
              <a:avLst>
                <a:gd name="adj" fmla="val 675"/>
              </a:avLst>
            </a:prstGeom>
            <a:solidFill>
              <a:srgbClr val="000000">
                <a:alpha val="6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3" name="Google Shape;193;p19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pc="-1" dirty="0">
                <a:solidFill>
                  <a:srgbClr val="000000"/>
                </a:solidFill>
              </a:rPr>
              <a:t>Agenda</a:t>
            </a:r>
            <a:endParaRPr lang="en-US" b="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Google Shape;194;p19"/>
          <p:cNvSpPr txBox="1">
            <a:spLocks noGrp="1"/>
          </p:cNvSpPr>
          <p:nvPr>
            <p:ph type="body" idx="1"/>
          </p:nvPr>
        </p:nvSpPr>
        <p:spPr>
          <a:xfrm>
            <a:off x="1069625" y="1958050"/>
            <a:ext cx="4608000" cy="2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329760">
              <a:spcBef>
                <a:spcPts val="601"/>
              </a:spcBef>
            </a:pPr>
            <a:r>
              <a:rPr lang="en-US" spc="-1" dirty="0">
                <a:solidFill>
                  <a:srgbClr val="000000"/>
                </a:solidFill>
              </a:rPr>
              <a:t>Unser </a:t>
            </a:r>
            <a:r>
              <a:rPr lang="en-US" spc="-1" dirty="0" err="1">
                <a:solidFill>
                  <a:srgbClr val="000000"/>
                </a:solidFill>
              </a:rPr>
              <a:t>Auftrag</a:t>
            </a:r>
            <a:endParaRPr lang="en-US" spc="-1" dirty="0">
              <a:solidFill>
                <a:srgbClr val="000000"/>
              </a:solidFill>
              <a:latin typeface="Arial"/>
            </a:endParaRPr>
          </a:p>
          <a:p>
            <a:pPr indent="-329760"/>
            <a:r>
              <a:rPr lang="en-US" spc="-1" dirty="0" err="1">
                <a:solidFill>
                  <a:srgbClr val="000000"/>
                </a:solidFill>
              </a:rPr>
              <a:t>Prototypvorstellung</a:t>
            </a:r>
            <a:endParaRPr lang="en-US" spc="-1" dirty="0">
              <a:solidFill>
                <a:srgbClr val="000000"/>
              </a:solidFill>
            </a:endParaRPr>
          </a:p>
          <a:p>
            <a:pPr indent="-329760"/>
            <a:r>
              <a:rPr lang="en-US" spc="-1" dirty="0" err="1">
                <a:solidFill>
                  <a:srgbClr val="000000"/>
                </a:solidFill>
              </a:rPr>
              <a:t>Entscheidungen</a:t>
            </a:r>
            <a:endParaRPr lang="en-US" spc="-1" dirty="0">
              <a:solidFill>
                <a:srgbClr val="000000"/>
              </a:solidFill>
              <a:latin typeface="Arial"/>
            </a:endParaRPr>
          </a:p>
          <a:p>
            <a:pPr indent="-329760"/>
            <a:r>
              <a:rPr lang="en-US" spc="-1" dirty="0" err="1">
                <a:solidFill>
                  <a:srgbClr val="000000"/>
                </a:solidFill>
              </a:rPr>
              <a:t>Aussichten</a:t>
            </a:r>
            <a:endParaRPr lang="en-US" spc="-1" dirty="0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6" name="Google Shape;196;p19"/>
          <p:cNvGrpSpPr/>
          <p:nvPr/>
        </p:nvGrpSpPr>
        <p:grpSpPr>
          <a:xfrm>
            <a:off x="6438110" y="3653462"/>
            <a:ext cx="369505" cy="369505"/>
            <a:chOff x="2594050" y="1631825"/>
            <a:chExt cx="439625" cy="439625"/>
          </a:xfrm>
        </p:grpSpPr>
        <p:sp>
          <p:nvSpPr>
            <p:cNvPr id="197" name="Google Shape;197;p19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9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9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9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F2144418-DD0F-E141-92B7-00BD842858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3</a:t>
            </a:fld>
            <a:endParaRPr lang="de-DE"/>
          </a:p>
        </p:txBody>
      </p:sp>
    </p:spTree>
  </p:cSld>
  <p:clrMapOvr>
    <a:masterClrMapping/>
  </p:clrMapOvr>
  <p:transition advTm="0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US" dirty="0"/>
              <a:t>Unser </a:t>
            </a:r>
            <a:r>
              <a:rPr lang="en-US" dirty="0" err="1"/>
              <a:t>Auftrag</a:t>
            </a:r>
            <a:endParaRPr lang="en-US" dirty="0"/>
          </a:p>
        </p:txBody>
      </p:sp>
      <p:sp>
        <p:nvSpPr>
          <p:cNvPr id="176" name="Google Shape;176;p17"/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Analyse</a:t>
            </a:r>
            <a:r>
              <a:rPr lang="en-US" dirty="0"/>
              <a:t> der </a:t>
            </a:r>
            <a:r>
              <a:rPr lang="en-US" dirty="0" err="1"/>
              <a:t>Ausgangslage</a:t>
            </a:r>
            <a:r>
              <a:rPr lang="en-US" dirty="0"/>
              <a:t> und </a:t>
            </a:r>
            <a:r>
              <a:rPr lang="en-US" dirty="0" err="1"/>
              <a:t>Zieldefinition</a:t>
            </a:r>
            <a:endParaRPr lang="en-US" dirty="0"/>
          </a:p>
        </p:txBody>
      </p:sp>
      <p:sp>
        <p:nvSpPr>
          <p:cNvPr id="177" name="Google Shape;177;p17"/>
          <p:cNvSpPr txBox="1"/>
          <p:nvPr/>
        </p:nvSpPr>
        <p:spPr>
          <a:xfrm>
            <a:off x="1030925" y="710500"/>
            <a:ext cx="13926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6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advTm="239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loud 15">
            <a:extLst>
              <a:ext uri="{FF2B5EF4-FFF2-40B4-BE49-F238E27FC236}">
                <a16:creationId xmlns:a16="http://schemas.microsoft.com/office/drawing/2014/main" id="{FE329A19-5DA2-4C3A-A497-2FAB37BB9D50}"/>
              </a:ext>
            </a:extLst>
          </p:cNvPr>
          <p:cNvSpPr/>
          <p:nvPr/>
        </p:nvSpPr>
        <p:spPr>
          <a:xfrm>
            <a:off x="2155237" y="1612356"/>
            <a:ext cx="5250240" cy="2745512"/>
          </a:xfrm>
          <a:prstGeom prst="cloud">
            <a:avLst/>
          </a:prstGeom>
          <a:ln>
            <a:solidFill>
              <a:srgbClr val="81818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960747-D4B7-4076-812F-1B2CDA895271}"/>
              </a:ext>
            </a:extLst>
          </p:cNvPr>
          <p:cNvSpPr/>
          <p:nvPr/>
        </p:nvSpPr>
        <p:spPr>
          <a:xfrm>
            <a:off x="10282057" y="3312265"/>
            <a:ext cx="400243" cy="87079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E0DC24-B072-4A64-9325-BD32EAB5B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</p:spPr>
        <p:txBody>
          <a:bodyPr/>
          <a:lstStyle/>
          <a:p>
            <a:r>
              <a:rPr lang="de-DE" dirty="0"/>
              <a:t>Geeignet?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63EFF-DB0B-4BD3-9CC1-CEC07ECFEF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5A2103A-94E8-46BB-8FF6-E49C0518B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6753" y="3864902"/>
            <a:ext cx="290849" cy="29084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6E3D096-88F0-403D-AB7A-CFF4325392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6753" y="3478537"/>
            <a:ext cx="290849" cy="296070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11486821-1AA3-4DB8-91ED-3B2863FBC2F7}"/>
              </a:ext>
            </a:extLst>
          </p:cNvPr>
          <p:cNvSpPr/>
          <p:nvPr/>
        </p:nvSpPr>
        <p:spPr>
          <a:xfrm>
            <a:off x="1189806" y="2949852"/>
            <a:ext cx="322475" cy="219776"/>
          </a:xfrm>
          <a:prstGeom prst="ellipse">
            <a:avLst/>
          </a:prstGeom>
          <a:ln>
            <a:solidFill>
              <a:srgbClr val="81818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EB691D4-5E6C-4E61-8602-B4F66439CD50}"/>
              </a:ext>
            </a:extLst>
          </p:cNvPr>
          <p:cNvSpPr/>
          <p:nvPr/>
        </p:nvSpPr>
        <p:spPr>
          <a:xfrm>
            <a:off x="1597255" y="2762142"/>
            <a:ext cx="499213" cy="375420"/>
          </a:xfrm>
          <a:prstGeom prst="ellipse">
            <a:avLst/>
          </a:prstGeom>
          <a:ln>
            <a:solidFill>
              <a:srgbClr val="81818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E2A5BDE-3588-49D3-AA80-A29F7B642D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1026" y="4794250"/>
            <a:ext cx="1201197" cy="120119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FD0AEA60-0256-DE49-975B-BD39D9E833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288" y="2736318"/>
            <a:ext cx="1329512" cy="2482114"/>
          </a:xfrm>
          <a:prstGeom prst="rect">
            <a:avLst/>
          </a:prstGeom>
        </p:spPr>
      </p:pic>
      <p:pic>
        <p:nvPicPr>
          <p:cNvPr id="19" name="Grafik 18" descr="Ein Bild, das Objekt enthält.&#10;&#10;&#10;&#10;Automatisch generierte Beschreibung">
            <a:extLst>
              <a:ext uri="{FF2B5EF4-FFF2-40B4-BE49-F238E27FC236}">
                <a16:creationId xmlns:a16="http://schemas.microsoft.com/office/drawing/2014/main" id="{E59662BE-AF42-BF44-AEA6-1ACBB77533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8499" y="2057821"/>
            <a:ext cx="564207" cy="1689842"/>
          </a:xfrm>
          <a:prstGeom prst="rect">
            <a:avLst/>
          </a:prstGeom>
        </p:spPr>
      </p:pic>
      <p:sp>
        <p:nvSpPr>
          <p:cNvPr id="20" name="Plus 19">
            <a:extLst>
              <a:ext uri="{FF2B5EF4-FFF2-40B4-BE49-F238E27FC236}">
                <a16:creationId xmlns:a16="http://schemas.microsoft.com/office/drawing/2014/main" id="{D9F06EE4-A9E2-C44F-8C7B-5A3CB854FCDD}"/>
              </a:ext>
            </a:extLst>
          </p:cNvPr>
          <p:cNvSpPr/>
          <p:nvPr/>
        </p:nvSpPr>
        <p:spPr>
          <a:xfrm>
            <a:off x="4862504" y="2687299"/>
            <a:ext cx="564207" cy="525106"/>
          </a:xfrm>
          <a:prstGeom prst="mathPlus">
            <a:avLst/>
          </a:prstGeom>
          <a:solidFill>
            <a:srgbClr val="818181"/>
          </a:solidFill>
          <a:ln>
            <a:solidFill>
              <a:srgbClr val="81818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0B29D134-EAA1-864E-B9FA-855589DFCD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2626" y="2546095"/>
            <a:ext cx="2115423" cy="713293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0ACDE9E8-9AF5-1E44-8CA0-F98231B61E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879269">
            <a:off x="4259505" y="2020363"/>
            <a:ext cx="314686" cy="506503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40FB1B03-E39D-3947-9D10-C2C9B6252F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53523">
            <a:off x="6197205" y="1804569"/>
            <a:ext cx="314686" cy="506503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0CDA6B0B-4219-8F41-BC6F-E6E677E8F7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9511502">
            <a:off x="5146276" y="1870952"/>
            <a:ext cx="314686" cy="506503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E84D2196-7C17-A842-BD82-37A2D7B05D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53689" y="1994420"/>
            <a:ext cx="314686" cy="506503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0C4C0369-F857-204D-B2B9-11E210DD44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424532">
            <a:off x="6325619" y="2425897"/>
            <a:ext cx="314686" cy="506503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705F5E08-98A5-AD43-9D4A-8E26A04D16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0728826">
            <a:off x="5100900" y="3359097"/>
            <a:ext cx="314686" cy="506503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A87A5F3B-DC6E-DB4C-B3D5-97FB805B7D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179541">
            <a:off x="4504122" y="3322013"/>
            <a:ext cx="314686" cy="506503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ACB04858-1787-BC48-9FBE-0546CFED0C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179541">
            <a:off x="3356137" y="3323642"/>
            <a:ext cx="314686" cy="50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445428"/>
      </p:ext>
    </p:extLst>
  </p:cSld>
  <p:clrMapOvr>
    <a:masterClrMapping/>
  </p:clrMapOvr>
  <p:transition advTm="195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1234C3C1-6EBF-5F49-A0F1-D576415257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6</a:t>
            </a:fld>
            <a:endParaRPr lang="de-DE"/>
          </a:p>
        </p:txBody>
      </p:sp>
      <p:pic>
        <p:nvPicPr>
          <p:cNvPr id="8" name="Grafik 7" descr="Ein Bild, das Screenshot enthält.&#10;&#10;&#10;&#10;Automatisch generierte Beschreibung">
            <a:extLst>
              <a:ext uri="{FF2B5EF4-FFF2-40B4-BE49-F238E27FC236}">
                <a16:creationId xmlns:a16="http://schemas.microsoft.com/office/drawing/2014/main" id="{5B331933-35A2-6C48-BF00-F4832FD17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357" y="477981"/>
            <a:ext cx="6737286" cy="394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696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6D400-25DC-48D4-BDB8-9CE098B0D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F9405-DDF2-4B02-A776-B815CD4B63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Was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E-Auto?</a:t>
            </a:r>
          </a:p>
          <a:p>
            <a:r>
              <a:rPr lang="en-US" dirty="0"/>
              <a:t>Welches E-Auto?</a:t>
            </a:r>
          </a:p>
          <a:p>
            <a:r>
              <a:rPr lang="en-US" dirty="0" err="1"/>
              <a:t>Worauf</a:t>
            </a:r>
            <a:r>
              <a:rPr lang="en-US" dirty="0"/>
              <a:t> muss man </a:t>
            </a:r>
            <a:r>
              <a:rPr lang="en-US" dirty="0" err="1"/>
              <a:t>achten</a:t>
            </a:r>
            <a:r>
              <a:rPr lang="en-US" dirty="0"/>
              <a:t>?</a:t>
            </a:r>
          </a:p>
          <a:p>
            <a:r>
              <a:rPr lang="en-US" dirty="0" err="1"/>
              <a:t>Kann</a:t>
            </a:r>
            <a:r>
              <a:rPr lang="en-US" dirty="0"/>
              <a:t> ich </a:t>
            </a:r>
            <a:r>
              <a:rPr lang="en-US" dirty="0" err="1"/>
              <a:t>mir</a:t>
            </a:r>
            <a:r>
              <a:rPr lang="en-US" dirty="0"/>
              <a:t> das </a:t>
            </a:r>
            <a:r>
              <a:rPr lang="en-US" dirty="0" err="1"/>
              <a:t>überhaupt</a:t>
            </a:r>
            <a:r>
              <a:rPr lang="en-US" dirty="0"/>
              <a:t> </a:t>
            </a:r>
            <a:r>
              <a:rPr lang="en-US" dirty="0" err="1"/>
              <a:t>leisten</a:t>
            </a:r>
            <a:r>
              <a:rPr lang="en-US" dirty="0"/>
              <a:t>?</a:t>
            </a:r>
          </a:p>
          <a:p>
            <a:r>
              <a:rPr lang="en-US" dirty="0"/>
              <a:t>…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E6FCDC-2A09-4C9D-A05A-F8CB7B1FEC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08C17B-AA7C-4314-BFA1-87112082C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0011" y="2989080"/>
            <a:ext cx="1201197" cy="12011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51FAA4-9155-4174-8957-24E6879247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8504" y="1958050"/>
            <a:ext cx="457506" cy="4575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DC6605-5DD4-48B6-983E-2F132263E0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7122" y="2672149"/>
            <a:ext cx="457506" cy="4575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2D97513-75E6-4BDA-A974-6C7499BEC9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886239">
            <a:off x="8439712" y="1174592"/>
            <a:ext cx="457506" cy="4575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EC463D-EB5B-400E-B1FC-314B538CF4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406127">
            <a:off x="6820579" y="3062897"/>
            <a:ext cx="457506" cy="4575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1A94D50-6954-4573-A16A-E6B140C4D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3073" y="2114244"/>
            <a:ext cx="457506" cy="4575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9A8E6A4-4966-4955-AD0E-18193B5E12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7851" y="3582850"/>
            <a:ext cx="457506" cy="4575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2A73A46-56FD-4776-9BF8-268B5A1DAF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7950" y="1278922"/>
            <a:ext cx="457506" cy="45750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489623B-0AA5-474D-8664-2508B5090A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89040">
            <a:off x="8659506" y="3157495"/>
            <a:ext cx="457506" cy="457506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964FFE4A-70D8-E648-ADF0-B4EBA8AB5E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6941" y="1096989"/>
            <a:ext cx="2158934" cy="2914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434645"/>
      </p:ext>
    </p:extLst>
  </p:cSld>
  <p:clrMapOvr>
    <a:masterClrMapping/>
  </p:clrMapOvr>
  <p:transition advTm="218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>
            <a:spLocks noGrp="1"/>
          </p:cNvSpPr>
          <p:nvPr>
            <p:ph type="body" idx="1"/>
          </p:nvPr>
        </p:nvSpPr>
        <p:spPr>
          <a:xfrm>
            <a:off x="2385525" y="1310550"/>
            <a:ext cx="4777200" cy="326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3500" indent="0">
              <a:spcBef>
                <a:spcPts val="601"/>
              </a:spcBef>
              <a:buNone/>
            </a:pPr>
            <a:r>
              <a:rPr lang="en-US" spc="-1" dirty="0" err="1">
                <a:solidFill>
                  <a:srgbClr val="000000"/>
                </a:solidFill>
              </a:rPr>
              <a:t>Ihr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macht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einfach</a:t>
            </a:r>
            <a:r>
              <a:rPr lang="en-US" spc="-1" dirty="0">
                <a:solidFill>
                  <a:srgbClr val="000000"/>
                </a:solidFill>
              </a:rPr>
              <a:t> die </a:t>
            </a:r>
            <a:r>
              <a:rPr lang="en-US" spc="-1" dirty="0" err="1">
                <a:solidFill>
                  <a:srgbClr val="000000"/>
                </a:solidFill>
              </a:rPr>
              <a:t>geilste</a:t>
            </a:r>
            <a:r>
              <a:rPr lang="en-US" spc="-1" dirty="0">
                <a:solidFill>
                  <a:srgbClr val="000000"/>
                </a:solidFill>
              </a:rPr>
              <a:t> App der Welt </a:t>
            </a:r>
            <a:r>
              <a:rPr lang="en-US" spc="-1" dirty="0" err="1">
                <a:solidFill>
                  <a:srgbClr val="000000"/>
                </a:solidFill>
              </a:rPr>
              <a:t>für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Elektroautos</a:t>
            </a:r>
            <a:endParaRPr lang="en-US" b="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634C189-0785-7345-83B8-8B6C2EE2EF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8</a:t>
            </a:fld>
            <a:endParaRPr lang="de-DE"/>
          </a:p>
        </p:txBody>
      </p:sp>
    </p:spTree>
  </p:cSld>
  <p:clrMapOvr>
    <a:masterClrMapping/>
  </p:clrMapOvr>
  <p:transition advTm="209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>
            <a:spLocks noGrp="1"/>
          </p:cNvSpPr>
          <p:nvPr>
            <p:ph type="ctrTitle"/>
          </p:nvPr>
        </p:nvSpPr>
        <p:spPr>
          <a:xfrm>
            <a:off x="1629680" y="2246931"/>
            <a:ext cx="5872871" cy="956700"/>
          </a:xfrm>
        </p:spPr>
        <p:txBody>
          <a:bodyPr/>
          <a:lstStyle/>
          <a:p>
            <a:r>
              <a:rPr lang="en-US" spc="-1" dirty="0" err="1"/>
              <a:t>Prototypen-vorstellung</a:t>
            </a:r>
            <a:endParaRPr lang="en-US" dirty="0"/>
          </a:p>
        </p:txBody>
      </p:sp>
      <p:sp>
        <p:nvSpPr>
          <p:cNvPr id="176" name="Google Shape;176;p17"/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pc="-1" dirty="0"/>
              <a:t>Wie </a:t>
            </a:r>
            <a:r>
              <a:rPr lang="en-US" spc="-1" dirty="0" err="1"/>
              <a:t>weit</a:t>
            </a:r>
            <a:r>
              <a:rPr lang="en-US" spc="-1" dirty="0"/>
              <a:t> </a:t>
            </a:r>
            <a:r>
              <a:rPr lang="en-US" spc="-1" dirty="0" err="1"/>
              <a:t>sind</a:t>
            </a:r>
            <a:r>
              <a:rPr lang="en-US" spc="-1" dirty="0"/>
              <a:t> </a:t>
            </a:r>
            <a:r>
              <a:rPr lang="en-US" spc="-1" dirty="0" err="1"/>
              <a:t>wir</a:t>
            </a:r>
            <a:endParaRPr lang="en-US" spc="-1" dirty="0">
              <a:latin typeface="Arial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1030925" y="710500"/>
            <a:ext cx="13926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 b="1" dirty="0">
                <a:solidFill>
                  <a:srgbClr val="FFFFFF"/>
                </a:solidFill>
                <a:latin typeface="Poppins"/>
                <a:cs typeface="Poppins"/>
                <a:sym typeface="Poppins"/>
              </a:rPr>
              <a:t>2</a:t>
            </a:r>
            <a:endParaRPr sz="6000" dirty="0">
              <a:solidFill>
                <a:srgbClr val="FFFFFF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29A416D-8C9E-46C2-9472-98881DC67EB2}"/>
              </a:ext>
            </a:extLst>
          </p:cNvPr>
          <p:cNvGrpSpPr/>
          <p:nvPr/>
        </p:nvGrpSpPr>
        <p:grpSpPr>
          <a:xfrm>
            <a:off x="7480299" y="-511232"/>
            <a:ext cx="1825761" cy="2980532"/>
            <a:chOff x="7480299" y="-498532"/>
            <a:chExt cx="1825761" cy="298053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5F9DB6D-EC6A-407B-BC38-834A9E4575C0}"/>
                </a:ext>
              </a:extLst>
            </p:cNvPr>
            <p:cNvSpPr/>
            <p:nvPr/>
          </p:nvSpPr>
          <p:spPr>
            <a:xfrm rot="2700000">
              <a:off x="7749296" y="925236"/>
              <a:ext cx="2519663" cy="593865"/>
            </a:xfrm>
            <a:prstGeom prst="rect">
              <a:avLst/>
            </a:prstGeom>
            <a:solidFill>
              <a:srgbClr val="8989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sz="2800" b="1" spc="600" dirty="0">
                <a:latin typeface="Poppins" panose="020B0604020202020204" charset="0"/>
                <a:cs typeface="Poppins" panose="020B0604020202020204" charset="0"/>
              </a:endParaRPr>
            </a:p>
          </p:txBody>
        </p:sp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4BC6571E-796D-474E-B9AC-6955C43C6D20}"/>
                </a:ext>
              </a:extLst>
            </p:cNvPr>
            <p:cNvSpPr/>
            <p:nvPr/>
          </p:nvSpPr>
          <p:spPr>
            <a:xfrm rot="10800000">
              <a:off x="7480299" y="124543"/>
              <a:ext cx="846417" cy="732705"/>
            </a:xfrm>
            <a:prstGeom prst="triangle">
              <a:avLst>
                <a:gd name="adj" fmla="val 11181"/>
              </a:avLst>
            </a:prstGeom>
            <a:solidFill>
              <a:srgbClr val="8989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DE" sz="2800" b="1" spc="600">
                <a:latin typeface="Poppins" panose="020B0604020202020204" charset="0"/>
                <a:cs typeface="Poppins" panose="020B060402020202020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734B3B5-6191-4132-99FB-4DB3376D7563}"/>
                </a:ext>
              </a:extLst>
            </p:cNvPr>
            <p:cNvSpPr/>
            <p:nvPr/>
          </p:nvSpPr>
          <p:spPr>
            <a:xfrm rot="2700000">
              <a:off x="7272683" y="464367"/>
              <a:ext cx="2519663" cy="5938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spc="600" dirty="0">
                  <a:latin typeface="Poppins" panose="020B0604020202020204" charset="0"/>
                  <a:cs typeface="Poppins" panose="020B0604020202020204" charset="0"/>
                </a:rPr>
                <a:t>DEMO</a:t>
              </a:r>
              <a:endParaRPr lang="en-DE" sz="2800" b="1" spc="600" dirty="0">
                <a:latin typeface="Poppins" panose="020B0604020202020204" charset="0"/>
                <a:cs typeface="Poppins" panose="020B060402020202020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1560664"/>
      </p:ext>
    </p:extLst>
  </p:cSld>
  <p:clrMapOvr>
    <a:masterClrMapping/>
  </p:clrMapOvr>
  <p:transition advTm="188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B0667-0BB5-416B-9DF3-70F98FE61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01602-80CD-42C6-8A06-79DC9E7298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81076-4232-46C9-8D6A-6C816E942F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3329481"/>
      </p:ext>
    </p:extLst>
  </p:cSld>
  <p:clrMapOvr>
    <a:masterClrMapping/>
  </p:clrMapOvr>
  <p:transition advTm="219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rt 6">
            <a:extLst>
              <a:ext uri="{FF2B5EF4-FFF2-40B4-BE49-F238E27FC236}">
                <a16:creationId xmlns:a16="http://schemas.microsoft.com/office/drawing/2014/main" id="{CE9A215E-5E4B-40DC-9F5F-C3F0A5A283B9}"/>
              </a:ext>
            </a:extLst>
          </p:cNvPr>
          <p:cNvSpPr/>
          <p:nvPr/>
        </p:nvSpPr>
        <p:spPr>
          <a:xfrm>
            <a:off x="9144000" y="-1429664"/>
            <a:ext cx="5488525" cy="3415553"/>
          </a:xfrm>
          <a:prstGeom prst="heart">
            <a:avLst/>
          </a:prstGeom>
          <a:solidFill>
            <a:srgbClr val="FF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E0DC24-B072-4A64-9325-BD32EAB5B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Driving-E-Car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63EFF-DB0B-4BD3-9CC1-CEC07ECFEF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9E1C27-721B-43F5-BC79-2BF9601E0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5279" y="3814780"/>
            <a:ext cx="761671" cy="15233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418DDF-C26B-4849-A4CB-DE302A9423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03" y="2080138"/>
            <a:ext cx="1032775" cy="10327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47623E-A92D-4FE5-BFF3-E87EF339C8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1795" y="-317195"/>
            <a:ext cx="3452500" cy="207015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A088E2B-03FB-4898-921D-9016CF75BB05}"/>
              </a:ext>
            </a:extLst>
          </p:cNvPr>
          <p:cNvSpPr/>
          <p:nvPr/>
        </p:nvSpPr>
        <p:spPr>
          <a:xfrm>
            <a:off x="12749023" y="-614141"/>
            <a:ext cx="734182" cy="1173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6CA06C3-9434-4294-8B0A-BF8E0C414C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60322" y="-145096"/>
            <a:ext cx="376727" cy="37672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8453B20-EB18-4322-9904-2970BDD526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95179" y="-538130"/>
            <a:ext cx="441870" cy="4418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7111254-2B8A-4EEE-AA34-0E64BED314FB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-7227" b="14959"/>
          <a:stretch/>
        </p:blipFill>
        <p:spPr>
          <a:xfrm rot="5400000" flipH="1">
            <a:off x="12659324" y="389503"/>
            <a:ext cx="734182" cy="58227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EC3AFA9-0BB5-4A76-A26E-F9F96F5ED6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83703" y="3290654"/>
            <a:ext cx="1201197" cy="1201197"/>
          </a:xfrm>
          <a:prstGeom prst="rect">
            <a:avLst/>
          </a:prstGeom>
        </p:spPr>
      </p:pic>
      <p:sp>
        <p:nvSpPr>
          <p:cNvPr id="23" name="Heart 22">
            <a:extLst>
              <a:ext uri="{FF2B5EF4-FFF2-40B4-BE49-F238E27FC236}">
                <a16:creationId xmlns:a16="http://schemas.microsoft.com/office/drawing/2014/main" id="{F2FA11F2-5541-4ED8-A450-82B2D8D8EB19}"/>
              </a:ext>
            </a:extLst>
          </p:cNvPr>
          <p:cNvSpPr/>
          <p:nvPr/>
        </p:nvSpPr>
        <p:spPr>
          <a:xfrm>
            <a:off x="12444295" y="2388972"/>
            <a:ext cx="1343638" cy="1183578"/>
          </a:xfrm>
          <a:prstGeom prst="heart">
            <a:avLst/>
          </a:prstGeom>
          <a:solidFill>
            <a:srgbClr val="FF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472170B-F2A0-C749-8802-24A598A9B25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01306" y="2216099"/>
            <a:ext cx="4741229" cy="1598681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DCF31D01-E32D-0441-A3EB-59A4738C51D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69295">
            <a:off x="6094828" y="2693536"/>
            <a:ext cx="214287" cy="872384"/>
          </a:xfrm>
          <a:prstGeom prst="rect">
            <a:avLst/>
          </a:prstGeom>
        </p:spPr>
      </p:pic>
      <p:pic>
        <p:nvPicPr>
          <p:cNvPr id="16" name="Grafik 15" descr="Ein Bild, das Objekt enthält.&#10;&#10;&#10;&#10;Automatisch generierte Beschreibung">
            <a:extLst>
              <a:ext uri="{FF2B5EF4-FFF2-40B4-BE49-F238E27FC236}">
                <a16:creationId xmlns:a16="http://schemas.microsoft.com/office/drawing/2014/main" id="{E7F71EDB-4856-DF4F-890E-358CA65A5D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963" y="2975739"/>
            <a:ext cx="2447603" cy="2262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780169"/>
      </p:ext>
    </p:extLst>
  </p:cSld>
  <p:clrMapOvr>
    <a:masterClrMapping/>
  </p:clrMapOvr>
  <p:transition advTm="211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>
            <a:spLocks noGrp="1"/>
          </p:cNvSpPr>
          <p:nvPr>
            <p:ph type="ctrTitle"/>
          </p:nvPr>
        </p:nvSpPr>
        <p:spPr>
          <a:xfrm>
            <a:off x="1629680" y="2246931"/>
            <a:ext cx="5872871" cy="956700"/>
          </a:xfrm>
        </p:spPr>
        <p:txBody>
          <a:bodyPr/>
          <a:lstStyle/>
          <a:p>
            <a:pPr lvl="0"/>
            <a:r>
              <a:rPr lang="en-US" dirty="0" err="1"/>
              <a:t>Entscheidungen</a:t>
            </a:r>
            <a:endParaRPr lang="en-US" dirty="0"/>
          </a:p>
        </p:txBody>
      </p:sp>
      <p:sp>
        <p:nvSpPr>
          <p:cNvPr id="176" name="Google Shape;176;p17"/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pc="-1" dirty="0" err="1"/>
              <a:t>Machbarkeitsanalyse</a:t>
            </a:r>
            <a:r>
              <a:rPr lang="en-US" spc="-1" dirty="0"/>
              <a:t> und </a:t>
            </a:r>
            <a:r>
              <a:rPr lang="en-US" spc="-1" dirty="0" err="1"/>
              <a:t>Konzeption</a:t>
            </a:r>
            <a:endParaRPr lang="en-US" spc="-1" dirty="0">
              <a:latin typeface="Arial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1030925" y="710500"/>
            <a:ext cx="13926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 b="1" dirty="0">
                <a:solidFill>
                  <a:srgbClr val="FFFFFF"/>
                </a:solidFill>
                <a:latin typeface="Poppins"/>
                <a:cs typeface="Poppins"/>
                <a:sym typeface="Poppins"/>
              </a:rPr>
              <a:t>3</a:t>
            </a:r>
            <a:endParaRPr sz="6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768623"/>
      </p:ext>
    </p:extLst>
  </p:cSld>
  <p:clrMapOvr>
    <a:masterClrMapping/>
  </p:clrMapOvr>
  <p:transition advTm="252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>
            <a:spLocks noGrp="1"/>
          </p:cNvSpPr>
          <p:nvPr>
            <p:ph type="ctrTitle" idx="4294967295"/>
          </p:nvPr>
        </p:nvSpPr>
        <p:spPr>
          <a:xfrm>
            <a:off x="2092625" y="2954950"/>
            <a:ext cx="49587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Big concept</a:t>
            </a:r>
            <a:endParaRPr sz="6000"/>
          </a:p>
        </p:txBody>
      </p:sp>
      <p:sp>
        <p:nvSpPr>
          <p:cNvPr id="206" name="Google Shape;206;p20"/>
          <p:cNvSpPr txBox="1">
            <a:spLocks noGrp="1"/>
          </p:cNvSpPr>
          <p:nvPr>
            <p:ph type="subTitle" idx="4294967295"/>
          </p:nvPr>
        </p:nvSpPr>
        <p:spPr>
          <a:xfrm>
            <a:off x="2092625" y="4097352"/>
            <a:ext cx="49587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None/>
            </a:pPr>
            <a:r>
              <a:rPr lang="de-DE" sz="1400" dirty="0"/>
              <a:t>In </a:t>
            </a:r>
            <a:r>
              <a:rPr lang="de-DE" sz="1400" dirty="0" err="1"/>
              <a:t>Koorperation</a:t>
            </a:r>
            <a:r>
              <a:rPr lang="de-DE" sz="1400" dirty="0"/>
              <a:t> mit Team 03: "</a:t>
            </a:r>
            <a:r>
              <a:rPr lang="de-DE" sz="1400" dirty="0" err="1"/>
              <a:t>LogistGo</a:t>
            </a:r>
            <a:r>
              <a:rPr lang="de-DE" sz="1400" dirty="0"/>
              <a:t>"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8B70310-85DF-994A-81A4-44B6132C8B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13</a:t>
            </a:fld>
            <a:endParaRPr lang="de-D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8CCDB16-DF91-4EBC-B6F8-5331377DC4BB}"/>
              </a:ext>
            </a:extLst>
          </p:cNvPr>
          <p:cNvGrpSpPr/>
          <p:nvPr/>
        </p:nvGrpSpPr>
        <p:grpSpPr>
          <a:xfrm>
            <a:off x="3390536" y="1032504"/>
            <a:ext cx="2362877" cy="1539246"/>
            <a:chOff x="3390536" y="1032504"/>
            <a:chExt cx="2362877" cy="1539246"/>
          </a:xfrm>
        </p:grpSpPr>
        <p:pic>
          <p:nvPicPr>
            <p:cNvPr id="17" name="Grafik 2">
              <a:extLst>
                <a:ext uri="{FF2B5EF4-FFF2-40B4-BE49-F238E27FC236}">
                  <a16:creationId xmlns:a16="http://schemas.microsoft.com/office/drawing/2014/main" id="{FF6C35CA-AD7E-4F5A-B8E1-FC20773C4B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90536" y="1032504"/>
              <a:ext cx="2362877" cy="1539246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924C288-64FB-4C06-82F5-5595BD4B7E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04397" y="1451512"/>
              <a:ext cx="1135206" cy="996428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23BED0B-3491-4A26-A8D9-FE2D68E4B72B}"/>
              </a:ext>
            </a:extLst>
          </p:cNvPr>
          <p:cNvGrpSpPr/>
          <p:nvPr/>
        </p:nvGrpSpPr>
        <p:grpSpPr>
          <a:xfrm>
            <a:off x="1579873" y="1009112"/>
            <a:ext cx="864360" cy="1109520"/>
            <a:chOff x="1463040" y="993600"/>
            <a:chExt cx="864360" cy="1109520"/>
          </a:xfrm>
        </p:grpSpPr>
        <p:sp>
          <p:nvSpPr>
            <p:cNvPr id="18" name="CustomShape 4">
              <a:extLst>
                <a:ext uri="{FF2B5EF4-FFF2-40B4-BE49-F238E27FC236}">
                  <a16:creationId xmlns:a16="http://schemas.microsoft.com/office/drawing/2014/main" id="{D519429B-2CCD-4B2A-96CE-530C2535203D}"/>
                </a:ext>
              </a:extLst>
            </p:cNvPr>
            <p:cNvSpPr/>
            <p:nvPr/>
          </p:nvSpPr>
          <p:spPr>
            <a:xfrm>
              <a:off x="1463040" y="993600"/>
              <a:ext cx="864360" cy="1109520"/>
            </a:xfrm>
            <a:custGeom>
              <a:avLst/>
              <a:gdLst/>
              <a:ahLst/>
              <a:cxnLst/>
              <a:rect l="l" t="t" r="r" b="b"/>
              <a:pathLst>
                <a:path w="15978" h="2050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w="1224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EDC991B7-F1F1-4917-9C23-F688909B6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6734" y="1271830"/>
              <a:ext cx="555004" cy="487155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418C144-992A-408B-BFFE-D19181497087}"/>
              </a:ext>
            </a:extLst>
          </p:cNvPr>
          <p:cNvGrpSpPr/>
          <p:nvPr/>
        </p:nvGrpSpPr>
        <p:grpSpPr>
          <a:xfrm>
            <a:off x="845803" y="1758985"/>
            <a:ext cx="457200" cy="792360"/>
            <a:chOff x="914400" y="1676520"/>
            <a:chExt cx="457200" cy="792360"/>
          </a:xfrm>
        </p:grpSpPr>
        <p:sp>
          <p:nvSpPr>
            <p:cNvPr id="19" name="CustomShape 5">
              <a:extLst>
                <a:ext uri="{FF2B5EF4-FFF2-40B4-BE49-F238E27FC236}">
                  <a16:creationId xmlns:a16="http://schemas.microsoft.com/office/drawing/2014/main" id="{4F948CDD-64E3-4B2F-9D8F-18A5FC957C67}"/>
                </a:ext>
              </a:extLst>
            </p:cNvPr>
            <p:cNvSpPr/>
            <p:nvPr/>
          </p:nvSpPr>
          <p:spPr>
            <a:xfrm>
              <a:off x="914400" y="1676520"/>
              <a:ext cx="457200" cy="792360"/>
            </a:xfrm>
            <a:custGeom>
              <a:avLst/>
              <a:gdLst/>
              <a:ahLst/>
              <a:cxnLst/>
              <a:rect l="l" t="t" r="r" b="b"/>
              <a:pathLst>
                <a:path w="11838" h="2050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w="1224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EA8B292-E00E-4D11-A3E3-1D9A393FB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0626" y="1896883"/>
              <a:ext cx="317366" cy="278568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38AABC0-B769-4318-8F12-E6157CDE298C}"/>
              </a:ext>
            </a:extLst>
          </p:cNvPr>
          <p:cNvGrpSpPr/>
          <p:nvPr/>
        </p:nvGrpSpPr>
        <p:grpSpPr>
          <a:xfrm>
            <a:off x="6601131" y="981734"/>
            <a:ext cx="1393560" cy="1319760"/>
            <a:chOff x="6601131" y="981734"/>
            <a:chExt cx="1393560" cy="1319760"/>
          </a:xfrm>
        </p:grpSpPr>
        <p:grpSp>
          <p:nvGrpSpPr>
            <p:cNvPr id="20" name="Group 6">
              <a:extLst>
                <a:ext uri="{FF2B5EF4-FFF2-40B4-BE49-F238E27FC236}">
                  <a16:creationId xmlns:a16="http://schemas.microsoft.com/office/drawing/2014/main" id="{6C3B0BF7-C9D0-4D85-8FEA-9A86ED4ED279}"/>
                </a:ext>
              </a:extLst>
            </p:cNvPr>
            <p:cNvGrpSpPr/>
            <p:nvPr/>
          </p:nvGrpSpPr>
          <p:grpSpPr>
            <a:xfrm>
              <a:off x="6601131" y="981734"/>
              <a:ext cx="1393560" cy="1319760"/>
              <a:chOff x="6126480" y="1188720"/>
              <a:chExt cx="1393560" cy="1319760"/>
            </a:xfrm>
          </p:grpSpPr>
          <p:sp>
            <p:nvSpPr>
              <p:cNvPr id="21" name="CustomShape 7">
                <a:extLst>
                  <a:ext uri="{FF2B5EF4-FFF2-40B4-BE49-F238E27FC236}">
                    <a16:creationId xmlns:a16="http://schemas.microsoft.com/office/drawing/2014/main" id="{D5FD9872-ACCB-493C-A24B-3D7EB1612B37}"/>
                  </a:ext>
                </a:extLst>
              </p:cNvPr>
              <p:cNvSpPr/>
              <p:nvPr/>
            </p:nvSpPr>
            <p:spPr>
              <a:xfrm>
                <a:off x="6483600" y="2222640"/>
                <a:ext cx="679320" cy="285840"/>
              </a:xfrm>
              <a:custGeom>
                <a:avLst/>
                <a:gdLst/>
                <a:ahLst/>
                <a:cxnLst/>
                <a:rect l="l" t="t" r="r" b="b"/>
                <a:pathLst>
                  <a:path w="9012" h="3800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w="1224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2" name="CustomShape 8">
                <a:extLst>
                  <a:ext uri="{FF2B5EF4-FFF2-40B4-BE49-F238E27FC236}">
                    <a16:creationId xmlns:a16="http://schemas.microsoft.com/office/drawing/2014/main" id="{D51B9A51-96C9-44FE-930A-9345CC3A81B8}"/>
                  </a:ext>
                </a:extLst>
              </p:cNvPr>
              <p:cNvSpPr/>
              <p:nvPr/>
            </p:nvSpPr>
            <p:spPr>
              <a:xfrm>
                <a:off x="6126480" y="1188720"/>
                <a:ext cx="1393560" cy="1014480"/>
              </a:xfrm>
              <a:custGeom>
                <a:avLst/>
                <a:gdLst/>
                <a:ahLst/>
                <a:cxnLst/>
                <a:rect l="l" t="t" r="r" b="b"/>
                <a:pathLst>
                  <a:path w="18462" h="13445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w="1224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BA7C6E2F-F22A-4BA6-8E86-D237572DFF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6084" y="1165761"/>
              <a:ext cx="764876" cy="671371"/>
            </a:xfrm>
            <a:prstGeom prst="rect">
              <a:avLst/>
            </a:prstGeom>
          </p:spPr>
        </p:pic>
      </p:grpSp>
    </p:spTree>
  </p:cSld>
  <p:clrMapOvr>
    <a:masterClrMapping/>
  </p:clrMapOvr>
  <p:transition advTm="288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45FBD7-CC5B-457A-8F47-C2256CA399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437260-2DE2-4D5F-94D4-756C1EED8C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25" t="2701" r="3425" b="2939"/>
          <a:stretch/>
        </p:blipFill>
        <p:spPr>
          <a:xfrm>
            <a:off x="2606039" y="156754"/>
            <a:ext cx="3931922" cy="48255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BD8E52-2F6F-4C59-9E0F-47AE6909BA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70" t="2556" r="2154" b="2554"/>
          <a:stretch/>
        </p:blipFill>
        <p:spPr>
          <a:xfrm>
            <a:off x="4310447" y="131449"/>
            <a:ext cx="4023656" cy="488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791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71605E-6 L -0.24288 0.0006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153" y="3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94C5B1-BAA3-47AC-9E21-832556908F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8C7BFF-7EC7-4C39-A7C2-1CA58EE6C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907" y="3146112"/>
            <a:ext cx="764362" cy="76436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6A9F355-B7D4-426E-A5F8-7B3A68FD5562}"/>
              </a:ext>
            </a:extLst>
          </p:cNvPr>
          <p:cNvGrpSpPr/>
          <p:nvPr/>
        </p:nvGrpSpPr>
        <p:grpSpPr>
          <a:xfrm>
            <a:off x="673388" y="2214512"/>
            <a:ext cx="2174578" cy="715341"/>
            <a:chOff x="673388" y="2214512"/>
            <a:chExt cx="2174578" cy="71534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2D66CB1-004F-4FEB-A620-EF025A1DF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32625" y="2214512"/>
              <a:ext cx="715341" cy="715341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20EB12E3-6276-449F-B06E-5791B4201F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30144" b="32176"/>
            <a:stretch/>
          </p:blipFill>
          <p:spPr>
            <a:xfrm>
              <a:off x="673388" y="2274655"/>
              <a:ext cx="1545427" cy="582319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02BF038B-7A1E-4E46-9DFF-5EE033A94F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5884" y="1145529"/>
            <a:ext cx="934412" cy="93441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F93E06A-6D9C-4F55-B856-1972EBAD6F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0679" y="197321"/>
            <a:ext cx="1484819" cy="9085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6B2BA6-3446-4C98-9833-2F0580938E22}"/>
              </a:ext>
            </a:extLst>
          </p:cNvPr>
          <p:cNvSpPr txBox="1"/>
          <p:nvPr/>
        </p:nvSpPr>
        <p:spPr>
          <a:xfrm>
            <a:off x="3106270" y="389965"/>
            <a:ext cx="4316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Open-Source, cross-platform JavaScript </a:t>
            </a:r>
            <a:r>
              <a:rPr lang="en-US" dirty="0" err="1"/>
              <a:t>Laufzeitumgebung</a:t>
            </a:r>
            <a:endParaRPr lang="en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A7B8C3-D18B-4C1B-90A8-2A2CAF265864}"/>
              </a:ext>
            </a:extLst>
          </p:cNvPr>
          <p:cNvSpPr txBox="1"/>
          <p:nvPr/>
        </p:nvSpPr>
        <p:spPr>
          <a:xfrm>
            <a:off x="3106270" y="1348871"/>
            <a:ext cx="4540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Clientseitiges</a:t>
            </a:r>
            <a:r>
              <a:rPr lang="en-US" dirty="0"/>
              <a:t> JavaScript-</a:t>
            </a:r>
            <a:r>
              <a:rPr lang="en-US" dirty="0" err="1"/>
              <a:t>Webframework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die </a:t>
            </a:r>
            <a:r>
              <a:rPr lang="en-US" dirty="0" err="1"/>
              <a:t>Benutzeroberfläche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A5252E-3FD9-44EE-B35E-DA3631E06BBC}"/>
              </a:ext>
            </a:extLst>
          </p:cNvPr>
          <p:cNvSpPr txBox="1"/>
          <p:nvPr/>
        </p:nvSpPr>
        <p:spPr>
          <a:xfrm>
            <a:off x="3106270" y="2307777"/>
            <a:ext cx="4316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Open-Source Framework </a:t>
            </a:r>
            <a:r>
              <a:rPr lang="en-US" dirty="0" err="1"/>
              <a:t>zur</a:t>
            </a:r>
            <a:r>
              <a:rPr lang="en-US" dirty="0"/>
              <a:t> </a:t>
            </a:r>
            <a:r>
              <a:rPr lang="en-US" dirty="0" err="1"/>
              <a:t>Erstellung</a:t>
            </a:r>
            <a:r>
              <a:rPr lang="en-US" dirty="0"/>
              <a:t> von Mobile </a:t>
            </a:r>
            <a:r>
              <a:rPr lang="en-US" dirty="0" err="1"/>
              <a:t>Applikationen</a:t>
            </a:r>
            <a:r>
              <a:rPr lang="en-US" dirty="0"/>
              <a:t>. </a:t>
            </a:r>
            <a:r>
              <a:rPr lang="en-US" dirty="0" err="1"/>
              <a:t>Basiert</a:t>
            </a:r>
            <a:r>
              <a:rPr lang="en-US" dirty="0"/>
              <a:t> auf Cordova.</a:t>
            </a:r>
            <a:endParaRPr lang="en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401F35-E243-4CE6-906F-6D1F1FDD7F56}"/>
              </a:ext>
            </a:extLst>
          </p:cNvPr>
          <p:cNvSpPr txBox="1"/>
          <p:nvPr/>
        </p:nvSpPr>
        <p:spPr>
          <a:xfrm>
            <a:off x="3106270" y="3240557"/>
            <a:ext cx="43165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Open-Source Framework, welches die </a:t>
            </a:r>
            <a:r>
              <a:rPr lang="en-US" dirty="0" err="1"/>
              <a:t>Ausführung</a:t>
            </a:r>
            <a:r>
              <a:rPr lang="en-US" dirty="0"/>
              <a:t> von cross-platform Desktop-</a:t>
            </a:r>
            <a:r>
              <a:rPr lang="en-US" dirty="0" err="1"/>
              <a:t>Anwendungen</a:t>
            </a:r>
            <a:r>
              <a:rPr lang="en-US" dirty="0"/>
              <a:t> </a:t>
            </a:r>
            <a:r>
              <a:rPr lang="en-US" dirty="0" err="1"/>
              <a:t>ermöglicht</a:t>
            </a:r>
            <a:r>
              <a:rPr lang="en-US" dirty="0"/>
              <a:t>.</a:t>
            </a:r>
            <a:endParaRPr lang="en-D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D28BA2-883D-42BF-8ED5-7433DDA53178}"/>
              </a:ext>
            </a:extLst>
          </p:cNvPr>
          <p:cNvSpPr txBox="1"/>
          <p:nvPr/>
        </p:nvSpPr>
        <p:spPr>
          <a:xfrm>
            <a:off x="3106270" y="4225589"/>
            <a:ext cx="4316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Freie Webanwendung zur Administration von MySQL-Datenbanken</a:t>
            </a:r>
            <a:endParaRPr lang="en-DE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B8F585BA-34EE-4F91-88FF-387484E0D91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92938" y="4041661"/>
            <a:ext cx="1260299" cy="891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906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>
            <a:spLocks noGrp="1"/>
          </p:cNvSpPr>
          <p:nvPr>
            <p:ph type="ctrTitle"/>
          </p:nvPr>
        </p:nvSpPr>
        <p:spPr>
          <a:xfrm>
            <a:off x="1629680" y="2246931"/>
            <a:ext cx="5872871" cy="956700"/>
          </a:xfrm>
        </p:spPr>
        <p:txBody>
          <a:bodyPr/>
          <a:lstStyle/>
          <a:p>
            <a:r>
              <a:rPr lang="en-US" spc="-1" dirty="0" err="1"/>
              <a:t>Ausblick</a:t>
            </a:r>
            <a:endParaRPr lang="en-US" b="0" spc="-1" dirty="0">
              <a:latin typeface="Arial"/>
            </a:endParaRPr>
          </a:p>
        </p:txBody>
      </p:sp>
      <p:sp>
        <p:nvSpPr>
          <p:cNvPr id="176" name="Google Shape;176;p17"/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pc="-1" dirty="0"/>
              <a:t>Was </a:t>
            </a:r>
            <a:r>
              <a:rPr lang="en-US" spc="-1" dirty="0" err="1"/>
              <a:t>liegt</a:t>
            </a:r>
            <a:r>
              <a:rPr lang="en-US" spc="-1" dirty="0"/>
              <a:t> </a:t>
            </a:r>
            <a:r>
              <a:rPr lang="en-US" spc="-1" dirty="0" err="1"/>
              <a:t>noch</a:t>
            </a:r>
            <a:r>
              <a:rPr lang="en-US" spc="-1" dirty="0"/>
              <a:t> </a:t>
            </a:r>
            <a:r>
              <a:rPr lang="en-US" spc="-1" dirty="0" err="1"/>
              <a:t>vor</a:t>
            </a:r>
            <a:r>
              <a:rPr lang="en-US" spc="-1" dirty="0"/>
              <a:t> </a:t>
            </a:r>
            <a:r>
              <a:rPr lang="en-US" spc="-1" dirty="0" err="1"/>
              <a:t>uns</a:t>
            </a:r>
            <a:endParaRPr lang="en-US" spc="-1" dirty="0">
              <a:latin typeface="Arial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1030925" y="710500"/>
            <a:ext cx="13926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 b="1" dirty="0">
                <a:solidFill>
                  <a:srgbClr val="FFFFFF"/>
                </a:solidFill>
                <a:latin typeface="Poppins"/>
                <a:cs typeface="Poppins"/>
                <a:sym typeface="Poppins"/>
              </a:rPr>
              <a:t>4</a:t>
            </a:r>
            <a:endParaRPr sz="6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438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AAC144-5B35-4BAC-8CB1-CB3DC61A41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EFBA0F8-5ECF-40C4-AC51-8E89A7ACF702}"/>
              </a:ext>
            </a:extLst>
          </p:cNvPr>
          <p:cNvGrpSpPr/>
          <p:nvPr/>
        </p:nvGrpSpPr>
        <p:grpSpPr>
          <a:xfrm>
            <a:off x="1216348" y="407601"/>
            <a:ext cx="2497473" cy="4328297"/>
            <a:chOff x="1216348" y="407601"/>
            <a:chExt cx="2497473" cy="432829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6B5BC36-B1BE-41B0-8093-F5D0F153DADA}"/>
                </a:ext>
              </a:extLst>
            </p:cNvPr>
            <p:cNvGrpSpPr/>
            <p:nvPr/>
          </p:nvGrpSpPr>
          <p:grpSpPr>
            <a:xfrm>
              <a:off x="1517375" y="959561"/>
              <a:ext cx="1896672" cy="2975516"/>
              <a:chOff x="1517375" y="959561"/>
              <a:chExt cx="1896672" cy="2975516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4BC151C0-2389-483B-9DE6-CE8BF36E150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b="40710"/>
              <a:stretch/>
            </p:blipFill>
            <p:spPr>
              <a:xfrm>
                <a:off x="1517375" y="959561"/>
                <a:ext cx="1896672" cy="2009299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896CAA22-0677-4A02-AE7E-E074619BEC2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83896"/>
              <a:stretch/>
            </p:blipFill>
            <p:spPr>
              <a:xfrm>
                <a:off x="1517375" y="3389331"/>
                <a:ext cx="1896672" cy="545746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965994EB-4EE6-462B-9C08-AAC07D56C2F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64677" b="22903"/>
              <a:stretch/>
            </p:blipFill>
            <p:spPr>
              <a:xfrm>
                <a:off x="1517375" y="2968860"/>
                <a:ext cx="1896672" cy="420866"/>
              </a:xfrm>
              <a:prstGeom prst="rect">
                <a:avLst/>
              </a:prstGeom>
            </p:spPr>
          </p:pic>
        </p:grpSp>
        <p:sp>
          <p:nvSpPr>
            <p:cNvPr id="5" name="CustomShape 5">
              <a:extLst>
                <a:ext uri="{FF2B5EF4-FFF2-40B4-BE49-F238E27FC236}">
                  <a16:creationId xmlns:a16="http://schemas.microsoft.com/office/drawing/2014/main" id="{9B8F6E41-1EEA-4172-A514-E9F17451C55A}"/>
                </a:ext>
              </a:extLst>
            </p:cNvPr>
            <p:cNvSpPr/>
            <p:nvPr/>
          </p:nvSpPr>
          <p:spPr>
            <a:xfrm>
              <a:off x="1216348" y="407601"/>
              <a:ext cx="2497473" cy="4328297"/>
            </a:xfrm>
            <a:custGeom>
              <a:avLst/>
              <a:gdLst/>
              <a:ahLst/>
              <a:cxnLst/>
              <a:rect l="l" t="t" r="r" b="b"/>
              <a:pathLst>
                <a:path w="11838" h="2050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w="1224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C4702B5-B261-45FF-ABA1-07DD9300D47A}"/>
              </a:ext>
            </a:extLst>
          </p:cNvPr>
          <p:cNvGrpSpPr/>
          <p:nvPr/>
        </p:nvGrpSpPr>
        <p:grpSpPr>
          <a:xfrm>
            <a:off x="5430179" y="407995"/>
            <a:ext cx="2497473" cy="4328297"/>
            <a:chOff x="5430179" y="407995"/>
            <a:chExt cx="2497473" cy="4328297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2EDDF90-D07D-4A7C-9515-625BB93AAC52}"/>
                </a:ext>
              </a:extLst>
            </p:cNvPr>
            <p:cNvGrpSpPr/>
            <p:nvPr/>
          </p:nvGrpSpPr>
          <p:grpSpPr>
            <a:xfrm>
              <a:off x="5729952" y="959955"/>
              <a:ext cx="1904443" cy="2947677"/>
              <a:chOff x="5729952" y="959955"/>
              <a:chExt cx="1904443" cy="2947677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6A1FC245-2B5C-442A-8493-DFBE6E2CCED9}"/>
                  </a:ext>
                </a:extLst>
              </p:cNvPr>
              <p:cNvGrpSpPr/>
              <p:nvPr/>
            </p:nvGrpSpPr>
            <p:grpSpPr>
              <a:xfrm>
                <a:off x="5729952" y="959955"/>
                <a:ext cx="1903255" cy="2947677"/>
                <a:chOff x="5729952" y="959955"/>
                <a:chExt cx="1903255" cy="2947677"/>
              </a:xfrm>
            </p:grpSpPr>
            <p:pic>
              <p:nvPicPr>
                <p:cNvPr id="24" name="Picture 23">
                  <a:extLst>
                    <a:ext uri="{FF2B5EF4-FFF2-40B4-BE49-F238E27FC236}">
                      <a16:creationId xmlns:a16="http://schemas.microsoft.com/office/drawing/2014/main" id="{04ACFA50-4275-4748-8F93-E4AED21468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t="35502" b="61544"/>
                <a:stretch/>
              </p:blipFill>
              <p:spPr>
                <a:xfrm>
                  <a:off x="5729952" y="3389726"/>
                  <a:ext cx="1896673" cy="517906"/>
                </a:xfrm>
                <a:prstGeom prst="rect">
                  <a:avLst/>
                </a:prstGeom>
              </p:spPr>
            </p:pic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1EE3AB1A-2EDD-4AC5-8C57-6F9AD18AA8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b="28246"/>
                <a:stretch/>
              </p:blipFill>
              <p:spPr>
                <a:xfrm>
                  <a:off x="5736534" y="959955"/>
                  <a:ext cx="1896673" cy="2429771"/>
                </a:xfrm>
                <a:prstGeom prst="rect">
                  <a:avLst/>
                </a:prstGeom>
              </p:spPr>
            </p:pic>
          </p:grp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95309C77-524C-4B89-A42F-26A839115CE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t="96008" b="-6811"/>
              <a:stretch/>
            </p:blipFill>
            <p:spPr>
              <a:xfrm>
                <a:off x="5737722" y="3386545"/>
                <a:ext cx="1896673" cy="365836"/>
              </a:xfrm>
              <a:prstGeom prst="rect">
                <a:avLst/>
              </a:prstGeom>
            </p:spPr>
          </p:pic>
        </p:grpSp>
        <p:sp>
          <p:nvSpPr>
            <p:cNvPr id="14" name="CustomShape 5">
              <a:extLst>
                <a:ext uri="{FF2B5EF4-FFF2-40B4-BE49-F238E27FC236}">
                  <a16:creationId xmlns:a16="http://schemas.microsoft.com/office/drawing/2014/main" id="{B71A8171-D6E1-49C3-B693-D42377CEBC52}"/>
                </a:ext>
              </a:extLst>
            </p:cNvPr>
            <p:cNvSpPr/>
            <p:nvPr/>
          </p:nvSpPr>
          <p:spPr>
            <a:xfrm>
              <a:off x="5430179" y="407995"/>
              <a:ext cx="2497473" cy="4328297"/>
            </a:xfrm>
            <a:custGeom>
              <a:avLst/>
              <a:gdLst/>
              <a:ahLst/>
              <a:cxnLst/>
              <a:rect l="l" t="t" r="r" b="b"/>
              <a:pathLst>
                <a:path w="11838" h="2050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w="1224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</p:spTree>
    <p:extLst>
      <p:ext uri="{BB962C8B-B14F-4D97-AF65-F5344CB8AC3E}">
        <p14:creationId xmlns:p14="http://schemas.microsoft.com/office/powerpoint/2010/main" val="1514451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40"/>
          <p:cNvSpPr txBox="1"/>
          <p:nvPr/>
        </p:nvSpPr>
        <p:spPr>
          <a:xfrm>
            <a:off x="2773450" y="1150500"/>
            <a:ext cx="5782500" cy="13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200" b="1" dirty="0" err="1">
                <a:latin typeface="Poppins"/>
                <a:cs typeface="Poppins"/>
                <a:sym typeface="Poppins Light"/>
              </a:rPr>
              <a:t>Vielen</a:t>
            </a:r>
            <a:r>
              <a:rPr lang="en-US" sz="5200" b="1" dirty="0">
                <a:latin typeface="Poppins"/>
                <a:cs typeface="Poppins"/>
                <a:sym typeface="Poppins Light"/>
              </a:rPr>
              <a:t> Dank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 dirty="0" err="1">
                <a:latin typeface="Poppins"/>
                <a:cs typeface="Poppins"/>
                <a:sym typeface="Poppins Light"/>
              </a:rPr>
              <a:t>für</a:t>
            </a:r>
            <a:r>
              <a:rPr lang="en-US" sz="2800" b="1" dirty="0">
                <a:latin typeface="Poppins"/>
                <a:cs typeface="Poppins"/>
                <a:sym typeface="Poppins Light"/>
              </a:rPr>
              <a:t> </a:t>
            </a:r>
            <a:r>
              <a:rPr lang="en-US" sz="2800" b="1" dirty="0" err="1">
                <a:latin typeface="Poppins"/>
                <a:cs typeface="Poppins"/>
                <a:sym typeface="Poppins Light"/>
              </a:rPr>
              <a:t>Ihre</a:t>
            </a:r>
            <a:r>
              <a:rPr lang="en-US" sz="2800" b="1" dirty="0">
                <a:latin typeface="Poppins"/>
                <a:cs typeface="Poppins"/>
                <a:sym typeface="Poppins Light"/>
              </a:rPr>
              <a:t> </a:t>
            </a:r>
            <a:r>
              <a:rPr lang="en-US" sz="2800" b="1" dirty="0" err="1">
                <a:latin typeface="Poppins"/>
                <a:cs typeface="Poppins"/>
                <a:sym typeface="Poppins Light"/>
              </a:rPr>
              <a:t>Aufmerksamkeit</a:t>
            </a:r>
            <a:endParaRPr sz="2800" b="1" dirty="0">
              <a:latin typeface="Poppins"/>
              <a:cs typeface="Poppins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09" name="Google Shape;909;p40"/>
          <p:cNvSpPr txBox="1"/>
          <p:nvPr/>
        </p:nvSpPr>
        <p:spPr>
          <a:xfrm>
            <a:off x="1258575" y="1092646"/>
            <a:ext cx="1440600" cy="12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600">
                <a:solidFill>
                  <a:srgbClr val="F1C232"/>
                </a:solidFill>
                <a:latin typeface="Poppins Light"/>
                <a:ea typeface="Poppins Light"/>
                <a:cs typeface="Poppins Light"/>
                <a:sym typeface="Poppins Light"/>
              </a:rPr>
              <a:t>😉</a:t>
            </a:r>
            <a:endParaRPr sz="9600">
              <a:solidFill>
                <a:srgbClr val="F1C23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FB328C7-FCBF-A645-A47C-5AC64030C7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18</a:t>
            </a:fld>
            <a:endParaRPr lang="de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ymbeline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450</Words>
  <Application>Microsoft Office PowerPoint</Application>
  <PresentationFormat>On-screen Show (16:9)</PresentationFormat>
  <Paragraphs>94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Poppins</vt:lpstr>
      <vt:lpstr>Poppins Light</vt:lpstr>
      <vt:lpstr>Cymbeline template</vt:lpstr>
      <vt:lpstr>driving-e-car</vt:lpstr>
      <vt:lpstr>Hallo!</vt:lpstr>
      <vt:lpstr>Agenda</vt:lpstr>
      <vt:lpstr>Unser Auftrag</vt:lpstr>
      <vt:lpstr>Geeignet?</vt:lpstr>
      <vt:lpstr>PowerPoint Presentation</vt:lpstr>
      <vt:lpstr>PowerPoint Presentation</vt:lpstr>
      <vt:lpstr>PowerPoint Presentation</vt:lpstr>
      <vt:lpstr>Prototypen-vorstellung</vt:lpstr>
      <vt:lpstr>PowerPoint Presentation</vt:lpstr>
      <vt:lpstr>Driving-E-Car</vt:lpstr>
      <vt:lpstr>Entscheidungen</vt:lpstr>
      <vt:lpstr>Big concept</vt:lpstr>
      <vt:lpstr>PowerPoint Presentation</vt:lpstr>
      <vt:lpstr>PowerPoint Presentation</vt:lpstr>
      <vt:lpstr>Ausblick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cp:lastModifiedBy>Florian</cp:lastModifiedBy>
  <cp:revision>58</cp:revision>
  <cp:lastPrinted>2018-12-13T11:32:07Z</cp:lastPrinted>
  <dcterms:modified xsi:type="dcterms:W3CDTF">2018-12-13T14:08:45Z</dcterms:modified>
</cp:coreProperties>
</file>