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1" r:id="rId4"/>
    <p:sldId id="259" r:id="rId5"/>
    <p:sldId id="290" r:id="rId6"/>
    <p:sldId id="296" r:id="rId7"/>
    <p:sldId id="260" r:id="rId8"/>
    <p:sldId id="286" r:id="rId9"/>
    <p:sldId id="292" r:id="rId10"/>
    <p:sldId id="293" r:id="rId11"/>
    <p:sldId id="295" r:id="rId12"/>
    <p:sldId id="262" r:id="rId13"/>
    <p:sldId id="294" r:id="rId14"/>
    <p:sldId id="288" r:id="rId15"/>
    <p:sldId id="289" r:id="rId16"/>
    <p:sldId id="282" r:id="rId17"/>
  </p:sldIdLst>
  <p:sldSz cx="9144000" cy="5143500" type="screen16x9"/>
  <p:notesSz cx="6858000" cy="9144000"/>
  <p:embeddedFontLs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Poppins Light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8181"/>
    <a:srgbClr val="FF7171"/>
    <a:srgbClr val="898989"/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0"/>
    <p:restoredTop sz="81667" autoAdjust="0"/>
  </p:normalViewPr>
  <p:slideViewPr>
    <p:cSldViewPr snapToGrid="0" snapToObjects="1">
      <p:cViewPr>
        <p:scale>
          <a:sx n="143" d="100"/>
          <a:sy n="143" d="100"/>
        </p:scale>
        <p:origin x="888" y="-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Aufhänger</a:t>
            </a:r>
            <a:r>
              <a:rPr lang="en-US" dirty="0"/>
              <a:t>, Interesse </a:t>
            </a:r>
            <a:r>
              <a:rPr lang="en-US" dirty="0" err="1"/>
              <a:t>wecken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Marktlücke</a:t>
            </a:r>
            <a:r>
              <a:rPr lang="en-US" dirty="0"/>
              <a:t>??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Vorstellung</a:t>
            </a:r>
            <a:r>
              <a:rPr lang="en-US" dirty="0"/>
              <a:t> der </a:t>
            </a:r>
            <a:r>
              <a:rPr lang="en-US" dirty="0" err="1"/>
              <a:t>Personen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? (-&gt; Am Ende, </a:t>
            </a:r>
            <a:r>
              <a:rPr lang="en-US" dirty="0" err="1"/>
              <a:t>wenn</a:t>
            </a:r>
            <a:r>
              <a:rPr lang="en-US" dirty="0"/>
              <a:t> Zeit und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01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Da </a:t>
            </a:r>
            <a:r>
              <a:rPr lang="en-US" dirty="0" err="1"/>
              <a:t>kommt</a:t>
            </a:r>
            <a:r>
              <a:rPr lang="en-US" dirty="0"/>
              <a:t> Driving-E-Car.de ins Spiel!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412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Kunden</a:t>
            </a:r>
            <a:r>
              <a:rPr lang="en-US" dirty="0"/>
              <a:t> direct </a:t>
            </a:r>
            <a:r>
              <a:rPr lang="en-US" dirty="0" err="1"/>
              <a:t>ansprechen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“Herr </a:t>
            </a:r>
            <a:r>
              <a:rPr lang="en-US" dirty="0" err="1"/>
              <a:t>Jarzina</a:t>
            </a:r>
            <a:r>
              <a:rPr lang="en-US" dirty="0"/>
              <a:t>, </a:t>
            </a: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erinneren</a:t>
            </a:r>
            <a:r>
              <a:rPr lang="en-US" dirty="0"/>
              <a:t> Sie </a:t>
            </a:r>
            <a:r>
              <a:rPr lang="en-US" dirty="0" err="1"/>
              <a:t>sich</a:t>
            </a:r>
            <a:r>
              <a:rPr lang="en-US" dirty="0"/>
              <a:t>,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Meeting was …”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persönliche</a:t>
            </a:r>
            <a:r>
              <a:rPr lang="en-US" dirty="0"/>
              <a:t> und </a:t>
            </a:r>
            <a:r>
              <a:rPr lang="en-US" dirty="0" err="1"/>
              <a:t>technischer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 (Web, Mobile, </a:t>
            </a:r>
            <a:r>
              <a:rPr lang="en-US" dirty="0" err="1"/>
              <a:t>ect</a:t>
            </a:r>
            <a:r>
              <a:rPr lang="en-US" dirty="0"/>
              <a:t>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nebenssatz</a:t>
            </a:r>
            <a:r>
              <a:rPr lang="en-US" dirty="0"/>
              <a:t> </a:t>
            </a:r>
            <a:r>
              <a:rPr lang="en-US" dirty="0" err="1"/>
              <a:t>erwähnen</a:t>
            </a:r>
            <a:r>
              <a:rPr lang="en-US" dirty="0"/>
              <a:t>, das </a:t>
            </a:r>
            <a:r>
              <a:rPr lang="en-US" dirty="0" err="1"/>
              <a:t>Anmelden</a:t>
            </a:r>
            <a:r>
              <a:rPr lang="en-US" dirty="0"/>
              <a:t> und </a:t>
            </a:r>
            <a:r>
              <a:rPr lang="en-US" dirty="0" err="1"/>
              <a:t>Registrieren</a:t>
            </a:r>
            <a:r>
              <a:rPr lang="en-US" dirty="0"/>
              <a:t> </a:t>
            </a:r>
            <a:r>
              <a:rPr lang="en-US" dirty="0" err="1"/>
              <a:t>fertig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banalität</a:t>
            </a:r>
            <a:r>
              <a:rPr lang="en-US" dirty="0"/>
              <a:t> und </a:t>
            </a:r>
            <a:r>
              <a:rPr lang="en-US" dirty="0" err="1"/>
              <a:t>zeitgründen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vorgeführt</a:t>
            </a:r>
            <a:r>
              <a:rPr lang="en-US" dirty="0"/>
              <a:t> </a:t>
            </a:r>
            <a:r>
              <a:rPr lang="en-US" dirty="0" err="1"/>
              <a:t>wird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Savety</a:t>
            </a:r>
            <a:r>
              <a:rPr lang="en-US" dirty="0"/>
              <a:t> first.</a:t>
            </a:r>
          </a:p>
          <a:p>
            <a:pPr marL="139700" indent="0">
              <a:buNone/>
            </a:pPr>
            <a:r>
              <a:rPr lang="en-US" dirty="0"/>
              <a:t>Falls DEMO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irgendeinem</a:t>
            </a:r>
            <a:r>
              <a:rPr lang="en-US" dirty="0"/>
              <a:t> </a:t>
            </a:r>
            <a:r>
              <a:rPr lang="en-US" dirty="0" err="1"/>
              <a:t>Grund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Für</a:t>
            </a:r>
            <a:r>
              <a:rPr lang="en-US" dirty="0"/>
              <a:t> die PDF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Am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Story </a:t>
            </a:r>
            <a:r>
              <a:rPr lang="en-US" dirty="0" err="1"/>
              <a:t>verpacken</a:t>
            </a:r>
            <a:r>
              <a:rPr lang="en-US" dirty="0"/>
              <a:t>.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Web: Demo: </a:t>
            </a:r>
            <a:r>
              <a:rPr lang="en-US" dirty="0" err="1"/>
              <a:t>Hauptseite</a:t>
            </a:r>
            <a:r>
              <a:rPr lang="en-US" dirty="0"/>
              <a:t>, Filter </a:t>
            </a:r>
            <a:r>
              <a:rPr lang="en-US" dirty="0" err="1"/>
              <a:t>Beispiele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Mobile </a:t>
            </a:r>
            <a:r>
              <a:rPr lang="en-US" dirty="0" err="1"/>
              <a:t>Ansicht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schnell,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kurz</a:t>
            </a:r>
            <a:r>
              <a:rPr lang="en-US" dirty="0"/>
              <a:t> die </a:t>
            </a:r>
            <a:r>
              <a:rPr lang="en-US" dirty="0" err="1"/>
              <a:t>Reistrierung</a:t>
            </a:r>
            <a:r>
              <a:rPr lang="en-US" dirty="0"/>
              <a:t> und </a:t>
            </a:r>
            <a:r>
              <a:rPr lang="en-US" dirty="0" err="1"/>
              <a:t>Anmelde</a:t>
            </a:r>
            <a:r>
              <a:rPr lang="en-US" dirty="0"/>
              <a:t> </a:t>
            </a:r>
            <a:r>
              <a:rPr lang="en-US" dirty="0" err="1"/>
              <a:t>Maske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55404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Besondere</a:t>
            </a:r>
            <a:r>
              <a:rPr lang="en-US" dirty="0"/>
              <a:t> </a:t>
            </a:r>
            <a:r>
              <a:rPr lang="en-US" dirty="0" err="1"/>
              <a:t>teschniche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</a:t>
            </a:r>
            <a:r>
              <a:rPr lang="en-US" dirty="0" err="1"/>
              <a:t>Applikation</a:t>
            </a:r>
            <a:r>
              <a:rPr lang="en-US" dirty="0"/>
              <a:t>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. Web, Mobile,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9084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Entscheidung</a:t>
            </a:r>
            <a:r>
              <a:rPr lang="en-US" dirty="0"/>
              <a:t>: </a:t>
            </a:r>
            <a:r>
              <a:rPr lang="en-US" dirty="0" err="1"/>
              <a:t>Adminbereich</a:t>
            </a:r>
            <a:r>
              <a:rPr lang="en-US" dirty="0"/>
              <a:t> -&gt; phpMyAdmin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Next page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643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Technisk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gemeinsam</a:t>
            </a:r>
            <a:r>
              <a:rPr lang="en-US" dirty="0"/>
              <a:t> </a:t>
            </a:r>
            <a:r>
              <a:rPr lang="en-US" dirty="0" err="1"/>
              <a:t>erarbeitet</a:t>
            </a:r>
            <a:r>
              <a:rPr lang="en-US" dirty="0"/>
              <a:t>,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unser</a:t>
            </a:r>
            <a:r>
              <a:rPr lang="en-US" dirty="0"/>
              <a:t> Team (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wir</a:t>
            </a:r>
            <a:r>
              <a:rPr lang="en-US" dirty="0"/>
              <a:t> plus electron)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Technik: Angular (GUI), Ionic (</a:t>
            </a:r>
            <a:r>
              <a:rPr lang="en-US" dirty="0" err="1"/>
              <a:t>cordova</a:t>
            </a:r>
            <a:r>
              <a:rPr lang="en-US" dirty="0"/>
              <a:t>, Mobile App Builder), Electron (Desktop)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Falls Zeit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grobes</a:t>
            </a:r>
            <a:r>
              <a:rPr lang="en-US" dirty="0"/>
              <a:t> </a:t>
            </a:r>
            <a:r>
              <a:rPr lang="en-US" dirty="0" err="1"/>
              <a:t>technisches</a:t>
            </a:r>
            <a:r>
              <a:rPr lang="en-US" dirty="0"/>
              <a:t> </a:t>
            </a:r>
            <a:r>
              <a:rPr lang="en-US" dirty="0" err="1"/>
              <a:t>Verständnis</a:t>
            </a:r>
            <a:r>
              <a:rPr lang="en-US" dirty="0"/>
              <a:t> und </a:t>
            </a:r>
            <a:r>
              <a:rPr lang="en-US" dirty="0" err="1"/>
              <a:t>für</a:t>
            </a:r>
            <a:r>
              <a:rPr lang="en-US" dirty="0"/>
              <a:t> den </a:t>
            </a:r>
            <a:r>
              <a:rPr lang="en-US" dirty="0" err="1"/>
              <a:t>Unterschied</a:t>
            </a:r>
            <a:r>
              <a:rPr lang="en-US" dirty="0"/>
              <a:t> </a:t>
            </a:r>
            <a:r>
              <a:rPr lang="en-US" dirty="0" err="1"/>
              <a:t>architektur</a:t>
            </a:r>
            <a:r>
              <a:rPr lang="en-US" dirty="0"/>
              <a:t> </a:t>
            </a:r>
            <a:r>
              <a:rPr lang="en-US" dirty="0" err="1"/>
              <a:t>Bilder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der README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9993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Hauptaufgaben</a:t>
            </a:r>
            <a:r>
              <a:rPr lang="en-US" dirty="0"/>
              <a:t> die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:</a:t>
            </a:r>
          </a:p>
          <a:p>
            <a:pPr marL="368300" indent="-228600">
              <a:buAutoNum type="arabicPeriod"/>
            </a:pPr>
            <a:r>
              <a:rPr lang="en-US" dirty="0" err="1"/>
              <a:t>Restliche</a:t>
            </a:r>
            <a:r>
              <a:rPr lang="en-US" dirty="0"/>
              <a:t> Filter </a:t>
            </a:r>
            <a:r>
              <a:rPr lang="en-US" dirty="0" err="1"/>
              <a:t>definieren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 err="1"/>
              <a:t>Mehr</a:t>
            </a:r>
            <a:r>
              <a:rPr lang="en-US" dirty="0"/>
              <a:t> Demo </a:t>
            </a:r>
            <a:r>
              <a:rPr lang="en-US" dirty="0" err="1"/>
              <a:t>Daten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Detail </a:t>
            </a:r>
            <a:r>
              <a:rPr lang="en-US" dirty="0" err="1"/>
              <a:t>ansicht</a:t>
            </a:r>
            <a:r>
              <a:rPr lang="en-US" dirty="0"/>
              <a:t> </a:t>
            </a:r>
            <a:r>
              <a:rPr lang="en-US" dirty="0" err="1"/>
              <a:t>einzelner</a:t>
            </a:r>
            <a:r>
              <a:rPr lang="en-US" dirty="0"/>
              <a:t> Autos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Bewertung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95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Hoch </a:t>
            </a:r>
            <a:r>
              <a:rPr lang="en-US" dirty="0" err="1"/>
              <a:t>fragen</a:t>
            </a:r>
            <a:r>
              <a:rPr lang="en-US" dirty="0"/>
              <a:t>? (</a:t>
            </a:r>
            <a:r>
              <a:rPr lang="en-US" dirty="0" err="1"/>
              <a:t>Noch</a:t>
            </a:r>
            <a:r>
              <a:rPr lang="en-US" dirty="0"/>
              <a:t> Zeit?)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‹Nr.›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604364-4049-43BF-984A-48E60019012D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82D902-5CDC-48A2-8AD6-E690B8151991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D6BC1A-444B-4533-8C40-05730D684831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grpSp>
        <p:nvGrpSpPr>
          <p:cNvPr id="38" name="Gruppieren 15">
            <a:extLst>
              <a:ext uri="{FF2B5EF4-FFF2-40B4-BE49-F238E27FC236}">
                <a16:creationId xmlns:a16="http://schemas.microsoft.com/office/drawing/2014/main" id="{B4666526-6F3C-4F68-9808-5D51FF34FC17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39" name="Gruppieren 13">
              <a:extLst>
                <a:ext uri="{FF2B5EF4-FFF2-40B4-BE49-F238E27FC236}">
                  <a16:creationId xmlns:a16="http://schemas.microsoft.com/office/drawing/2014/main" id="{490496E6-45EA-4ADD-8609-EF43B884218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41" name="Grafik 2">
                <a:extLst>
                  <a:ext uri="{FF2B5EF4-FFF2-40B4-BE49-F238E27FC236}">
                    <a16:creationId xmlns:a16="http://schemas.microsoft.com/office/drawing/2014/main" id="{18EB6387-5BB9-4C1B-98F2-81C3CDB6502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42" name="Gruppieren 12">
                <a:extLst>
                  <a:ext uri="{FF2B5EF4-FFF2-40B4-BE49-F238E27FC236}">
                    <a16:creationId xmlns:a16="http://schemas.microsoft.com/office/drawing/2014/main" id="{A3B1CD16-691B-4B3E-B7A6-DF6916054B1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43" name="Textfeld 9">
                  <a:extLst>
                    <a:ext uri="{FF2B5EF4-FFF2-40B4-BE49-F238E27FC236}">
                      <a16:creationId xmlns:a16="http://schemas.microsoft.com/office/drawing/2014/main" id="{355EF4AF-F4F2-4220-AAB8-142C6B344CCF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44" name="Textfeld 11">
                  <a:extLst>
                    <a:ext uri="{FF2B5EF4-FFF2-40B4-BE49-F238E27FC236}">
                      <a16:creationId xmlns:a16="http://schemas.microsoft.com/office/drawing/2014/main" id="{3E40D9CA-8CAC-4BA2-BB35-AF3B3011EB95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40" name="Textfeld 14">
              <a:extLst>
                <a:ext uri="{FF2B5EF4-FFF2-40B4-BE49-F238E27FC236}">
                  <a16:creationId xmlns:a16="http://schemas.microsoft.com/office/drawing/2014/main" id="{76CBA897-18B7-4125-97EC-B4D5D234335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20" name="Gruppieren 15">
            <a:extLst>
              <a:ext uri="{FF2B5EF4-FFF2-40B4-BE49-F238E27FC236}">
                <a16:creationId xmlns:a16="http://schemas.microsoft.com/office/drawing/2014/main" id="{5360DD37-273B-F345-891D-DCA00C42662B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1" name="Gruppieren 13">
              <a:extLst>
                <a:ext uri="{FF2B5EF4-FFF2-40B4-BE49-F238E27FC236}">
                  <a16:creationId xmlns:a16="http://schemas.microsoft.com/office/drawing/2014/main" id="{655142C9-7AEB-5446-913A-D8702D8E5676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3" name="Grafik 2">
                <a:extLst>
                  <a:ext uri="{FF2B5EF4-FFF2-40B4-BE49-F238E27FC236}">
                    <a16:creationId xmlns:a16="http://schemas.microsoft.com/office/drawing/2014/main" id="{42FBB244-8DC8-CE47-A7DF-3846D4CEE1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4" name="Gruppieren 12">
                <a:extLst>
                  <a:ext uri="{FF2B5EF4-FFF2-40B4-BE49-F238E27FC236}">
                    <a16:creationId xmlns:a16="http://schemas.microsoft.com/office/drawing/2014/main" id="{393F72E8-F7F4-144D-8BD8-2ACB646732F5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5" name="Textfeld 9">
                  <a:extLst>
                    <a:ext uri="{FF2B5EF4-FFF2-40B4-BE49-F238E27FC236}">
                      <a16:creationId xmlns:a16="http://schemas.microsoft.com/office/drawing/2014/main" id="{FA6F23DE-008A-E94C-B4AF-BEF1B0D0C323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6" name="Textfeld 11">
                  <a:extLst>
                    <a:ext uri="{FF2B5EF4-FFF2-40B4-BE49-F238E27FC236}">
                      <a16:creationId xmlns:a16="http://schemas.microsoft.com/office/drawing/2014/main" id="{3B678B3A-01E0-4B4B-B4A4-DE75EE05CE3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2" name="Textfeld 14">
              <a:extLst>
                <a:ext uri="{FF2B5EF4-FFF2-40B4-BE49-F238E27FC236}">
                  <a16:creationId xmlns:a16="http://schemas.microsoft.com/office/drawing/2014/main" id="{8552E51F-6B4E-E84C-9220-A291E2EE858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065B052B-FE79-3D42-8E56-961B4EF27CF9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5F34A51-FF1D-3540-8BAA-C9119947FE96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FB2BF6C3-DEE6-294F-9F0B-53AEDD425E19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AAD68-D17D-461E-BF17-19C3D85675AF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AB65C4-4DAA-44E7-990E-FF7B4F560B25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E5E036-F03A-4A40-80A5-46C9CE7FFF6A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8" name="Gruppieren 15">
            <a:extLst>
              <a:ext uri="{FF2B5EF4-FFF2-40B4-BE49-F238E27FC236}">
                <a16:creationId xmlns:a16="http://schemas.microsoft.com/office/drawing/2014/main" id="{0854F103-C5AE-45BE-8C80-24B23EA59E45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19" name="Gruppieren 13">
              <a:extLst>
                <a:ext uri="{FF2B5EF4-FFF2-40B4-BE49-F238E27FC236}">
                  <a16:creationId xmlns:a16="http://schemas.microsoft.com/office/drawing/2014/main" id="{4895FB6F-35B7-4EEA-A12A-AA3A1BFEFB7E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1" name="Grafik 2">
                <a:extLst>
                  <a:ext uri="{FF2B5EF4-FFF2-40B4-BE49-F238E27FC236}">
                    <a16:creationId xmlns:a16="http://schemas.microsoft.com/office/drawing/2014/main" id="{C8379682-FBF8-47D6-B4E5-30A954BE2A8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2" name="Gruppieren 12">
                <a:extLst>
                  <a:ext uri="{FF2B5EF4-FFF2-40B4-BE49-F238E27FC236}">
                    <a16:creationId xmlns:a16="http://schemas.microsoft.com/office/drawing/2014/main" id="{BB0200B5-576B-4EED-A8E7-B59B232CCC7F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3" name="Textfeld 9">
                  <a:extLst>
                    <a:ext uri="{FF2B5EF4-FFF2-40B4-BE49-F238E27FC236}">
                      <a16:creationId xmlns:a16="http://schemas.microsoft.com/office/drawing/2014/main" id="{AE6F1098-02DF-4E76-BA13-D6B5A7895F1B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4" name="Textfeld 11">
                  <a:extLst>
                    <a:ext uri="{FF2B5EF4-FFF2-40B4-BE49-F238E27FC236}">
                      <a16:creationId xmlns:a16="http://schemas.microsoft.com/office/drawing/2014/main" id="{14CE7D0F-485E-40C6-ACD0-9B58C9B99693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0" name="Textfeld 14">
              <a:extLst>
                <a:ext uri="{FF2B5EF4-FFF2-40B4-BE49-F238E27FC236}">
                  <a16:creationId xmlns:a16="http://schemas.microsoft.com/office/drawing/2014/main" id="{E1943A1A-C8DE-4042-A1A4-8CF8E812061E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  <p:transition advTm="2021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</a:t>
            </a:r>
            <a:r>
              <a:rPr lang="en-US" sz="9600"/>
              <a:t>a</a:t>
            </a:r>
            <a:r>
              <a:rPr lang="en" sz="9600"/>
              <a:t>llo</a:t>
            </a:r>
            <a:r>
              <a:rPr lang="en" sz="9600" dirty="0"/>
              <a:t>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>
              <a:spcBef>
                <a:spcPts val="601"/>
              </a:spcBef>
            </a:pPr>
            <a:r>
              <a:rPr lang="en-US" spc="-1" dirty="0">
                <a:solidFill>
                  <a:srgbClr val="000000"/>
                </a:solidFill>
              </a:rPr>
              <a:t>Unser </a:t>
            </a:r>
            <a:r>
              <a:rPr lang="en-US" spc="-1" dirty="0" err="1">
                <a:solidFill>
                  <a:srgbClr val="000000"/>
                </a:solidFill>
              </a:rPr>
              <a:t>Auftrag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Prototypvorstellung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Entscheidungen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Aussichten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  <p:transition advTm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Auftrag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der </a:t>
            </a:r>
            <a:r>
              <a:rPr lang="en-US" dirty="0" err="1"/>
              <a:t>Ausgangslage</a:t>
            </a:r>
            <a:r>
              <a:rPr lang="en-US" dirty="0"/>
              <a:t> und </a:t>
            </a:r>
            <a:r>
              <a:rPr lang="en-US" dirty="0" err="1"/>
              <a:t>Zieldefinition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239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ud 15">
            <a:extLst>
              <a:ext uri="{FF2B5EF4-FFF2-40B4-BE49-F238E27FC236}">
                <a16:creationId xmlns:a16="http://schemas.microsoft.com/office/drawing/2014/main" id="{FE329A19-5DA2-4C3A-A497-2FAB37BB9D50}"/>
              </a:ext>
            </a:extLst>
          </p:cNvPr>
          <p:cNvSpPr/>
          <p:nvPr/>
        </p:nvSpPr>
        <p:spPr>
          <a:xfrm>
            <a:off x="2155237" y="1612356"/>
            <a:ext cx="5250240" cy="2745512"/>
          </a:xfrm>
          <a:prstGeom prst="cloud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60747-D4B7-4076-812F-1B2CDA895271}"/>
              </a:ext>
            </a:extLst>
          </p:cNvPr>
          <p:cNvSpPr/>
          <p:nvPr/>
        </p:nvSpPr>
        <p:spPr>
          <a:xfrm>
            <a:off x="10282057" y="3312265"/>
            <a:ext cx="400243" cy="870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</p:spPr>
        <p:txBody>
          <a:bodyPr/>
          <a:lstStyle/>
          <a:p>
            <a:r>
              <a:rPr lang="de-DE" dirty="0"/>
              <a:t>Geeignet?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A2103A-94E8-46BB-8FF6-E49C0518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53" y="3864902"/>
            <a:ext cx="290849" cy="290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3D096-88F0-403D-AB7A-CFF43253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753" y="3478537"/>
            <a:ext cx="290849" cy="2960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1486821-1AA3-4DB8-91ED-3B2863FBC2F7}"/>
              </a:ext>
            </a:extLst>
          </p:cNvPr>
          <p:cNvSpPr/>
          <p:nvPr/>
        </p:nvSpPr>
        <p:spPr>
          <a:xfrm>
            <a:off x="1189806" y="2949852"/>
            <a:ext cx="322475" cy="219776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691D4-5E6C-4E61-8602-B4F66439CD50}"/>
              </a:ext>
            </a:extLst>
          </p:cNvPr>
          <p:cNvSpPr/>
          <p:nvPr/>
        </p:nvSpPr>
        <p:spPr>
          <a:xfrm>
            <a:off x="1597255" y="2762142"/>
            <a:ext cx="499213" cy="375420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2A5BDE-3588-49D3-AA80-A29F7B642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026" y="4794250"/>
            <a:ext cx="1201197" cy="120119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D0AEA60-0256-DE49-975B-BD39D9E83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88" y="2736318"/>
            <a:ext cx="1329512" cy="2482114"/>
          </a:xfrm>
          <a:prstGeom prst="rect">
            <a:avLst/>
          </a:prstGeom>
        </p:spPr>
      </p:pic>
      <p:pic>
        <p:nvPicPr>
          <p:cNvPr id="19" name="Grafik 18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59662BE-AF42-BF44-AEA6-1ACBB775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499" y="2057821"/>
            <a:ext cx="564207" cy="1689842"/>
          </a:xfrm>
          <a:prstGeom prst="rect">
            <a:avLst/>
          </a:prstGeom>
        </p:spPr>
      </p:pic>
      <p:sp>
        <p:nvSpPr>
          <p:cNvPr id="20" name="Plus 19">
            <a:extLst>
              <a:ext uri="{FF2B5EF4-FFF2-40B4-BE49-F238E27FC236}">
                <a16:creationId xmlns:a16="http://schemas.microsoft.com/office/drawing/2014/main" id="{D9F06EE4-A9E2-C44F-8C7B-5A3CB854FCDD}"/>
              </a:ext>
            </a:extLst>
          </p:cNvPr>
          <p:cNvSpPr/>
          <p:nvPr/>
        </p:nvSpPr>
        <p:spPr>
          <a:xfrm>
            <a:off x="4862504" y="2687299"/>
            <a:ext cx="564207" cy="525106"/>
          </a:xfrm>
          <a:prstGeom prst="mathPlus">
            <a:avLst/>
          </a:prstGeom>
          <a:solidFill>
            <a:srgbClr val="818181"/>
          </a:solidFill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B29D134-EAA1-864E-B9FA-855589DFC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26" y="2546095"/>
            <a:ext cx="2115423" cy="71329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ACDE9E8-9AF5-1E44-8CA0-F98231B61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9269">
            <a:off x="4259505" y="2020363"/>
            <a:ext cx="314686" cy="5065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0FB1B03-E39D-3947-9D10-C2C9B6252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3523">
            <a:off x="6197205" y="1804569"/>
            <a:ext cx="314686" cy="50650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CDA6B0B-4219-8F41-BC6F-E6E677E8F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11502">
            <a:off x="5146276" y="1870952"/>
            <a:ext cx="314686" cy="5065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84D2196-7C17-A842-BD82-37A2D7B05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689" y="1994420"/>
            <a:ext cx="314686" cy="50650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4C0369-F857-204D-B2B9-11E210DD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4532">
            <a:off x="6325619" y="2425897"/>
            <a:ext cx="314686" cy="5065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05F5E08-98A5-AD43-9D4A-8E26A04D1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28826">
            <a:off x="5100900" y="3359097"/>
            <a:ext cx="314686" cy="5065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87A5F3B-DC6E-DB4C-B3D5-97FB805B7D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4504122" y="3322013"/>
            <a:ext cx="314686" cy="5065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B04858-1787-BC48-9FBE-0546CFED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3356137" y="3323642"/>
            <a:ext cx="314686" cy="5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  <p:transition advTm="195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D400-25DC-48D4-BDB8-9CE098B0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9405-DDF2-4B02-A776-B815CD4B6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E-Auto?</a:t>
            </a:r>
          </a:p>
          <a:p>
            <a:r>
              <a:rPr lang="en-US" dirty="0"/>
              <a:t>Welches E-Auto?</a:t>
            </a:r>
          </a:p>
          <a:p>
            <a:r>
              <a:rPr lang="en-US" dirty="0" err="1"/>
              <a:t>Worauf</a:t>
            </a:r>
            <a:r>
              <a:rPr lang="en-US" dirty="0"/>
              <a:t> muss man </a:t>
            </a:r>
            <a:r>
              <a:rPr lang="en-US" dirty="0" err="1"/>
              <a:t>achten</a:t>
            </a:r>
            <a:r>
              <a:rPr lang="en-US" dirty="0"/>
              <a:t>?</a:t>
            </a:r>
          </a:p>
          <a:p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mir</a:t>
            </a:r>
            <a:r>
              <a:rPr lang="en-US" dirty="0"/>
              <a:t> das </a:t>
            </a:r>
            <a:r>
              <a:rPr lang="en-US" dirty="0" err="1"/>
              <a:t>überhaupt</a:t>
            </a:r>
            <a:r>
              <a:rPr lang="en-US" dirty="0"/>
              <a:t> </a:t>
            </a:r>
            <a:r>
              <a:rPr lang="en-US" dirty="0" err="1"/>
              <a:t>leisten</a:t>
            </a:r>
            <a:r>
              <a:rPr lang="en-US" dirty="0"/>
              <a:t>?</a:t>
            </a:r>
          </a:p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FCDC-2A09-4C9D-A05A-F8CB7B1FE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8C17B-AA7C-4314-BFA1-87112082C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011" y="2989080"/>
            <a:ext cx="1201197" cy="1201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1FAA4-9155-4174-8957-24E687924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04" y="1958050"/>
            <a:ext cx="457506" cy="457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C6605-5DD4-48B6-983E-2F132263E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122" y="2672149"/>
            <a:ext cx="457506" cy="45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97513-75E6-4BDA-A974-6C7499BE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6239">
            <a:off x="8439712" y="1174592"/>
            <a:ext cx="457506" cy="45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C463D-EB5B-400E-B1FC-314B538C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06127">
            <a:off x="6820579" y="3062897"/>
            <a:ext cx="457506" cy="457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94D50-6954-4573-A16A-E6B140C4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73" y="2114244"/>
            <a:ext cx="457506" cy="45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A8E6A4-4966-4955-AD0E-18193B5E1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851" y="3582850"/>
            <a:ext cx="457506" cy="457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73A46-56FD-4776-9BF8-268B5A1D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950" y="1278922"/>
            <a:ext cx="457506" cy="4575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89623B-0AA5-474D-8664-2508B5090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89040">
            <a:off x="8659506" y="3157495"/>
            <a:ext cx="457506" cy="4575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4FFE4A-70D8-E648-ADF0-B4EBA8AB5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941" y="1096989"/>
            <a:ext cx="2158934" cy="29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4645"/>
      </p:ext>
    </p:extLst>
  </p:cSld>
  <p:clrMapOvr>
    <a:masterClrMapping/>
  </p:clrMapOvr>
  <p:transition advTm="21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Ihr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macht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einfach</a:t>
            </a:r>
            <a:r>
              <a:rPr lang="en-US" spc="-1" dirty="0">
                <a:solidFill>
                  <a:srgbClr val="000000"/>
                </a:solidFill>
              </a:rPr>
              <a:t> die </a:t>
            </a:r>
            <a:r>
              <a:rPr lang="en-US" spc="-1" dirty="0" err="1">
                <a:solidFill>
                  <a:srgbClr val="000000"/>
                </a:solidFill>
              </a:rPr>
              <a:t>geilste</a:t>
            </a:r>
            <a:r>
              <a:rPr lang="en-US" spc="-1" dirty="0">
                <a:solidFill>
                  <a:srgbClr val="000000"/>
                </a:solidFill>
              </a:rPr>
              <a:t> App der Welt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Elektroautos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  <p:transition advTm="209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Prototypen-vorstellung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Wie </a:t>
            </a:r>
            <a:r>
              <a:rPr lang="en-US" spc="-1" dirty="0" err="1"/>
              <a:t>weit</a:t>
            </a:r>
            <a:r>
              <a:rPr lang="en-US" spc="-1" dirty="0"/>
              <a:t> </a:t>
            </a:r>
            <a:r>
              <a:rPr lang="en-US" spc="-1" dirty="0" err="1"/>
              <a:t>sind</a:t>
            </a:r>
            <a:r>
              <a:rPr lang="en-US" spc="-1" dirty="0"/>
              <a:t> </a:t>
            </a:r>
            <a:r>
              <a:rPr lang="en-US" spc="-1" dirty="0" err="1"/>
              <a:t>wir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9A416D-8C9E-46C2-9472-98881DC67EB2}"/>
              </a:ext>
            </a:extLst>
          </p:cNvPr>
          <p:cNvGrpSpPr/>
          <p:nvPr/>
        </p:nvGrpSpPr>
        <p:grpSpPr>
          <a:xfrm>
            <a:off x="7480299" y="-511232"/>
            <a:ext cx="1825761" cy="2980532"/>
            <a:chOff x="7480299" y="-498532"/>
            <a:chExt cx="1825761" cy="29805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F9DB6D-EC6A-407B-BC38-834A9E4575C0}"/>
                </a:ext>
              </a:extLst>
            </p:cNvPr>
            <p:cNvSpPr/>
            <p:nvPr/>
          </p:nvSpPr>
          <p:spPr>
            <a:xfrm rot="2700000">
              <a:off x="7749296" y="925236"/>
              <a:ext cx="2519663" cy="59386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BC6571E-796D-474E-B9AC-6955C43C6D20}"/>
                </a:ext>
              </a:extLst>
            </p:cNvPr>
            <p:cNvSpPr/>
            <p:nvPr/>
          </p:nvSpPr>
          <p:spPr>
            <a:xfrm rot="10800000">
              <a:off x="7480299" y="124543"/>
              <a:ext cx="846417" cy="732705"/>
            </a:xfrm>
            <a:prstGeom prst="triangle">
              <a:avLst>
                <a:gd name="adj" fmla="val 11181"/>
              </a:avLst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 b="1" spc="60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34B3B5-6191-4132-99FB-4DB3376D7563}"/>
                </a:ext>
              </a:extLst>
            </p:cNvPr>
            <p:cNvSpPr/>
            <p:nvPr/>
          </p:nvSpPr>
          <p:spPr>
            <a:xfrm rot="2700000">
              <a:off x="7272683" y="464367"/>
              <a:ext cx="2519663" cy="593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600" dirty="0">
                  <a:latin typeface="Poppins" panose="020B0604020202020204" charset="0"/>
                  <a:cs typeface="Poppins" panose="020B0604020202020204" charset="0"/>
                </a:rPr>
                <a:t>DEMO</a:t>
              </a:r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  <p:transition advTm="188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0667-0BB5-416B-9DF3-70F98FE6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01602-80CD-42C6-8A06-79DC9E729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81076-4232-46C9-8D6A-6C816E942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329481"/>
      </p:ext>
    </p:extLst>
  </p:cSld>
  <p:clrMapOvr>
    <a:masterClrMapping/>
  </p:clrMapOvr>
  <p:transition advTm="219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CE9A215E-5E4B-40DC-9F5F-C3F0A5A283B9}"/>
              </a:ext>
            </a:extLst>
          </p:cNvPr>
          <p:cNvSpPr/>
          <p:nvPr/>
        </p:nvSpPr>
        <p:spPr>
          <a:xfrm>
            <a:off x="9144000" y="-1429664"/>
            <a:ext cx="5488525" cy="3415553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Driving-E-Car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E1C27-721B-43F5-BC79-2BF9601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79" y="3814780"/>
            <a:ext cx="761671" cy="1523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8DDF-C26B-4849-A4CB-DE302A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03" y="2080138"/>
            <a:ext cx="1032775" cy="1032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47623E-A92D-4FE5-BFF3-E87EF339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795" y="-317195"/>
            <a:ext cx="3452500" cy="20701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088E2B-03FB-4898-921D-9016CF75BB05}"/>
              </a:ext>
            </a:extLst>
          </p:cNvPr>
          <p:cNvSpPr/>
          <p:nvPr/>
        </p:nvSpPr>
        <p:spPr>
          <a:xfrm>
            <a:off x="12749023" y="-614141"/>
            <a:ext cx="734182" cy="117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CA06C3-9434-4294-8B0A-BF8E0C41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322" y="-145096"/>
            <a:ext cx="376727" cy="376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453B20-EB18-4322-9904-2970BDD52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5179" y="-538130"/>
            <a:ext cx="441870" cy="44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111254-2B8A-4EEE-AA34-0E64BED314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7227" b="14959"/>
          <a:stretch/>
        </p:blipFill>
        <p:spPr>
          <a:xfrm rot="5400000" flipH="1">
            <a:off x="12659324" y="389503"/>
            <a:ext cx="734182" cy="582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C3AFA9-0BB5-4A76-A26E-F9F96F5ED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703" y="3290654"/>
            <a:ext cx="1201197" cy="1201197"/>
          </a:xfrm>
          <a:prstGeom prst="rect">
            <a:avLst/>
          </a:prstGeom>
        </p:spPr>
      </p:pic>
      <p:sp>
        <p:nvSpPr>
          <p:cNvPr id="23" name="Heart 22">
            <a:extLst>
              <a:ext uri="{FF2B5EF4-FFF2-40B4-BE49-F238E27FC236}">
                <a16:creationId xmlns:a16="http://schemas.microsoft.com/office/drawing/2014/main" id="{F2FA11F2-5541-4ED8-A450-82B2D8D8EB19}"/>
              </a:ext>
            </a:extLst>
          </p:cNvPr>
          <p:cNvSpPr/>
          <p:nvPr/>
        </p:nvSpPr>
        <p:spPr>
          <a:xfrm>
            <a:off x="12444295" y="2388972"/>
            <a:ext cx="1343638" cy="1183578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72170B-F2A0-C749-8802-24A598A9B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306" y="2216099"/>
            <a:ext cx="4741229" cy="15986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F31D01-E32D-0441-A3EB-59A4738C5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69295">
            <a:off x="6094828" y="2693536"/>
            <a:ext cx="214287" cy="872384"/>
          </a:xfrm>
          <a:prstGeom prst="rect">
            <a:avLst/>
          </a:prstGeom>
        </p:spPr>
      </p:pic>
      <p:pic>
        <p:nvPicPr>
          <p:cNvPr id="16" name="Grafik 15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7F71EDB-4856-DF4F-890E-358CA65A5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" y="2975739"/>
            <a:ext cx="2447603" cy="22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80169"/>
      </p:ext>
    </p:extLst>
  </p:cSld>
  <p:clrMapOvr>
    <a:masterClrMapping/>
  </p:clrMapOvr>
  <p:transition advTm="211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Entscheidungen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8623"/>
      </p:ext>
    </p:extLst>
  </p:cSld>
  <p:clrMapOvr>
    <a:masterClrMapping/>
  </p:clrMapOvr>
  <p:transition advTm="252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</p:spTree>
  </p:cSld>
  <p:clrMapOvr>
    <a:masterClrMapping/>
  </p:clrMapOvr>
  <p:transition advTm="28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F4C8B9-5D6E-475E-BB24-44D0CF261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154CD-D602-489F-A690-E8715AC1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625" y="2214512"/>
            <a:ext cx="715341" cy="715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F51BAB-B172-4248-ABBE-007E3B67A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3DF5454-2016-483D-99B5-E838068FA08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0144" b="32176"/>
          <a:stretch/>
        </p:blipFill>
        <p:spPr>
          <a:xfrm>
            <a:off x="673388" y="2274655"/>
            <a:ext cx="1545427" cy="582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082E9-9AA0-4CF3-96AB-98D888BE2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2E503C-1E45-494D-880A-FBCC392BB8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50B76E-80ED-4260-9FF0-7CC4270DA2A5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40DB7-5F62-4459-B8AE-78A77242C20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07462-9D9B-4708-BEB4-F9B534E84795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0FD7EF-2D2B-4707-8A7D-B16321FF863A}"/>
              </a:ext>
            </a:extLst>
          </p:cNvPr>
          <p:cNvSpPr txBox="1"/>
          <p:nvPr/>
        </p:nvSpPr>
        <p:spPr>
          <a:xfrm>
            <a:off x="3106270" y="3266683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F41F69-8918-4ED8-BA78-671C4890304E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98EC2B-C9FE-4281-954F-C223DAE59D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75940"/>
      </p:ext>
    </p:extLst>
  </p:cSld>
  <p:clrMapOvr>
    <a:masterClrMapping/>
  </p:clrMapOvr>
  <p:transition advTm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Ausblick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Was </a:t>
            </a:r>
            <a:r>
              <a:rPr lang="en-US" spc="-1" dirty="0" err="1"/>
              <a:t>liegt</a:t>
            </a:r>
            <a:r>
              <a:rPr lang="en-US" spc="-1" dirty="0"/>
              <a:t> </a:t>
            </a:r>
            <a:r>
              <a:rPr lang="en-US" spc="-1" dirty="0" err="1"/>
              <a:t>noch</a:t>
            </a:r>
            <a:r>
              <a:rPr lang="en-US" spc="-1" dirty="0"/>
              <a:t> </a:t>
            </a:r>
            <a:r>
              <a:rPr lang="en-US" spc="-1" dirty="0" err="1"/>
              <a:t>vor</a:t>
            </a:r>
            <a:r>
              <a:rPr lang="en-US" spc="-1" dirty="0"/>
              <a:t> </a:t>
            </a:r>
            <a:r>
              <a:rPr lang="en-US" spc="-1" dirty="0" err="1"/>
              <a:t>uns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AC144-5B35-4BAC-8CB1-CB3DC61A4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BA0F8-5ECF-40C4-AC51-8E89A7ACF702}"/>
              </a:ext>
            </a:extLst>
          </p:cNvPr>
          <p:cNvGrpSpPr/>
          <p:nvPr/>
        </p:nvGrpSpPr>
        <p:grpSpPr>
          <a:xfrm>
            <a:off x="1216348" y="407601"/>
            <a:ext cx="2497473" cy="4328297"/>
            <a:chOff x="1216348" y="407601"/>
            <a:chExt cx="2497473" cy="432829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B5BC36-B1BE-41B0-8093-F5D0F153DADA}"/>
                </a:ext>
              </a:extLst>
            </p:cNvPr>
            <p:cNvGrpSpPr/>
            <p:nvPr/>
          </p:nvGrpSpPr>
          <p:grpSpPr>
            <a:xfrm>
              <a:off x="1517375" y="959561"/>
              <a:ext cx="1896672" cy="2975516"/>
              <a:chOff x="1517375" y="959561"/>
              <a:chExt cx="1896672" cy="29755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C151C0-2389-483B-9DE6-CE8BF36E15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40710"/>
              <a:stretch/>
            </p:blipFill>
            <p:spPr>
              <a:xfrm>
                <a:off x="1517375" y="959561"/>
                <a:ext cx="1896672" cy="20092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6CAA22-0677-4A02-AE7E-E074619BEC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3896"/>
              <a:stretch/>
            </p:blipFill>
            <p:spPr>
              <a:xfrm>
                <a:off x="1517375" y="3389331"/>
                <a:ext cx="1896672" cy="54574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5994EB-4EE6-462B-9C08-AAC07D56C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4677" b="22903"/>
              <a:stretch/>
            </p:blipFill>
            <p:spPr>
              <a:xfrm>
                <a:off x="1517375" y="2968860"/>
                <a:ext cx="1896672" cy="420866"/>
              </a:xfrm>
              <a:prstGeom prst="rect">
                <a:avLst/>
              </a:prstGeom>
            </p:spPr>
          </p:pic>
        </p:grp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9B8F6E41-1EEA-4172-A514-E9F17451C55A}"/>
                </a:ext>
              </a:extLst>
            </p:cNvPr>
            <p:cNvSpPr/>
            <p:nvPr/>
          </p:nvSpPr>
          <p:spPr>
            <a:xfrm>
              <a:off x="1216348" y="407601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702B5-B261-45FF-ABA1-07DD9300D47A}"/>
              </a:ext>
            </a:extLst>
          </p:cNvPr>
          <p:cNvGrpSpPr/>
          <p:nvPr/>
        </p:nvGrpSpPr>
        <p:grpSpPr>
          <a:xfrm>
            <a:off x="5430179" y="407995"/>
            <a:ext cx="2497473" cy="4328297"/>
            <a:chOff x="5430179" y="407995"/>
            <a:chExt cx="2497473" cy="432829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EDDF90-D07D-4A7C-9515-625BB93AAC52}"/>
                </a:ext>
              </a:extLst>
            </p:cNvPr>
            <p:cNvGrpSpPr/>
            <p:nvPr/>
          </p:nvGrpSpPr>
          <p:grpSpPr>
            <a:xfrm>
              <a:off x="5729952" y="959955"/>
              <a:ext cx="1904443" cy="2947677"/>
              <a:chOff x="5729952" y="959955"/>
              <a:chExt cx="1904443" cy="29476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A1FC245-2B5C-442A-8493-DFBE6E2CCED9}"/>
                  </a:ext>
                </a:extLst>
              </p:cNvPr>
              <p:cNvGrpSpPr/>
              <p:nvPr/>
            </p:nvGrpSpPr>
            <p:grpSpPr>
              <a:xfrm>
                <a:off x="5729952" y="959955"/>
                <a:ext cx="1903255" cy="2947677"/>
                <a:chOff x="5729952" y="959955"/>
                <a:chExt cx="1903255" cy="2947677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ACFA50-4275-4748-8F93-E4AED2146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35502" b="61544"/>
                <a:stretch/>
              </p:blipFill>
              <p:spPr>
                <a:xfrm>
                  <a:off x="5729952" y="3389726"/>
                  <a:ext cx="1896673" cy="517906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EE3AB1A-2EDD-4AC5-8C57-6F9AD18AA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28246"/>
                <a:stretch/>
              </p:blipFill>
              <p:spPr>
                <a:xfrm>
                  <a:off x="5736534" y="959955"/>
                  <a:ext cx="1896673" cy="2429771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5309C77-524C-4B89-A42F-26A839115C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96008" b="-6811"/>
              <a:stretch/>
            </p:blipFill>
            <p:spPr>
              <a:xfrm>
                <a:off x="5737722" y="3386545"/>
                <a:ext cx="1896673" cy="365836"/>
              </a:xfrm>
              <a:prstGeom prst="rect">
                <a:avLst/>
              </a:prstGeom>
            </p:spPr>
          </p:pic>
        </p:grpSp>
        <p:sp>
          <p:nvSpPr>
            <p:cNvPr id="14" name="CustomShape 5">
              <a:extLst>
                <a:ext uri="{FF2B5EF4-FFF2-40B4-BE49-F238E27FC236}">
                  <a16:creationId xmlns:a16="http://schemas.microsoft.com/office/drawing/2014/main" id="{B71A8171-D6E1-49C3-B693-D42377CEBC52}"/>
                </a:ext>
              </a:extLst>
            </p:cNvPr>
            <p:cNvSpPr/>
            <p:nvPr/>
          </p:nvSpPr>
          <p:spPr>
            <a:xfrm>
              <a:off x="5430179" y="407995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5144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Macintosh PowerPoint</Application>
  <PresentationFormat>Bildschirmpräsentation (16:9)</PresentationFormat>
  <Paragraphs>90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Poppins</vt:lpstr>
      <vt:lpstr>Poppins Light</vt:lpstr>
      <vt:lpstr>Cymbeline template</vt:lpstr>
      <vt:lpstr>driving-e-car</vt:lpstr>
      <vt:lpstr>Hallo!</vt:lpstr>
      <vt:lpstr>Agenda</vt:lpstr>
      <vt:lpstr>Unser Auftrag</vt:lpstr>
      <vt:lpstr>Geeignet?</vt:lpstr>
      <vt:lpstr>PowerPoint-Präsentation</vt:lpstr>
      <vt:lpstr>PowerPoint-Präsentation</vt:lpstr>
      <vt:lpstr>Prototypen-vorstellung</vt:lpstr>
      <vt:lpstr>PowerPoint-Präsentation</vt:lpstr>
      <vt:lpstr>Driving-E-Car</vt:lpstr>
      <vt:lpstr>Entscheidungen</vt:lpstr>
      <vt:lpstr>Big concept</vt:lpstr>
      <vt:lpstr>PowerPoint-Präsentation</vt:lpstr>
      <vt:lpstr>Ausblick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Simson Example</cp:lastModifiedBy>
  <cp:revision>55</cp:revision>
  <cp:lastPrinted>2018-12-13T11:32:07Z</cp:lastPrinted>
  <dcterms:modified xsi:type="dcterms:W3CDTF">2018-12-13T12:41:22Z</dcterms:modified>
</cp:coreProperties>
</file>