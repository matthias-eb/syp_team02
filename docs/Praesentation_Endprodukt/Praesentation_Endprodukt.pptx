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autoCompressPictures="0">
  <p:sldMasterIdLst>
    <p:sldMasterId id="2147483660" r:id="rId1"/>
  </p:sldMasterIdLst>
  <p:notesMasterIdLst>
    <p:notesMasterId r:id="rId23"/>
  </p:notesMasterIdLst>
  <p:sldIdLst>
    <p:sldId id="298" r:id="rId2"/>
    <p:sldId id="299" r:id="rId3"/>
    <p:sldId id="261" r:id="rId4"/>
    <p:sldId id="259" r:id="rId5"/>
    <p:sldId id="290" r:id="rId6"/>
    <p:sldId id="293" r:id="rId7"/>
    <p:sldId id="311" r:id="rId8"/>
    <p:sldId id="301" r:id="rId9"/>
    <p:sldId id="302" r:id="rId10"/>
    <p:sldId id="303" r:id="rId11"/>
    <p:sldId id="318" r:id="rId12"/>
    <p:sldId id="286" r:id="rId13"/>
    <p:sldId id="300" r:id="rId14"/>
    <p:sldId id="288" r:id="rId15"/>
    <p:sldId id="321" r:id="rId16"/>
    <p:sldId id="322" r:id="rId17"/>
    <p:sldId id="323" r:id="rId18"/>
    <p:sldId id="324" r:id="rId19"/>
    <p:sldId id="325" r:id="rId20"/>
    <p:sldId id="326" r:id="rId21"/>
    <p:sldId id="282" r:id="rId22"/>
  </p:sldIdLst>
  <p:sldSz cx="9144000" cy="5143500" type="screen16x9"/>
  <p:notesSz cx="6858000" cy="9144000"/>
  <p:embeddedFontLst>
    <p:embeddedFont>
      <p:font typeface="Poppins" pitchFamily="2" charset="77"/>
      <p:regular r:id="rId24"/>
      <p:bold r:id="rId25"/>
      <p:italic r:id="rId26"/>
      <p:boldItalic r:id="rId27"/>
    </p:embeddedFont>
    <p:embeddedFont>
      <p:font typeface="Poppins Light" pitchFamily="2" charset="77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18181"/>
    <a:srgbClr val="FF7171"/>
    <a:srgbClr val="898989"/>
    <a:srgbClr val="C1CD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FF19F3-2329-4E7B-B39F-E993869724D6}">
  <a:tblStyle styleId="{31FF19F3-2329-4E7B-B39F-E993869724D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68" autoAdjust="0"/>
    <p:restoredTop sz="73897" autoAdjust="0"/>
  </p:normalViewPr>
  <p:slideViewPr>
    <p:cSldViewPr snapToGrid="0" snapToObjects="1">
      <p:cViewPr varScale="1">
        <p:scale>
          <a:sx n="143" d="100"/>
          <a:sy n="143" d="100"/>
        </p:scale>
        <p:origin x="2912" y="51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Bildschirmschoner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de-DE" sz="1100" b="0" i="0" u="none" strike="noStrike" cap="none" baseline="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Matthias Eberlein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de-DE" sz="1100" b="0" i="0" u="none" strike="noStrike" cap="none" baseline="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Fahri Kus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de-DE" sz="1100" b="0" i="0" u="none" strike="noStrike" cap="none" baseline="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Simon </a:t>
            </a:r>
            <a:r>
              <a:rPr lang="de-DE" sz="1100" b="0" i="0" u="none" strike="noStrike" cap="none" baseline="0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Kreuziger</a:t>
            </a:r>
            <a:endParaRPr lang="de-DE" sz="1100" b="0" i="0" u="none" strike="noStrike" cap="none" baseline="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de-DE" sz="1100" b="0" i="0" u="none" strike="noStrike" cap="none" baseline="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Florian Heinrich</a:t>
            </a:r>
            <a:endParaRPr lang="en-DE" sz="1100" b="0" i="0" u="none" strike="noStrike" cap="none" baseline="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Wann</a:t>
            </a:r>
            <a:r>
              <a:rPr lang="en-US" dirty="0"/>
              <a:t> </a:t>
            </a:r>
            <a:r>
              <a:rPr lang="en-US" dirty="0" err="1"/>
              <a:t>Fragen</a:t>
            </a:r>
            <a:r>
              <a:rPr lang="en-US" dirty="0"/>
              <a:t> </a:t>
            </a:r>
            <a:r>
              <a:rPr lang="en-US" dirty="0" err="1"/>
              <a:t>stellen</a:t>
            </a:r>
            <a:r>
              <a:rPr lang="en-US" dirty="0"/>
              <a:t>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-&gt; Am Ende, </a:t>
            </a:r>
            <a:r>
              <a:rPr lang="en-US" dirty="0" err="1"/>
              <a:t>wenn</a:t>
            </a:r>
            <a:r>
              <a:rPr lang="en-US" dirty="0"/>
              <a:t> Zeit und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Verständis</a:t>
            </a:r>
            <a:r>
              <a:rPr lang="en-US" dirty="0"/>
              <a:t> </a:t>
            </a:r>
            <a:r>
              <a:rPr lang="en-US" dirty="0" err="1"/>
              <a:t>direkt</a:t>
            </a: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160127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dirty="0" err="1"/>
              <a:t>Besondere</a:t>
            </a:r>
            <a:r>
              <a:rPr lang="en-US" dirty="0"/>
              <a:t> </a:t>
            </a:r>
            <a:r>
              <a:rPr lang="en-US" dirty="0" err="1"/>
              <a:t>teschniche</a:t>
            </a:r>
            <a:r>
              <a:rPr lang="en-US" dirty="0"/>
              <a:t> </a:t>
            </a:r>
            <a:r>
              <a:rPr lang="en-US" dirty="0" err="1"/>
              <a:t>Herausforderung</a:t>
            </a:r>
            <a:r>
              <a:rPr lang="en-US" dirty="0"/>
              <a:t>: </a:t>
            </a:r>
            <a:r>
              <a:rPr lang="en-US" dirty="0" err="1"/>
              <a:t>Applikation</a:t>
            </a:r>
            <a:r>
              <a:rPr lang="en-US" dirty="0"/>
              <a:t> von </a:t>
            </a:r>
            <a:r>
              <a:rPr lang="en-US" dirty="0" err="1"/>
              <a:t>überall</a:t>
            </a:r>
            <a:r>
              <a:rPr lang="en-US" dirty="0"/>
              <a:t> </a:t>
            </a:r>
            <a:r>
              <a:rPr lang="en-US" dirty="0" err="1"/>
              <a:t>erreichbar</a:t>
            </a:r>
            <a:r>
              <a:rPr lang="en-US" dirty="0"/>
              <a:t>. Web, Mobile, etc.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0090844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Erwähnung von Referenz auf Vorstellung</a:t>
            </a:r>
          </a:p>
        </p:txBody>
      </p:sp>
    </p:spTree>
    <p:extLst>
      <p:ext uri="{BB962C8B-B14F-4D97-AF65-F5344CB8AC3E}">
        <p14:creationId xmlns:p14="http://schemas.microsoft.com/office/powerpoint/2010/main" val="9482740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Was war </a:t>
            </a:r>
            <a:r>
              <a:rPr lang="en-US" dirty="0" err="1"/>
              <a:t>gefordert</a:t>
            </a:r>
            <a:r>
              <a:rPr lang="en-US" dirty="0"/>
              <a:t>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Web, Mobile, (Desktop)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Aber </a:t>
            </a:r>
            <a:r>
              <a:rPr lang="en-US" dirty="0" err="1"/>
              <a:t>wie</a:t>
            </a:r>
            <a:r>
              <a:rPr lang="en-US" dirty="0"/>
              <a:t>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Basis Problem in </a:t>
            </a:r>
            <a:r>
              <a:rPr lang="de-DE" sz="1100" dirty="0" err="1"/>
              <a:t>Koorperation</a:t>
            </a:r>
            <a:r>
              <a:rPr lang="de-DE" sz="1100" dirty="0"/>
              <a:t> Team 03: "</a:t>
            </a:r>
            <a:r>
              <a:rPr lang="de-DE" sz="1100" dirty="0" err="1"/>
              <a:t>LogistGo</a:t>
            </a:r>
            <a:r>
              <a:rPr lang="de-DE" sz="1100" dirty="0"/>
              <a:t>"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dirty="0"/>
              <a:t>Problem </a:t>
            </a:r>
            <a:r>
              <a:rPr lang="en-US" dirty="0" err="1"/>
              <a:t>kurz</a:t>
            </a:r>
            <a:r>
              <a:rPr lang="en-US" dirty="0"/>
              <a:t> </a:t>
            </a:r>
            <a:r>
              <a:rPr lang="en-US" dirty="0" err="1"/>
              <a:t>näher</a:t>
            </a:r>
            <a:r>
              <a:rPr lang="en-US" dirty="0"/>
              <a:t> </a:t>
            </a:r>
            <a:r>
              <a:rPr lang="en-US" dirty="0" err="1"/>
              <a:t>bringen</a:t>
            </a:r>
            <a:endParaRPr lang="en-US" dirty="0"/>
          </a:p>
          <a:p>
            <a:pPr marL="139700" indent="0">
              <a:buNone/>
            </a:pPr>
            <a:r>
              <a:rPr lang="en-US" dirty="0"/>
              <a:t>Mobile, Web </a:t>
            </a:r>
            <a:r>
              <a:rPr lang="en-US" dirty="0" err="1"/>
              <a:t>arbeiten</a:t>
            </a:r>
            <a:r>
              <a:rPr lang="en-US" dirty="0"/>
              <a:t> </a:t>
            </a:r>
            <a:r>
              <a:rPr lang="en-US" dirty="0" err="1"/>
              <a:t>anders</a:t>
            </a:r>
            <a:r>
              <a:rPr lang="en-US" dirty="0"/>
              <a:t>, </a:t>
            </a:r>
            <a:r>
              <a:rPr lang="en-US" dirty="0" err="1"/>
              <a:t>anders</a:t>
            </a:r>
            <a:r>
              <a:rPr lang="en-US" dirty="0"/>
              <a:t> </a:t>
            </a:r>
            <a:r>
              <a:rPr lang="en-US" dirty="0" err="1"/>
              <a:t>Prinzip</a:t>
            </a:r>
            <a:endParaRPr lang="en-US" dirty="0"/>
          </a:p>
          <a:p>
            <a:pPr marL="139700" indent="0">
              <a:buNone/>
            </a:pPr>
            <a:endParaRPr lang="en-US" dirty="0"/>
          </a:p>
          <a:p>
            <a:pPr marL="368300" indent="-228600">
              <a:buAutoNum type="arabicPeriod"/>
            </a:pPr>
            <a:r>
              <a:rPr lang="en-US" dirty="0"/>
              <a:t>Mobile</a:t>
            </a:r>
          </a:p>
          <a:p>
            <a:pPr marL="368300" indent="-228600">
              <a:buAutoNum type="arabicPeriod"/>
            </a:pPr>
            <a:r>
              <a:rPr lang="en-US" dirty="0"/>
              <a:t>Web Browser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3531673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dirty="0" err="1"/>
              <a:t>Etwas</a:t>
            </a:r>
            <a:r>
              <a:rPr lang="en-US" dirty="0"/>
              <a:t> </a:t>
            </a:r>
            <a:r>
              <a:rPr lang="en-US" dirty="0" err="1"/>
              <a:t>langweilige</a:t>
            </a:r>
            <a:r>
              <a:rPr lang="en-US" dirty="0"/>
              <a:t> Part (</a:t>
            </a:r>
            <a:r>
              <a:rPr lang="en-US" dirty="0" err="1"/>
              <a:t>für</a:t>
            </a:r>
            <a:r>
              <a:rPr lang="en-US" dirty="0"/>
              <a:t> manche)</a:t>
            </a:r>
          </a:p>
          <a:p>
            <a:pPr marL="139700" indent="0">
              <a:buNone/>
            </a:pPr>
            <a:endParaRPr lang="en-US" dirty="0"/>
          </a:p>
          <a:p>
            <a:pPr marL="139700" indent="0">
              <a:buNone/>
            </a:pPr>
            <a:r>
              <a:rPr lang="en-US" dirty="0" err="1"/>
              <a:t>Freie</a:t>
            </a:r>
            <a:r>
              <a:rPr lang="en-US" dirty="0"/>
              <a:t> Software/Frameworks </a:t>
            </a:r>
            <a:r>
              <a:rPr lang="en-US" dirty="0" err="1"/>
              <a:t>erwünscht</a:t>
            </a:r>
            <a:endParaRPr lang="en-US" dirty="0"/>
          </a:p>
          <a:p>
            <a:pPr marL="139700" indent="0">
              <a:buNone/>
            </a:pPr>
            <a:endParaRPr lang="en-US" dirty="0"/>
          </a:p>
          <a:p>
            <a:pPr marL="139700" indent="0">
              <a:buNone/>
            </a:pPr>
            <a:r>
              <a:rPr lang="en-US" dirty="0" err="1"/>
              <a:t>Gute</a:t>
            </a:r>
            <a:r>
              <a:rPr lang="en-US" dirty="0"/>
              <a:t>, </a:t>
            </a:r>
            <a:r>
              <a:rPr lang="en-US" dirty="0" err="1"/>
              <a:t>renovierte</a:t>
            </a:r>
            <a:r>
              <a:rPr lang="en-US" dirty="0"/>
              <a:t>/</a:t>
            </a:r>
            <a:r>
              <a:rPr lang="en-US" dirty="0" err="1"/>
              <a:t>bewerte</a:t>
            </a:r>
            <a:r>
              <a:rPr lang="en-US" dirty="0"/>
              <a:t> Software/Framework:</a:t>
            </a:r>
          </a:p>
          <a:p>
            <a:pPr marL="139700" indent="0">
              <a:buNone/>
            </a:pPr>
            <a:r>
              <a:rPr lang="en-US" dirty="0"/>
              <a:t>  -&gt; </a:t>
            </a:r>
            <a:r>
              <a:rPr lang="en-US" dirty="0" err="1"/>
              <a:t>zeitlich</a:t>
            </a:r>
            <a:r>
              <a:rPr lang="en-US" dirty="0"/>
              <a:t> </a:t>
            </a:r>
            <a:r>
              <a:rPr lang="en-US" dirty="0" err="1"/>
              <a:t>realistisch</a:t>
            </a:r>
            <a:r>
              <a:rPr lang="en-US" dirty="0"/>
              <a:t>, da </a:t>
            </a:r>
            <a:r>
              <a:rPr lang="en-US" dirty="0" err="1"/>
              <a:t>nur</a:t>
            </a:r>
            <a:r>
              <a:rPr lang="en-US" dirty="0"/>
              <a:t> 1 Platform</a:t>
            </a:r>
          </a:p>
          <a:p>
            <a:pPr marL="139700" indent="0">
              <a:buNone/>
            </a:pPr>
            <a:r>
              <a:rPr lang="en-US" dirty="0"/>
              <a:t>  -&gt; </a:t>
            </a:r>
            <a:r>
              <a:rPr lang="en-US" dirty="0" err="1"/>
              <a:t>leichter</a:t>
            </a:r>
            <a:r>
              <a:rPr lang="en-US" dirty="0"/>
              <a:t> </a:t>
            </a:r>
            <a:r>
              <a:rPr lang="en-US" dirty="0" err="1"/>
              <a:t>erweiterbar</a:t>
            </a:r>
            <a:r>
              <a:rPr lang="en-US" dirty="0"/>
              <a:t>, </a:t>
            </a:r>
            <a:r>
              <a:rPr lang="en-US" dirty="0" err="1"/>
              <a:t>wartbar</a:t>
            </a:r>
            <a:endParaRPr lang="en-US" dirty="0"/>
          </a:p>
          <a:p>
            <a:pPr marL="457200" indent="-317500">
              <a:buFont typeface="Symbol" panose="05050102010706020507" pitchFamily="18" charset="2"/>
              <a:buChar char="Þ"/>
            </a:pPr>
            <a:r>
              <a:rPr lang="en-US" dirty="0" err="1"/>
              <a:t>später</a:t>
            </a:r>
            <a:r>
              <a:rPr lang="en-US" dirty="0"/>
              <a:t> </a:t>
            </a:r>
            <a:r>
              <a:rPr lang="en-US" dirty="0" err="1"/>
              <a:t>viel</a:t>
            </a:r>
            <a:r>
              <a:rPr lang="en-US" dirty="0"/>
              <a:t> Geld </a:t>
            </a:r>
            <a:r>
              <a:rPr lang="en-US" dirty="0" err="1"/>
              <a:t>einsparen</a:t>
            </a:r>
            <a:endParaRPr lang="en-US" dirty="0"/>
          </a:p>
          <a:p>
            <a:pPr marL="457200" indent="-317500">
              <a:buFont typeface="Symbol" panose="05050102010706020507" pitchFamily="18" charset="2"/>
              <a:buChar char="Þ"/>
            </a:pPr>
            <a:endParaRPr lang="en-US" dirty="0"/>
          </a:p>
          <a:p>
            <a:pPr marL="139700" indent="0">
              <a:buFont typeface="Symbol" panose="05050102010706020507" pitchFamily="18" charset="2"/>
              <a:buNone/>
            </a:pPr>
            <a:endParaRPr lang="en-US" dirty="0"/>
          </a:p>
          <a:p>
            <a:pPr marL="139700" indent="0">
              <a:buNone/>
            </a:pPr>
            <a:r>
              <a:rPr lang="en-US" dirty="0" err="1"/>
              <a:t>Durch</a:t>
            </a:r>
            <a:r>
              <a:rPr lang="en-US" dirty="0"/>
              <a:t> </a:t>
            </a:r>
            <a:r>
              <a:rPr lang="en-US" dirty="0" err="1"/>
              <a:t>diese</a:t>
            </a:r>
            <a:r>
              <a:rPr lang="en-US" dirty="0"/>
              <a:t> </a:t>
            </a:r>
            <a:r>
              <a:rPr lang="en-US" dirty="0" err="1"/>
              <a:t>Entscheidungen</a:t>
            </a:r>
            <a:r>
              <a:rPr lang="en-US" dirty="0"/>
              <a:t>, </a:t>
            </a:r>
            <a:r>
              <a:rPr lang="en-US" dirty="0" err="1"/>
              <a:t>wurde</a:t>
            </a:r>
            <a:r>
              <a:rPr lang="en-US" dirty="0"/>
              <a:t> das </a:t>
            </a:r>
            <a:r>
              <a:rPr lang="en-US" dirty="0" err="1"/>
              <a:t>Projekt</a:t>
            </a:r>
            <a:r>
              <a:rPr lang="en-US" dirty="0"/>
              <a:t> </a:t>
            </a:r>
            <a:r>
              <a:rPr lang="en-US" dirty="0" err="1"/>
              <a:t>erst</a:t>
            </a:r>
            <a:r>
              <a:rPr lang="en-US" dirty="0"/>
              <a:t>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einem</a:t>
            </a:r>
            <a:r>
              <a:rPr lang="en-US" dirty="0"/>
              <a:t> </a:t>
            </a:r>
            <a:r>
              <a:rPr lang="en-US" dirty="0" err="1"/>
              <a:t>zeitlich</a:t>
            </a:r>
            <a:r>
              <a:rPr lang="en-US" dirty="0"/>
              <a:t> </a:t>
            </a:r>
            <a:r>
              <a:rPr lang="en-US" dirty="0" err="1"/>
              <a:t>realistischen</a:t>
            </a:r>
            <a:r>
              <a:rPr lang="en-US" dirty="0"/>
              <a:t> </a:t>
            </a:r>
            <a:r>
              <a:rPr lang="en-US" dirty="0" err="1"/>
              <a:t>Projekt</a:t>
            </a:r>
            <a:r>
              <a:rPr lang="en-US" dirty="0"/>
              <a:t>, da </a:t>
            </a:r>
            <a:r>
              <a:rPr lang="en-US" dirty="0" err="1"/>
              <a:t>wir</a:t>
            </a:r>
            <a:r>
              <a:rPr lang="en-US" dirty="0"/>
              <a:t> </a:t>
            </a:r>
            <a:r>
              <a:rPr lang="en-US" dirty="0" err="1"/>
              <a:t>nicht</a:t>
            </a:r>
            <a:r>
              <a:rPr lang="en-US" dirty="0"/>
              <a:t> </a:t>
            </a:r>
            <a:r>
              <a:rPr lang="en-US" dirty="0" err="1"/>
              <a:t>viele</a:t>
            </a:r>
            <a:r>
              <a:rPr lang="en-US" dirty="0"/>
              <a:t> </a:t>
            </a:r>
            <a:r>
              <a:rPr lang="en-US" dirty="0" err="1"/>
              <a:t>Anwendungen</a:t>
            </a:r>
            <a:r>
              <a:rPr lang="en-US" dirty="0"/>
              <a:t> auf </a:t>
            </a:r>
            <a:r>
              <a:rPr lang="en-US" dirty="0" err="1"/>
              <a:t>verschiedenen</a:t>
            </a:r>
            <a:r>
              <a:rPr lang="en-US" dirty="0"/>
              <a:t> </a:t>
            </a:r>
            <a:r>
              <a:rPr lang="en-US" dirty="0" err="1"/>
              <a:t>Platformen</a:t>
            </a:r>
            <a:r>
              <a:rPr lang="en-US" dirty="0"/>
              <a:t> </a:t>
            </a:r>
            <a:r>
              <a:rPr lang="en-US" dirty="0" err="1"/>
              <a:t>entwickeln</a:t>
            </a:r>
            <a:r>
              <a:rPr lang="en-US" dirty="0"/>
              <a:t> </a:t>
            </a:r>
            <a:r>
              <a:rPr lang="en-US" dirty="0" err="1"/>
              <a:t>mussten</a:t>
            </a:r>
            <a:r>
              <a:rPr lang="en-US" dirty="0"/>
              <a:t>.</a:t>
            </a:r>
          </a:p>
          <a:p>
            <a:pPr marL="139700" indent="0">
              <a:buNone/>
            </a:pPr>
            <a:r>
              <a:rPr lang="en-US" dirty="0" err="1"/>
              <a:t>Zusätzlich</a:t>
            </a:r>
            <a:r>
              <a:rPr lang="en-US" dirty="0"/>
              <a:t> muss man </a:t>
            </a:r>
            <a:r>
              <a:rPr lang="en-US" dirty="0" err="1"/>
              <a:t>nur</a:t>
            </a:r>
            <a:r>
              <a:rPr lang="en-US" dirty="0"/>
              <a:t> </a:t>
            </a:r>
            <a:r>
              <a:rPr lang="en-US" dirty="0" err="1"/>
              <a:t>eine</a:t>
            </a:r>
            <a:r>
              <a:rPr lang="en-US" dirty="0"/>
              <a:t> </a:t>
            </a:r>
            <a:r>
              <a:rPr lang="en-US" dirty="0" err="1"/>
              <a:t>Applikation</a:t>
            </a:r>
            <a:r>
              <a:rPr lang="en-US" dirty="0"/>
              <a:t> </a:t>
            </a:r>
            <a:r>
              <a:rPr lang="en-US" dirty="0" err="1"/>
              <a:t>warten</a:t>
            </a:r>
            <a:r>
              <a:rPr lang="en-US" dirty="0"/>
              <a:t> und </a:t>
            </a:r>
            <a:r>
              <a:rPr lang="en-US" dirty="0" err="1"/>
              <a:t>pflegen</a:t>
            </a:r>
            <a:r>
              <a:rPr lang="en-US" dirty="0"/>
              <a:t>, </a:t>
            </a:r>
            <a:r>
              <a:rPr lang="en-US" dirty="0" err="1"/>
              <a:t>wodurch</a:t>
            </a:r>
            <a:r>
              <a:rPr lang="en-US" dirty="0"/>
              <a:t> </a:t>
            </a:r>
            <a:r>
              <a:rPr lang="en-US" dirty="0" err="1"/>
              <a:t>später</a:t>
            </a:r>
            <a:r>
              <a:rPr lang="en-US" dirty="0"/>
              <a:t> </a:t>
            </a:r>
            <a:r>
              <a:rPr lang="en-US" dirty="0" err="1"/>
              <a:t>viel</a:t>
            </a:r>
            <a:r>
              <a:rPr lang="en-US" dirty="0"/>
              <a:t> Geld </a:t>
            </a:r>
            <a:r>
              <a:rPr lang="en-US" dirty="0" err="1"/>
              <a:t>eingespart</a:t>
            </a:r>
            <a:r>
              <a:rPr lang="en-US" dirty="0"/>
              <a:t> </a:t>
            </a:r>
            <a:r>
              <a:rPr lang="en-US" dirty="0" err="1"/>
              <a:t>werden</a:t>
            </a:r>
            <a:r>
              <a:rPr lang="en-US" dirty="0"/>
              <a:t> </a:t>
            </a:r>
            <a:r>
              <a:rPr lang="en-US" dirty="0" err="1"/>
              <a:t>kann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184709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dirty="0" err="1"/>
              <a:t>Etwas</a:t>
            </a:r>
            <a:r>
              <a:rPr lang="en-US" dirty="0"/>
              <a:t> </a:t>
            </a:r>
            <a:r>
              <a:rPr lang="en-US" dirty="0" err="1"/>
              <a:t>langweilige</a:t>
            </a:r>
            <a:r>
              <a:rPr lang="en-US" dirty="0"/>
              <a:t> Part (</a:t>
            </a:r>
            <a:r>
              <a:rPr lang="en-US" dirty="0" err="1"/>
              <a:t>für</a:t>
            </a:r>
            <a:r>
              <a:rPr lang="en-US" dirty="0"/>
              <a:t> manche)</a:t>
            </a:r>
          </a:p>
          <a:p>
            <a:pPr marL="139700" indent="0">
              <a:buNone/>
            </a:pPr>
            <a:endParaRPr lang="en-US" dirty="0"/>
          </a:p>
          <a:p>
            <a:pPr marL="139700" indent="0">
              <a:buNone/>
            </a:pPr>
            <a:r>
              <a:rPr lang="en-US" dirty="0" err="1"/>
              <a:t>Freie</a:t>
            </a:r>
            <a:r>
              <a:rPr lang="en-US" dirty="0"/>
              <a:t> Software/Frameworks </a:t>
            </a:r>
            <a:r>
              <a:rPr lang="en-US" dirty="0" err="1"/>
              <a:t>erwünscht</a:t>
            </a:r>
            <a:endParaRPr lang="en-US" dirty="0"/>
          </a:p>
          <a:p>
            <a:pPr marL="139700" indent="0">
              <a:buNone/>
            </a:pPr>
            <a:endParaRPr lang="en-US" dirty="0"/>
          </a:p>
          <a:p>
            <a:pPr marL="139700" indent="0">
              <a:buNone/>
            </a:pPr>
            <a:r>
              <a:rPr lang="en-US" dirty="0" err="1"/>
              <a:t>Gute</a:t>
            </a:r>
            <a:r>
              <a:rPr lang="en-US" dirty="0"/>
              <a:t>, </a:t>
            </a:r>
            <a:r>
              <a:rPr lang="en-US" dirty="0" err="1"/>
              <a:t>renovierte</a:t>
            </a:r>
            <a:r>
              <a:rPr lang="en-US" dirty="0"/>
              <a:t>/</a:t>
            </a:r>
            <a:r>
              <a:rPr lang="en-US" dirty="0" err="1"/>
              <a:t>bewerte</a:t>
            </a:r>
            <a:r>
              <a:rPr lang="en-US" dirty="0"/>
              <a:t> Software/Framework:</a:t>
            </a:r>
          </a:p>
          <a:p>
            <a:pPr marL="139700" indent="0">
              <a:buNone/>
            </a:pPr>
            <a:r>
              <a:rPr lang="en-US" dirty="0"/>
              <a:t>  -&gt; </a:t>
            </a:r>
            <a:r>
              <a:rPr lang="en-US" dirty="0" err="1"/>
              <a:t>zeitlich</a:t>
            </a:r>
            <a:r>
              <a:rPr lang="en-US" dirty="0"/>
              <a:t> </a:t>
            </a:r>
            <a:r>
              <a:rPr lang="en-US" dirty="0" err="1"/>
              <a:t>realistisch</a:t>
            </a:r>
            <a:r>
              <a:rPr lang="en-US" dirty="0"/>
              <a:t>, da </a:t>
            </a:r>
            <a:r>
              <a:rPr lang="en-US" dirty="0" err="1"/>
              <a:t>nur</a:t>
            </a:r>
            <a:r>
              <a:rPr lang="en-US" dirty="0"/>
              <a:t> 1 Platform</a:t>
            </a:r>
          </a:p>
          <a:p>
            <a:pPr marL="139700" indent="0">
              <a:buNone/>
            </a:pPr>
            <a:r>
              <a:rPr lang="en-US" dirty="0"/>
              <a:t>  -&gt; </a:t>
            </a:r>
            <a:r>
              <a:rPr lang="en-US" dirty="0" err="1"/>
              <a:t>leichter</a:t>
            </a:r>
            <a:r>
              <a:rPr lang="en-US" dirty="0"/>
              <a:t> </a:t>
            </a:r>
            <a:r>
              <a:rPr lang="en-US" dirty="0" err="1"/>
              <a:t>erweiterbar</a:t>
            </a:r>
            <a:r>
              <a:rPr lang="en-US" dirty="0"/>
              <a:t>, </a:t>
            </a:r>
            <a:r>
              <a:rPr lang="en-US" dirty="0" err="1"/>
              <a:t>wartbar</a:t>
            </a:r>
            <a:endParaRPr lang="en-US" dirty="0"/>
          </a:p>
          <a:p>
            <a:pPr marL="457200" indent="-317500">
              <a:buFont typeface="Symbol" panose="05050102010706020507" pitchFamily="18" charset="2"/>
              <a:buChar char="Þ"/>
            </a:pPr>
            <a:r>
              <a:rPr lang="en-US" dirty="0" err="1"/>
              <a:t>später</a:t>
            </a:r>
            <a:r>
              <a:rPr lang="en-US" dirty="0"/>
              <a:t> </a:t>
            </a:r>
            <a:r>
              <a:rPr lang="en-US" dirty="0" err="1"/>
              <a:t>viel</a:t>
            </a:r>
            <a:r>
              <a:rPr lang="en-US" dirty="0"/>
              <a:t> Geld </a:t>
            </a:r>
            <a:r>
              <a:rPr lang="en-US" dirty="0" err="1"/>
              <a:t>einsparen</a:t>
            </a:r>
            <a:endParaRPr lang="en-US" dirty="0"/>
          </a:p>
          <a:p>
            <a:pPr marL="457200" indent="-317500">
              <a:buFont typeface="Symbol" panose="05050102010706020507" pitchFamily="18" charset="2"/>
              <a:buChar char="Þ"/>
            </a:pPr>
            <a:endParaRPr lang="en-US" dirty="0"/>
          </a:p>
          <a:p>
            <a:pPr marL="139700" indent="0">
              <a:buFont typeface="Symbol" panose="05050102010706020507" pitchFamily="18" charset="2"/>
              <a:buNone/>
            </a:pPr>
            <a:endParaRPr lang="en-US" dirty="0"/>
          </a:p>
          <a:p>
            <a:pPr marL="139700" indent="0">
              <a:buNone/>
            </a:pPr>
            <a:r>
              <a:rPr lang="en-US" dirty="0" err="1"/>
              <a:t>Durch</a:t>
            </a:r>
            <a:r>
              <a:rPr lang="en-US" dirty="0"/>
              <a:t> </a:t>
            </a:r>
            <a:r>
              <a:rPr lang="en-US" dirty="0" err="1"/>
              <a:t>diese</a:t>
            </a:r>
            <a:r>
              <a:rPr lang="en-US" dirty="0"/>
              <a:t> </a:t>
            </a:r>
            <a:r>
              <a:rPr lang="en-US" dirty="0" err="1"/>
              <a:t>Entscheidungen</a:t>
            </a:r>
            <a:r>
              <a:rPr lang="en-US" dirty="0"/>
              <a:t>, </a:t>
            </a:r>
            <a:r>
              <a:rPr lang="en-US" dirty="0" err="1"/>
              <a:t>wurde</a:t>
            </a:r>
            <a:r>
              <a:rPr lang="en-US" dirty="0"/>
              <a:t> das </a:t>
            </a:r>
            <a:r>
              <a:rPr lang="en-US" dirty="0" err="1"/>
              <a:t>Projekt</a:t>
            </a:r>
            <a:r>
              <a:rPr lang="en-US" dirty="0"/>
              <a:t> </a:t>
            </a:r>
            <a:r>
              <a:rPr lang="en-US" dirty="0" err="1"/>
              <a:t>erst</a:t>
            </a:r>
            <a:r>
              <a:rPr lang="en-US" dirty="0"/>
              <a:t>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einem</a:t>
            </a:r>
            <a:r>
              <a:rPr lang="en-US" dirty="0"/>
              <a:t> </a:t>
            </a:r>
            <a:r>
              <a:rPr lang="en-US" dirty="0" err="1"/>
              <a:t>zeitlich</a:t>
            </a:r>
            <a:r>
              <a:rPr lang="en-US" dirty="0"/>
              <a:t> </a:t>
            </a:r>
            <a:r>
              <a:rPr lang="en-US" dirty="0" err="1"/>
              <a:t>realistischen</a:t>
            </a:r>
            <a:r>
              <a:rPr lang="en-US" dirty="0"/>
              <a:t> </a:t>
            </a:r>
            <a:r>
              <a:rPr lang="en-US" dirty="0" err="1"/>
              <a:t>Projekt</a:t>
            </a:r>
            <a:r>
              <a:rPr lang="en-US" dirty="0"/>
              <a:t>, da </a:t>
            </a:r>
            <a:r>
              <a:rPr lang="en-US" dirty="0" err="1"/>
              <a:t>wir</a:t>
            </a:r>
            <a:r>
              <a:rPr lang="en-US" dirty="0"/>
              <a:t> </a:t>
            </a:r>
            <a:r>
              <a:rPr lang="en-US" dirty="0" err="1"/>
              <a:t>nicht</a:t>
            </a:r>
            <a:r>
              <a:rPr lang="en-US" dirty="0"/>
              <a:t> </a:t>
            </a:r>
            <a:r>
              <a:rPr lang="en-US" dirty="0" err="1"/>
              <a:t>viele</a:t>
            </a:r>
            <a:r>
              <a:rPr lang="en-US" dirty="0"/>
              <a:t> </a:t>
            </a:r>
            <a:r>
              <a:rPr lang="en-US" dirty="0" err="1"/>
              <a:t>Anwendungen</a:t>
            </a:r>
            <a:r>
              <a:rPr lang="en-US" dirty="0"/>
              <a:t> auf </a:t>
            </a:r>
            <a:r>
              <a:rPr lang="en-US" dirty="0" err="1"/>
              <a:t>verschiedenen</a:t>
            </a:r>
            <a:r>
              <a:rPr lang="en-US" dirty="0"/>
              <a:t> </a:t>
            </a:r>
            <a:r>
              <a:rPr lang="en-US" dirty="0" err="1"/>
              <a:t>Platformen</a:t>
            </a:r>
            <a:r>
              <a:rPr lang="en-US" dirty="0"/>
              <a:t> </a:t>
            </a:r>
            <a:r>
              <a:rPr lang="en-US" dirty="0" err="1"/>
              <a:t>entwickeln</a:t>
            </a:r>
            <a:r>
              <a:rPr lang="en-US" dirty="0"/>
              <a:t> </a:t>
            </a:r>
            <a:r>
              <a:rPr lang="en-US" dirty="0" err="1"/>
              <a:t>mussten</a:t>
            </a:r>
            <a:r>
              <a:rPr lang="en-US" dirty="0"/>
              <a:t>.</a:t>
            </a:r>
          </a:p>
          <a:p>
            <a:pPr marL="139700" indent="0">
              <a:buNone/>
            </a:pPr>
            <a:r>
              <a:rPr lang="en-US" dirty="0" err="1"/>
              <a:t>Zusätzlich</a:t>
            </a:r>
            <a:r>
              <a:rPr lang="en-US" dirty="0"/>
              <a:t> muss man </a:t>
            </a:r>
            <a:r>
              <a:rPr lang="en-US" dirty="0" err="1"/>
              <a:t>nur</a:t>
            </a:r>
            <a:r>
              <a:rPr lang="en-US" dirty="0"/>
              <a:t> </a:t>
            </a:r>
            <a:r>
              <a:rPr lang="en-US" dirty="0" err="1"/>
              <a:t>eine</a:t>
            </a:r>
            <a:r>
              <a:rPr lang="en-US" dirty="0"/>
              <a:t> </a:t>
            </a:r>
            <a:r>
              <a:rPr lang="en-US" dirty="0" err="1"/>
              <a:t>Applikation</a:t>
            </a:r>
            <a:r>
              <a:rPr lang="en-US" dirty="0"/>
              <a:t> </a:t>
            </a:r>
            <a:r>
              <a:rPr lang="en-US" dirty="0" err="1"/>
              <a:t>warten</a:t>
            </a:r>
            <a:r>
              <a:rPr lang="en-US" dirty="0"/>
              <a:t> und </a:t>
            </a:r>
            <a:r>
              <a:rPr lang="en-US" dirty="0" err="1"/>
              <a:t>pflegen</a:t>
            </a:r>
            <a:r>
              <a:rPr lang="en-US" dirty="0"/>
              <a:t>, </a:t>
            </a:r>
            <a:r>
              <a:rPr lang="en-US" dirty="0" err="1"/>
              <a:t>wodurch</a:t>
            </a:r>
            <a:r>
              <a:rPr lang="en-US" dirty="0"/>
              <a:t> </a:t>
            </a:r>
            <a:r>
              <a:rPr lang="en-US" dirty="0" err="1"/>
              <a:t>später</a:t>
            </a:r>
            <a:r>
              <a:rPr lang="en-US" dirty="0"/>
              <a:t> </a:t>
            </a:r>
            <a:r>
              <a:rPr lang="en-US" dirty="0" err="1"/>
              <a:t>viel</a:t>
            </a:r>
            <a:r>
              <a:rPr lang="en-US" dirty="0"/>
              <a:t> Geld </a:t>
            </a:r>
            <a:r>
              <a:rPr lang="en-US" dirty="0" err="1"/>
              <a:t>eingespart</a:t>
            </a:r>
            <a:r>
              <a:rPr lang="en-US" dirty="0"/>
              <a:t> </a:t>
            </a:r>
            <a:r>
              <a:rPr lang="en-US" dirty="0" err="1"/>
              <a:t>werden</a:t>
            </a:r>
            <a:r>
              <a:rPr lang="en-US" dirty="0"/>
              <a:t> </a:t>
            </a:r>
            <a:r>
              <a:rPr lang="en-US" dirty="0" err="1"/>
              <a:t>kann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522313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-DE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Fahri Opa Diesel</a:t>
            </a:r>
          </a:p>
          <a:p>
            <a:r>
              <a:rPr lang="de-DE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Menschen Städte Köln</a:t>
            </a:r>
          </a:p>
          <a:p>
            <a:r>
              <a:rPr lang="de-DE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Verbot für Diesel</a:t>
            </a:r>
          </a:p>
          <a:p>
            <a:r>
              <a:rPr lang="de-DE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Timing von </a:t>
            </a:r>
            <a:r>
              <a:rPr lang="de-DE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Jarzina</a:t>
            </a:r>
            <a:endParaRPr lang="de-DE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de-DE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Opa noch keine Idee</a:t>
            </a:r>
          </a:p>
          <a:p>
            <a:r>
              <a:rPr lang="de-DE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Aber neues Auto</a:t>
            </a:r>
          </a:p>
          <a:p>
            <a:r>
              <a:rPr lang="de-DE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Welche E-Autos (alle)</a:t>
            </a:r>
          </a:p>
          <a:p>
            <a:r>
              <a:rPr lang="de-DE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Welche E-Autos (aktuell)</a:t>
            </a:r>
          </a:p>
          <a:p>
            <a:r>
              <a:rPr lang="de-DE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Opas bedarf (Strecke pro Ladung)</a:t>
            </a:r>
          </a:p>
          <a:p>
            <a:r>
              <a:rPr lang="de-DE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Vorstellen unserer Hilfestellung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658917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US" spc="-1" dirty="0" err="1"/>
              <a:t>Machbarkeitsanalyse</a:t>
            </a:r>
            <a:r>
              <a:rPr lang="en-US" spc="-1" dirty="0"/>
              <a:t> und </a:t>
            </a:r>
            <a:r>
              <a:rPr lang="en-US" spc="-1" dirty="0" err="1"/>
              <a:t>Konzeption</a:t>
            </a:r>
            <a:endParaRPr lang="en-US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326435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Was </a:t>
            </a:r>
            <a:r>
              <a:rPr lang="en-US" dirty="0" err="1"/>
              <a:t>noch</a:t>
            </a:r>
            <a:r>
              <a:rPr lang="en-US" dirty="0"/>
              <a:t> </a:t>
            </a:r>
            <a:r>
              <a:rPr lang="en-US" dirty="0" err="1"/>
              <a:t>vor</a:t>
            </a:r>
            <a:r>
              <a:rPr lang="en-US" dirty="0"/>
              <a:t> </a:t>
            </a:r>
            <a:r>
              <a:rPr lang="en-US" dirty="0" err="1"/>
              <a:t>uns</a:t>
            </a:r>
            <a:r>
              <a:rPr lang="en-US" dirty="0"/>
              <a:t> </a:t>
            </a:r>
            <a:r>
              <a:rPr lang="en-US" dirty="0" err="1"/>
              <a:t>liegt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820578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Machbarkeitsanalyse</a:t>
            </a:r>
          </a:p>
          <a:p>
            <a:pPr marL="914400" marR="0" lvl="1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tabLst/>
              <a:defRPr/>
            </a:pPr>
            <a:r>
              <a:rPr lang="de-DE" dirty="0"/>
              <a:t>Demo Projekt (Kooperation Team 03 </a:t>
            </a:r>
            <a:r>
              <a:rPr lang="de-DE" dirty="0" err="1"/>
              <a:t>LogistGo</a:t>
            </a:r>
            <a:r>
              <a:rPr lang="de-DE" dirty="0"/>
              <a:t>)</a:t>
            </a:r>
          </a:p>
          <a:p>
            <a:r>
              <a:rPr lang="de-DE" dirty="0"/>
              <a:t>Lastenheft</a:t>
            </a:r>
          </a:p>
          <a:p>
            <a:pPr lvl="1"/>
            <a:r>
              <a:rPr lang="de-DE" dirty="0"/>
              <a:t>10 Seiten</a:t>
            </a:r>
          </a:p>
          <a:p>
            <a:pPr lvl="1"/>
            <a:r>
              <a:rPr lang="de-DE" dirty="0"/>
              <a:t>5 Versionen</a:t>
            </a:r>
          </a:p>
          <a:p>
            <a:pPr lvl="1"/>
            <a:r>
              <a:rPr lang="de-DE" dirty="0"/>
              <a:t>12 Lastenfälle</a:t>
            </a:r>
          </a:p>
          <a:p>
            <a:pPr lvl="2"/>
            <a:r>
              <a:rPr lang="de-DE" dirty="0"/>
              <a:t>2 Muss</a:t>
            </a:r>
          </a:p>
          <a:p>
            <a:pPr lvl="2"/>
            <a:r>
              <a:rPr lang="de-DE" dirty="0"/>
              <a:t>9 umgesetzte Optionale</a:t>
            </a:r>
          </a:p>
        </p:txBody>
      </p:sp>
    </p:spTree>
    <p:extLst>
      <p:ext uri="{BB962C8B-B14F-4D97-AF65-F5344CB8AC3E}">
        <p14:creationId xmlns:p14="http://schemas.microsoft.com/office/powerpoint/2010/main" val="36615054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Systemspezifikation</a:t>
            </a:r>
          </a:p>
          <a:p>
            <a:pPr lvl="1"/>
            <a:r>
              <a:rPr lang="de-DE" dirty="0"/>
              <a:t>13 Seiten</a:t>
            </a:r>
          </a:p>
          <a:p>
            <a:pPr lvl="1"/>
            <a:r>
              <a:rPr lang="de-DE" dirty="0"/>
              <a:t>6 Versionen</a:t>
            </a:r>
          </a:p>
          <a:p>
            <a:pPr lvl="1"/>
            <a:r>
              <a:rPr lang="de-DE" dirty="0"/>
              <a:t>7 Diagramme</a:t>
            </a:r>
          </a:p>
          <a:p>
            <a:pPr lvl="1"/>
            <a:r>
              <a:rPr lang="de-DE" dirty="0"/>
              <a:t>()</a:t>
            </a:r>
          </a:p>
          <a:p>
            <a:pPr lvl="1"/>
            <a:endParaRPr lang="de-DE" dirty="0"/>
          </a:p>
          <a:p>
            <a:r>
              <a:rPr lang="de-DE" dirty="0"/>
              <a:t>Systemarchitektur</a:t>
            </a:r>
          </a:p>
          <a:p>
            <a:pPr lvl="1"/>
            <a:r>
              <a:rPr lang="de-DE" dirty="0"/>
              <a:t>16 Seiten</a:t>
            </a:r>
          </a:p>
          <a:p>
            <a:pPr lvl="1"/>
            <a:r>
              <a:rPr lang="de-DE" dirty="0"/>
              <a:t>5 Versionen</a:t>
            </a:r>
          </a:p>
          <a:p>
            <a:pPr lvl="1"/>
            <a:endParaRPr lang="de-DE" dirty="0"/>
          </a:p>
          <a:p>
            <a:r>
              <a:rPr lang="de-DE" dirty="0"/>
              <a:t>Aufgabenverteilung</a:t>
            </a:r>
          </a:p>
          <a:p>
            <a:pPr lvl="1"/>
            <a:r>
              <a:rPr lang="de-DE" dirty="0"/>
              <a:t>3 Seiten</a:t>
            </a:r>
          </a:p>
          <a:p>
            <a:pPr lvl="1"/>
            <a:r>
              <a:rPr lang="de-DE" dirty="0"/>
              <a:t>4 Versionen</a:t>
            </a:r>
          </a:p>
          <a:p>
            <a:pPr lvl="1"/>
            <a:endParaRPr lang="de-DE" dirty="0"/>
          </a:p>
          <a:p>
            <a:r>
              <a:rPr lang="de-DE" dirty="0"/>
              <a:t>Zeitplanung</a:t>
            </a:r>
          </a:p>
          <a:p>
            <a:pPr lvl="1"/>
            <a:r>
              <a:rPr lang="de-DE" dirty="0"/>
              <a:t>4 Seiten</a:t>
            </a:r>
          </a:p>
          <a:p>
            <a:pPr lvl="1"/>
            <a:r>
              <a:rPr lang="de-DE" dirty="0"/>
              <a:t>5 Versionen</a:t>
            </a:r>
          </a:p>
        </p:txBody>
      </p:sp>
    </p:spTree>
    <p:extLst>
      <p:ext uri="{BB962C8B-B14F-4D97-AF65-F5344CB8AC3E}">
        <p14:creationId xmlns:p14="http://schemas.microsoft.com/office/powerpoint/2010/main" val="19298836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Prototypen-Präsentation</a:t>
            </a:r>
          </a:p>
          <a:p>
            <a:r>
              <a:rPr lang="de-DE" dirty="0"/>
              <a:t>Fertigstellung von ansehnlicher Anwendung mit Grundfunktionen</a:t>
            </a:r>
          </a:p>
          <a:p>
            <a:r>
              <a:rPr lang="de-DE" dirty="0"/>
              <a:t>Code: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574790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Testprotokoll</a:t>
            </a:r>
          </a:p>
          <a:p>
            <a:r>
              <a:rPr lang="de-DE" dirty="0"/>
              <a:t>Benutzerhandbuch</a:t>
            </a:r>
          </a:p>
          <a:p>
            <a:r>
              <a:rPr lang="de-DE" dirty="0"/>
              <a:t>Systemdokumentation</a:t>
            </a:r>
          </a:p>
          <a:p>
            <a:r>
              <a:rPr lang="de-DE" dirty="0" err="1"/>
              <a:t>Entwickerdokumentation</a:t>
            </a:r>
            <a:endParaRPr lang="de-DE" dirty="0"/>
          </a:p>
          <a:p>
            <a:r>
              <a:rPr lang="de-DE" dirty="0"/>
              <a:t>Endprodukt Präsentation</a:t>
            </a:r>
          </a:p>
        </p:txBody>
      </p:sp>
    </p:spTree>
    <p:extLst>
      <p:ext uri="{BB962C8B-B14F-4D97-AF65-F5344CB8AC3E}">
        <p14:creationId xmlns:p14="http://schemas.microsoft.com/office/powerpoint/2010/main" val="11469773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Übergabe an den Kunden</a:t>
            </a:r>
          </a:p>
        </p:txBody>
      </p:sp>
    </p:spTree>
    <p:extLst>
      <p:ext uri="{BB962C8B-B14F-4D97-AF65-F5344CB8AC3E}">
        <p14:creationId xmlns:p14="http://schemas.microsoft.com/office/powerpoint/2010/main" val="28495493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1ETCS entspricht 30h / Semester</a:t>
            </a:r>
          </a:p>
          <a:p>
            <a:r>
              <a:rPr lang="de-DE" dirty="0"/>
              <a:t>7ECTS = 210</a:t>
            </a:r>
          </a:p>
          <a:p>
            <a:r>
              <a:rPr lang="de-DE" dirty="0"/>
              <a:t>15h / Woche  = 300h / Semester</a:t>
            </a:r>
          </a:p>
        </p:txBody>
      </p:sp>
    </p:spTree>
    <p:extLst>
      <p:ext uri="{BB962C8B-B14F-4D97-AF65-F5344CB8AC3E}">
        <p14:creationId xmlns:p14="http://schemas.microsoft.com/office/powerpoint/2010/main" val="36689254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134fb1cf8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5" name="Google Shape;905;g134fb1cf8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Hoch </a:t>
            </a:r>
            <a:r>
              <a:rPr lang="en-US" dirty="0" err="1"/>
              <a:t>fragen</a:t>
            </a:r>
            <a:r>
              <a:rPr lang="en-US" dirty="0"/>
              <a:t>? (</a:t>
            </a:r>
            <a:r>
              <a:rPr lang="en-US" dirty="0" err="1"/>
              <a:t>Noch</a:t>
            </a:r>
            <a:r>
              <a:rPr lang="en-US" dirty="0"/>
              <a:t> Zeit?)</a:t>
            </a: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" userDrawn="1">
  <p:cSld name="TITLE">
    <p:bg>
      <p:bgPr>
        <a:blipFill dpi="0" rotWithShape="1">
          <a:blip r:embed="rId2">
            <a:alphaModFix amt="96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92400" y="-407850"/>
            <a:ext cx="5959200" cy="5959200"/>
          </a:xfrm>
          <a:prstGeom prst="ellipse">
            <a:avLst/>
          </a:prstGeom>
          <a:solidFill>
            <a:srgbClr val="000000">
              <a:alpha val="265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497195" y="-742443"/>
            <a:ext cx="2451351" cy="2451351"/>
            <a:chOff x="6680825" y="2549350"/>
            <a:chExt cx="1539600" cy="1539600"/>
          </a:xfrm>
        </p:grpSpPr>
        <p:sp>
          <p:nvSpPr>
            <p:cNvPr id="12" name="Google Shape;12;p2"/>
            <p:cNvSpPr/>
            <p:nvPr/>
          </p:nvSpPr>
          <p:spPr>
            <a:xfrm>
              <a:off x="6825669" y="2694194"/>
              <a:ext cx="1249800" cy="1249800"/>
            </a:xfrm>
            <a:prstGeom prst="ellipse">
              <a:avLst/>
            </a:prstGeom>
            <a:solidFill>
              <a:srgbClr val="000000">
                <a:alpha val="18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6894850" y="2763375"/>
              <a:ext cx="1111200" cy="11112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6680825" y="2549350"/>
              <a:ext cx="1539600" cy="1539600"/>
            </a:xfrm>
            <a:prstGeom prst="donut">
              <a:avLst>
                <a:gd name="adj" fmla="val 495"/>
              </a:avLst>
            </a:prstGeom>
            <a:solidFill>
              <a:srgbClr val="000000">
                <a:alpha val="65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" name="Google Shape;15;p2"/>
          <p:cNvGrpSpPr/>
          <p:nvPr/>
        </p:nvGrpSpPr>
        <p:grpSpPr>
          <a:xfrm>
            <a:off x="6756043" y="879453"/>
            <a:ext cx="2812887" cy="2812887"/>
            <a:chOff x="-474900" y="321200"/>
            <a:chExt cx="2324700" cy="2324700"/>
          </a:xfrm>
        </p:grpSpPr>
        <p:sp>
          <p:nvSpPr>
            <p:cNvPr id="16" name="Google Shape;16;p2"/>
            <p:cNvSpPr/>
            <p:nvPr/>
          </p:nvSpPr>
          <p:spPr>
            <a:xfrm>
              <a:off x="-474900" y="321200"/>
              <a:ext cx="2324700" cy="2324700"/>
            </a:xfrm>
            <a:prstGeom prst="ellipse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120725" y="916825"/>
              <a:ext cx="1133400" cy="1133400"/>
            </a:xfrm>
            <a:prstGeom prst="ellipse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-137125" y="658975"/>
              <a:ext cx="1649100" cy="1649100"/>
            </a:xfrm>
            <a:prstGeom prst="ellipse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313650" y="1109750"/>
              <a:ext cx="747600" cy="747600"/>
            </a:xfrm>
            <a:prstGeom prst="ellipse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" name="Google Shape;20;p2"/>
          <p:cNvSpPr txBox="1">
            <a:spLocks noGrp="1"/>
          </p:cNvSpPr>
          <p:nvPr>
            <p:ph type="ctrTitle"/>
          </p:nvPr>
        </p:nvSpPr>
        <p:spPr>
          <a:xfrm>
            <a:off x="2211600" y="1991850"/>
            <a:ext cx="4720800" cy="1159800"/>
          </a:xfrm>
          <a:prstGeom prst="rect">
            <a:avLst/>
          </a:prstGeom>
          <a:effectLst>
            <a:outerShdw blurRad="85725" dist="19050" dir="540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4BADED5-8571-7140-B42B-AA7FCF407294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‹Nr.›</a:t>
            </a:fld>
            <a:endParaRPr lang="de-DE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ECABCF9-0A50-4D7F-9CAA-DD89F64E8B4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296" y="-40340"/>
            <a:ext cx="1321059" cy="115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ubtitle">
  <p:cSld name="TITLE_1">
    <p:bg>
      <p:bgPr>
        <a:solidFill>
          <a:srgbClr val="C1CD91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3"/>
          <p:cNvGrpSpPr/>
          <p:nvPr/>
        </p:nvGrpSpPr>
        <p:grpSpPr>
          <a:xfrm>
            <a:off x="6427669" y="2502633"/>
            <a:ext cx="2324700" cy="2324700"/>
            <a:chOff x="-474900" y="321200"/>
            <a:chExt cx="2324700" cy="2324700"/>
          </a:xfrm>
        </p:grpSpPr>
        <p:sp>
          <p:nvSpPr>
            <p:cNvPr id="24" name="Google Shape;24;p3"/>
            <p:cNvSpPr/>
            <p:nvPr/>
          </p:nvSpPr>
          <p:spPr>
            <a:xfrm>
              <a:off x="-474900" y="321200"/>
              <a:ext cx="2324700" cy="2324700"/>
            </a:xfrm>
            <a:prstGeom prst="ellipse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120725" y="916825"/>
              <a:ext cx="1133400" cy="1133400"/>
            </a:xfrm>
            <a:prstGeom prst="ellipse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-137125" y="658975"/>
              <a:ext cx="1649100" cy="1649100"/>
            </a:xfrm>
            <a:prstGeom prst="ellipse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313650" y="1109750"/>
              <a:ext cx="747600" cy="747600"/>
            </a:xfrm>
            <a:prstGeom prst="ellipse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" name="Google Shape;22;p3"/>
          <p:cNvSpPr/>
          <p:nvPr/>
        </p:nvSpPr>
        <p:spPr>
          <a:xfrm>
            <a:off x="1592400" y="-407850"/>
            <a:ext cx="5959200" cy="595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ctrTitle" hasCustomPrompt="1"/>
          </p:nvPr>
        </p:nvSpPr>
        <p:spPr>
          <a:xfrm>
            <a:off x="2314477" y="2236800"/>
            <a:ext cx="4503279" cy="9567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9pPr>
          </a:lstStyle>
          <a:p>
            <a:r>
              <a:rPr lang="de-DE" dirty="0"/>
              <a:t>Okay</a:t>
            </a:r>
            <a:endParaRPr dirty="0"/>
          </a:p>
        </p:txBody>
      </p:sp>
      <p:sp>
        <p:nvSpPr>
          <p:cNvPr id="29" name="Google Shape;29;p3"/>
          <p:cNvSpPr txBox="1">
            <a:spLocks noGrp="1"/>
          </p:cNvSpPr>
          <p:nvPr>
            <p:ph type="subTitle" idx="1"/>
          </p:nvPr>
        </p:nvSpPr>
        <p:spPr>
          <a:xfrm>
            <a:off x="2314477" y="3188701"/>
            <a:ext cx="4503279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9pPr>
          </a:lstStyle>
          <a:p>
            <a:endParaRPr dirty="0"/>
          </a:p>
        </p:txBody>
      </p:sp>
      <p:grpSp>
        <p:nvGrpSpPr>
          <p:cNvPr id="30" name="Google Shape;30;p3"/>
          <p:cNvGrpSpPr/>
          <p:nvPr/>
        </p:nvGrpSpPr>
        <p:grpSpPr>
          <a:xfrm>
            <a:off x="764825" y="439375"/>
            <a:ext cx="1924500" cy="1924500"/>
            <a:chOff x="6680825" y="2549350"/>
            <a:chExt cx="1539600" cy="1539600"/>
          </a:xfrm>
        </p:grpSpPr>
        <p:sp>
          <p:nvSpPr>
            <p:cNvPr id="31" name="Google Shape;31;p3"/>
            <p:cNvSpPr/>
            <p:nvPr/>
          </p:nvSpPr>
          <p:spPr>
            <a:xfrm>
              <a:off x="6825669" y="2694194"/>
              <a:ext cx="1249800" cy="1249800"/>
            </a:xfrm>
            <a:prstGeom prst="ellipse">
              <a:avLst/>
            </a:prstGeom>
            <a:solidFill>
              <a:srgbClr val="666666">
                <a:alpha val="526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6894850" y="2763375"/>
              <a:ext cx="1111200" cy="1111200"/>
            </a:xfrm>
            <a:prstGeom prst="ellipse">
              <a:avLst/>
            </a:prstGeom>
            <a:solidFill>
              <a:srgbClr val="666666">
                <a:alpha val="526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6680825" y="2549350"/>
              <a:ext cx="1539600" cy="1539600"/>
            </a:xfrm>
            <a:prstGeom prst="donut">
              <a:avLst>
                <a:gd name="adj" fmla="val 495"/>
              </a:avLst>
            </a:prstGeom>
            <a:solidFill>
              <a:srgbClr val="666666">
                <a:alpha val="526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A8DD9467-8698-4427-8DF1-89714D9943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6644" y="3174681"/>
            <a:ext cx="1117120" cy="980553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CA604364-4049-43BF-984A-48E60019012D}"/>
              </a:ext>
            </a:extLst>
          </p:cNvPr>
          <p:cNvGrpSpPr/>
          <p:nvPr userDrawn="1"/>
        </p:nvGrpSpPr>
        <p:grpSpPr>
          <a:xfrm>
            <a:off x="0" y="4952538"/>
            <a:ext cx="9144000" cy="230832"/>
            <a:chOff x="0" y="4952538"/>
            <a:chExt cx="9144000" cy="230832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F82D902-5CDC-48A2-8AD6-E690B8151991}"/>
                </a:ext>
              </a:extLst>
            </p:cNvPr>
            <p:cNvSpPr/>
            <p:nvPr userDrawn="1"/>
          </p:nvSpPr>
          <p:spPr>
            <a:xfrm>
              <a:off x="0" y="5012713"/>
              <a:ext cx="9144000" cy="137243"/>
            </a:xfrm>
            <a:prstGeom prst="rect">
              <a:avLst/>
            </a:prstGeom>
            <a:solidFill>
              <a:srgbClr val="81818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5D6BC1A-444B-4533-8C40-05730D684831}"/>
                </a:ext>
              </a:extLst>
            </p:cNvPr>
            <p:cNvSpPr txBox="1"/>
            <p:nvPr userDrawn="1"/>
          </p:nvSpPr>
          <p:spPr>
            <a:xfrm>
              <a:off x="158548" y="4952538"/>
              <a:ext cx="882690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900" b="0" i="0" u="none" strike="noStrike" cap="none" baseline="0" dirty="0">
                  <a:solidFill>
                    <a:schemeClr val="bg1"/>
                  </a:solidFill>
                  <a:latin typeface="+mj-lt"/>
                  <a:cs typeface="Arial"/>
                  <a:sym typeface="Arial"/>
                </a:rPr>
                <a:t>Matthias Eberlein, Florian Heinrich, Fahri Kus, Simon </a:t>
              </a:r>
              <a:r>
                <a:rPr lang="de-DE" sz="900" b="0" i="0" u="none" strike="noStrike" cap="none" baseline="0" dirty="0" err="1">
                  <a:solidFill>
                    <a:schemeClr val="bg1"/>
                  </a:solidFill>
                  <a:latin typeface="+mj-lt"/>
                  <a:cs typeface="Arial"/>
                  <a:sym typeface="Arial"/>
                </a:rPr>
                <a:t>Kreuziger</a:t>
              </a:r>
              <a:endParaRPr lang="en-DE" sz="900" b="0" i="0" u="none" strike="noStrike" cap="none" baseline="0" dirty="0">
                <a:solidFill>
                  <a:schemeClr val="bg1"/>
                </a:solidFill>
                <a:latin typeface="+mj-lt"/>
                <a:cs typeface="Arial"/>
                <a:sym typeface="Arial"/>
              </a:endParaRPr>
            </a:p>
          </p:txBody>
        </p:sp>
      </p:grpSp>
      <p:grpSp>
        <p:nvGrpSpPr>
          <p:cNvPr id="38" name="Gruppieren 15">
            <a:extLst>
              <a:ext uri="{FF2B5EF4-FFF2-40B4-BE49-F238E27FC236}">
                <a16:creationId xmlns:a16="http://schemas.microsoft.com/office/drawing/2014/main" id="{B4666526-6F3C-4F68-9808-5D51FF34FC17}"/>
              </a:ext>
            </a:extLst>
          </p:cNvPr>
          <p:cNvGrpSpPr/>
          <p:nvPr userDrawn="1"/>
        </p:nvGrpSpPr>
        <p:grpSpPr>
          <a:xfrm>
            <a:off x="-6626" y="-67987"/>
            <a:ext cx="9161411" cy="239942"/>
            <a:chOff x="-6626" y="4955532"/>
            <a:chExt cx="9161411" cy="239942"/>
          </a:xfrm>
        </p:grpSpPr>
        <p:grpSp>
          <p:nvGrpSpPr>
            <p:cNvPr id="39" name="Gruppieren 13">
              <a:extLst>
                <a:ext uri="{FF2B5EF4-FFF2-40B4-BE49-F238E27FC236}">
                  <a16:creationId xmlns:a16="http://schemas.microsoft.com/office/drawing/2014/main" id="{490496E6-45EA-4ADD-8609-EF43B8842189}"/>
                </a:ext>
              </a:extLst>
            </p:cNvPr>
            <p:cNvGrpSpPr/>
            <p:nvPr userDrawn="1"/>
          </p:nvGrpSpPr>
          <p:grpSpPr>
            <a:xfrm>
              <a:off x="-6626" y="4955532"/>
              <a:ext cx="9154785" cy="239942"/>
              <a:chOff x="-6626" y="4955532"/>
              <a:chExt cx="9154785" cy="239942"/>
            </a:xfrm>
          </p:grpSpPr>
          <p:pic>
            <p:nvPicPr>
              <p:cNvPr id="41" name="Grafik 2">
                <a:extLst>
                  <a:ext uri="{FF2B5EF4-FFF2-40B4-BE49-F238E27FC236}">
                    <a16:creationId xmlns:a16="http://schemas.microsoft.com/office/drawing/2014/main" id="{18EB6387-5BB9-4C1B-98F2-81C3CDB6502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alphaModFix amt="90000"/>
              </a:blip>
              <a:stretch>
                <a:fillRect/>
              </a:stretch>
            </p:blipFill>
            <p:spPr>
              <a:xfrm>
                <a:off x="0" y="5017062"/>
                <a:ext cx="9148159" cy="126438"/>
              </a:xfrm>
              <a:prstGeom prst="rect">
                <a:avLst/>
              </a:prstGeom>
            </p:spPr>
          </p:pic>
          <p:grpSp>
            <p:nvGrpSpPr>
              <p:cNvPr id="42" name="Gruppieren 12">
                <a:extLst>
                  <a:ext uri="{FF2B5EF4-FFF2-40B4-BE49-F238E27FC236}">
                    <a16:creationId xmlns:a16="http://schemas.microsoft.com/office/drawing/2014/main" id="{A3B1CD16-691B-4B3E-B7A6-DF6916054B16}"/>
                  </a:ext>
                </a:extLst>
              </p:cNvPr>
              <p:cNvGrpSpPr/>
              <p:nvPr userDrawn="1"/>
            </p:nvGrpSpPr>
            <p:grpSpPr>
              <a:xfrm>
                <a:off x="-6626" y="4955532"/>
                <a:ext cx="6094347" cy="239942"/>
                <a:chOff x="-6626" y="4955532"/>
                <a:chExt cx="6094347" cy="239942"/>
              </a:xfrm>
            </p:grpSpPr>
            <p:sp>
              <p:nvSpPr>
                <p:cNvPr id="43" name="Textfeld 9">
                  <a:extLst>
                    <a:ext uri="{FF2B5EF4-FFF2-40B4-BE49-F238E27FC236}">
                      <a16:creationId xmlns:a16="http://schemas.microsoft.com/office/drawing/2014/main" id="{355EF4AF-F4F2-4220-AAB8-142C6B344CCF}"/>
                    </a:ext>
                  </a:extLst>
                </p:cNvPr>
                <p:cNvSpPr txBox="1"/>
                <p:nvPr userDrawn="1"/>
              </p:nvSpPr>
              <p:spPr>
                <a:xfrm>
                  <a:off x="-6626" y="4964642"/>
                  <a:ext cx="3062177" cy="230832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1">
                  <a:spAutoFit/>
                </a:bodyPr>
                <a:lstStyle/>
                <a:p>
                  <a:r>
                    <a:rPr lang="de-DE" sz="900" baseline="0" dirty="0">
                      <a:solidFill>
                        <a:schemeClr val="bg1"/>
                      </a:solidFill>
                      <a:latin typeface="+mj-lt"/>
                    </a:rPr>
                    <a:t>Technische Hochschule Köln Deutz</a:t>
                  </a:r>
                </a:p>
              </p:txBody>
            </p:sp>
            <p:sp>
              <p:nvSpPr>
                <p:cNvPr id="44" name="Textfeld 11">
                  <a:extLst>
                    <a:ext uri="{FF2B5EF4-FFF2-40B4-BE49-F238E27FC236}">
                      <a16:creationId xmlns:a16="http://schemas.microsoft.com/office/drawing/2014/main" id="{3E40D9CA-8CAC-4BA2-BB35-AF3B3011EB95}"/>
                    </a:ext>
                  </a:extLst>
                </p:cNvPr>
                <p:cNvSpPr txBox="1"/>
                <p:nvPr userDrawn="1"/>
              </p:nvSpPr>
              <p:spPr>
                <a:xfrm>
                  <a:off x="3056279" y="4955532"/>
                  <a:ext cx="3031442" cy="230832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1">
                  <a:spAutoFit/>
                </a:bodyPr>
                <a:lstStyle/>
                <a:p>
                  <a:r>
                    <a:rPr lang="de-DE" sz="900" dirty="0">
                      <a:solidFill>
                        <a:schemeClr val="bg1"/>
                      </a:solidFill>
                    </a:rPr>
                    <a:t>www.</a:t>
                  </a:r>
                  <a:r>
                    <a:rPr lang="de-DE" sz="900" baseline="0" dirty="0">
                      <a:solidFill>
                        <a:schemeClr val="bg1"/>
                      </a:solidFill>
                    </a:rPr>
                    <a:t>driving-e-car</a:t>
                  </a:r>
                  <a:r>
                    <a:rPr lang="de-DE" sz="900" dirty="0">
                      <a:solidFill>
                        <a:schemeClr val="bg1"/>
                      </a:solidFill>
                    </a:rPr>
                    <a:t>.de</a:t>
                  </a:r>
                </a:p>
              </p:txBody>
            </p:sp>
          </p:grpSp>
        </p:grpSp>
        <p:sp>
          <p:nvSpPr>
            <p:cNvPr id="40" name="Textfeld 14">
              <a:extLst>
                <a:ext uri="{FF2B5EF4-FFF2-40B4-BE49-F238E27FC236}">
                  <a16:creationId xmlns:a16="http://schemas.microsoft.com/office/drawing/2014/main" id="{76CBA897-18B7-4125-97EC-B4D5D2343355}"/>
                </a:ext>
              </a:extLst>
            </p:cNvPr>
            <p:cNvSpPr txBox="1"/>
            <p:nvPr userDrawn="1"/>
          </p:nvSpPr>
          <p:spPr>
            <a:xfrm>
              <a:off x="6112559" y="4963845"/>
              <a:ext cx="3042226" cy="230832"/>
            </a:xfrm>
            <a:prstGeom prst="rect">
              <a:avLst/>
            </a:prstGeom>
            <a:noFill/>
          </p:spPr>
          <p:txBody>
            <a:bodyPr wrap="square" rtlCol="0" anchor="ctr" anchorCtr="1">
              <a:spAutoFit/>
            </a:bodyPr>
            <a:lstStyle/>
            <a:p>
              <a:r>
                <a:rPr lang="de-DE" sz="900" baseline="0" dirty="0">
                  <a:solidFill>
                    <a:schemeClr val="bg1"/>
                  </a:solidFill>
                </a:rPr>
                <a:t>WS 18/19</a:t>
              </a: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/>
          <p:nvPr/>
        </p:nvSpPr>
        <p:spPr>
          <a:xfrm>
            <a:off x="6081700" y="764000"/>
            <a:ext cx="3615600" cy="3615600"/>
          </a:xfrm>
          <a:prstGeom prst="ellipse">
            <a:avLst/>
          </a:prstGeom>
          <a:noFill/>
          <a:ln w="9525" cap="flat" cmpd="sng">
            <a:solidFill>
              <a:srgbClr val="E8E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" name="Google Shape;47;p5"/>
          <p:cNvGrpSpPr/>
          <p:nvPr/>
        </p:nvGrpSpPr>
        <p:grpSpPr>
          <a:xfrm>
            <a:off x="-442731" y="337284"/>
            <a:ext cx="2324700" cy="2324700"/>
            <a:chOff x="-474900" y="321200"/>
            <a:chExt cx="2324700" cy="2324700"/>
          </a:xfrm>
        </p:grpSpPr>
        <p:sp>
          <p:nvSpPr>
            <p:cNvPr id="48" name="Google Shape;48;p5"/>
            <p:cNvSpPr/>
            <p:nvPr/>
          </p:nvSpPr>
          <p:spPr>
            <a:xfrm>
              <a:off x="-474900" y="321200"/>
              <a:ext cx="2324700" cy="23247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5"/>
            <p:cNvSpPr/>
            <p:nvPr/>
          </p:nvSpPr>
          <p:spPr>
            <a:xfrm>
              <a:off x="120725" y="916825"/>
              <a:ext cx="1133400" cy="11334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5"/>
            <p:cNvSpPr/>
            <p:nvPr/>
          </p:nvSpPr>
          <p:spPr>
            <a:xfrm>
              <a:off x="-137125" y="658975"/>
              <a:ext cx="1649100" cy="16491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>
              <a:off x="313650" y="1109750"/>
              <a:ext cx="747600" cy="7476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/>
          <p:nvPr/>
        </p:nvSpPr>
        <p:spPr>
          <a:xfrm>
            <a:off x="8556000" y="4576450"/>
            <a:ext cx="435600" cy="4356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title"/>
          </p:nvPr>
        </p:nvSpPr>
        <p:spPr>
          <a:xfrm>
            <a:off x="457200" y="1166125"/>
            <a:ext cx="5220300" cy="6831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1"/>
          </p:nvPr>
        </p:nvSpPr>
        <p:spPr>
          <a:xfrm>
            <a:off x="1069625" y="1958050"/>
            <a:ext cx="4608000" cy="2618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30200">
              <a:spcBef>
                <a:spcPts val="600"/>
              </a:spcBef>
              <a:spcAft>
                <a:spcPts val="0"/>
              </a:spcAft>
              <a:buSzPts val="1600"/>
              <a:buChar char="￮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￮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￮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555875" y="4576450"/>
            <a:ext cx="4356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6272900" y="955200"/>
            <a:ext cx="3233100" cy="3233100"/>
          </a:xfrm>
          <a:prstGeom prst="ellipse">
            <a:avLst/>
          </a:prstGeom>
          <a:solidFill>
            <a:srgbClr val="000000">
              <a:alpha val="653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preserve="1" userDrawn="1">
  <p:cSld name="1_Title + 1 colum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oogle Shape;47;p5"/>
          <p:cNvGrpSpPr/>
          <p:nvPr/>
        </p:nvGrpSpPr>
        <p:grpSpPr>
          <a:xfrm>
            <a:off x="-642354" y="-564237"/>
            <a:ext cx="2324700" cy="2324700"/>
            <a:chOff x="-474900" y="321200"/>
            <a:chExt cx="2324700" cy="2324700"/>
          </a:xfrm>
        </p:grpSpPr>
        <p:sp>
          <p:nvSpPr>
            <p:cNvPr id="48" name="Google Shape;48;p5"/>
            <p:cNvSpPr/>
            <p:nvPr/>
          </p:nvSpPr>
          <p:spPr>
            <a:xfrm>
              <a:off x="-474900" y="321200"/>
              <a:ext cx="2324700" cy="23247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5"/>
            <p:cNvSpPr/>
            <p:nvPr/>
          </p:nvSpPr>
          <p:spPr>
            <a:xfrm>
              <a:off x="120725" y="916825"/>
              <a:ext cx="1133400" cy="11334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5"/>
            <p:cNvSpPr/>
            <p:nvPr/>
          </p:nvSpPr>
          <p:spPr>
            <a:xfrm>
              <a:off x="-137125" y="658975"/>
              <a:ext cx="1649100" cy="16491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>
              <a:off x="313650" y="1109750"/>
              <a:ext cx="747600" cy="7476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/>
          <p:nvPr/>
        </p:nvSpPr>
        <p:spPr>
          <a:xfrm>
            <a:off x="8556000" y="4576450"/>
            <a:ext cx="435600" cy="4356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title"/>
          </p:nvPr>
        </p:nvSpPr>
        <p:spPr>
          <a:xfrm>
            <a:off x="257577" y="264604"/>
            <a:ext cx="5220300" cy="6831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555875" y="4576450"/>
            <a:ext cx="4356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  <p:grpSp>
        <p:nvGrpSpPr>
          <p:cNvPr id="14" name="Gruppieren 15">
            <a:extLst>
              <a:ext uri="{FF2B5EF4-FFF2-40B4-BE49-F238E27FC236}">
                <a16:creationId xmlns:a16="http://schemas.microsoft.com/office/drawing/2014/main" id="{3066C689-C62F-2B44-A163-48AE055627D2}"/>
              </a:ext>
            </a:extLst>
          </p:cNvPr>
          <p:cNvGrpSpPr/>
          <p:nvPr userDrawn="1"/>
        </p:nvGrpSpPr>
        <p:grpSpPr>
          <a:xfrm>
            <a:off x="-6626" y="-67987"/>
            <a:ext cx="9161411" cy="239942"/>
            <a:chOff x="-6626" y="4955532"/>
            <a:chExt cx="9161411" cy="239942"/>
          </a:xfrm>
        </p:grpSpPr>
        <p:grpSp>
          <p:nvGrpSpPr>
            <p:cNvPr id="15" name="Gruppieren 13">
              <a:extLst>
                <a:ext uri="{FF2B5EF4-FFF2-40B4-BE49-F238E27FC236}">
                  <a16:creationId xmlns:a16="http://schemas.microsoft.com/office/drawing/2014/main" id="{16EB3213-51C1-0447-9A2A-5435058F8AD2}"/>
                </a:ext>
              </a:extLst>
            </p:cNvPr>
            <p:cNvGrpSpPr/>
            <p:nvPr userDrawn="1"/>
          </p:nvGrpSpPr>
          <p:grpSpPr>
            <a:xfrm>
              <a:off x="-6626" y="4955532"/>
              <a:ext cx="9154785" cy="239942"/>
              <a:chOff x="-6626" y="4955532"/>
              <a:chExt cx="9154785" cy="239942"/>
            </a:xfrm>
          </p:grpSpPr>
          <p:pic>
            <p:nvPicPr>
              <p:cNvPr id="17" name="Grafik 2">
                <a:extLst>
                  <a:ext uri="{FF2B5EF4-FFF2-40B4-BE49-F238E27FC236}">
                    <a16:creationId xmlns:a16="http://schemas.microsoft.com/office/drawing/2014/main" id="{9CCB785F-F1AD-DC41-9E51-F54A0415D2C1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alphaModFix amt="90000"/>
              </a:blip>
              <a:stretch>
                <a:fillRect/>
              </a:stretch>
            </p:blipFill>
            <p:spPr>
              <a:xfrm>
                <a:off x="0" y="5017062"/>
                <a:ext cx="9148159" cy="126438"/>
              </a:xfrm>
              <a:prstGeom prst="rect">
                <a:avLst/>
              </a:prstGeom>
            </p:spPr>
          </p:pic>
          <p:grpSp>
            <p:nvGrpSpPr>
              <p:cNvPr id="18" name="Gruppieren 12">
                <a:extLst>
                  <a:ext uri="{FF2B5EF4-FFF2-40B4-BE49-F238E27FC236}">
                    <a16:creationId xmlns:a16="http://schemas.microsoft.com/office/drawing/2014/main" id="{BD7B6F5F-71A0-FE48-AEFD-B30AA492F689}"/>
                  </a:ext>
                </a:extLst>
              </p:cNvPr>
              <p:cNvGrpSpPr/>
              <p:nvPr userDrawn="1"/>
            </p:nvGrpSpPr>
            <p:grpSpPr>
              <a:xfrm>
                <a:off x="-6626" y="4955532"/>
                <a:ext cx="6094347" cy="239942"/>
                <a:chOff x="-6626" y="4955532"/>
                <a:chExt cx="6094347" cy="239942"/>
              </a:xfrm>
            </p:grpSpPr>
            <p:sp>
              <p:nvSpPr>
                <p:cNvPr id="19" name="Textfeld 9">
                  <a:extLst>
                    <a:ext uri="{FF2B5EF4-FFF2-40B4-BE49-F238E27FC236}">
                      <a16:creationId xmlns:a16="http://schemas.microsoft.com/office/drawing/2014/main" id="{2F9C161F-094B-6B4E-B65E-ED090A771009}"/>
                    </a:ext>
                  </a:extLst>
                </p:cNvPr>
                <p:cNvSpPr txBox="1"/>
                <p:nvPr userDrawn="1"/>
              </p:nvSpPr>
              <p:spPr>
                <a:xfrm>
                  <a:off x="-6626" y="4964642"/>
                  <a:ext cx="3062177" cy="230832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1">
                  <a:spAutoFit/>
                </a:bodyPr>
                <a:lstStyle/>
                <a:p>
                  <a:r>
                    <a:rPr lang="de-DE" sz="900" baseline="0" dirty="0">
                      <a:solidFill>
                        <a:schemeClr val="bg1"/>
                      </a:solidFill>
                      <a:latin typeface="+mj-lt"/>
                    </a:rPr>
                    <a:t>Technische Hochschule Köln Deutz</a:t>
                  </a:r>
                </a:p>
              </p:txBody>
            </p:sp>
            <p:sp>
              <p:nvSpPr>
                <p:cNvPr id="20" name="Textfeld 11">
                  <a:extLst>
                    <a:ext uri="{FF2B5EF4-FFF2-40B4-BE49-F238E27FC236}">
                      <a16:creationId xmlns:a16="http://schemas.microsoft.com/office/drawing/2014/main" id="{B40EBFFD-5FAE-DF47-94BF-7C05C5D1E0D1}"/>
                    </a:ext>
                  </a:extLst>
                </p:cNvPr>
                <p:cNvSpPr txBox="1"/>
                <p:nvPr userDrawn="1"/>
              </p:nvSpPr>
              <p:spPr>
                <a:xfrm>
                  <a:off x="3056279" y="4955532"/>
                  <a:ext cx="3031442" cy="230832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1">
                  <a:spAutoFit/>
                </a:bodyPr>
                <a:lstStyle/>
                <a:p>
                  <a:r>
                    <a:rPr lang="de-DE" sz="900" dirty="0">
                      <a:solidFill>
                        <a:schemeClr val="bg1"/>
                      </a:solidFill>
                    </a:rPr>
                    <a:t>www.</a:t>
                  </a:r>
                  <a:r>
                    <a:rPr lang="de-DE" sz="900" baseline="0" dirty="0">
                      <a:solidFill>
                        <a:schemeClr val="bg1"/>
                      </a:solidFill>
                    </a:rPr>
                    <a:t>driving-e-car</a:t>
                  </a:r>
                  <a:r>
                    <a:rPr lang="de-DE" sz="900" dirty="0">
                      <a:solidFill>
                        <a:schemeClr val="bg1"/>
                      </a:solidFill>
                    </a:rPr>
                    <a:t>.de</a:t>
                  </a:r>
                </a:p>
              </p:txBody>
            </p:sp>
          </p:grpSp>
        </p:grpSp>
        <p:sp>
          <p:nvSpPr>
            <p:cNvPr id="16" name="Textfeld 14">
              <a:extLst>
                <a:ext uri="{FF2B5EF4-FFF2-40B4-BE49-F238E27FC236}">
                  <a16:creationId xmlns:a16="http://schemas.microsoft.com/office/drawing/2014/main" id="{CFADE2D4-729B-A94F-A2CA-3B00B771BFBA}"/>
                </a:ext>
              </a:extLst>
            </p:cNvPr>
            <p:cNvSpPr txBox="1"/>
            <p:nvPr userDrawn="1"/>
          </p:nvSpPr>
          <p:spPr>
            <a:xfrm>
              <a:off x="6112559" y="4963845"/>
              <a:ext cx="3042226" cy="230832"/>
            </a:xfrm>
            <a:prstGeom prst="rect">
              <a:avLst/>
            </a:prstGeom>
            <a:noFill/>
          </p:spPr>
          <p:txBody>
            <a:bodyPr wrap="square" rtlCol="0" anchor="ctr" anchorCtr="1">
              <a:spAutoFit/>
            </a:bodyPr>
            <a:lstStyle/>
            <a:p>
              <a:r>
                <a:rPr lang="de-DE" sz="900" baseline="0" dirty="0">
                  <a:solidFill>
                    <a:schemeClr val="bg1"/>
                  </a:solidFill>
                </a:rPr>
                <a:t>WS 18/19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88938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 type A" type="blank">
  <p:cSld name="BLANK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/>
          <p:nvPr/>
        </p:nvSpPr>
        <p:spPr>
          <a:xfrm>
            <a:off x="764000" y="-1236275"/>
            <a:ext cx="7616100" cy="7616100"/>
          </a:xfrm>
          <a:prstGeom prst="ellipse">
            <a:avLst/>
          </a:prstGeom>
          <a:noFill/>
          <a:ln w="9525" cap="flat" cmpd="sng">
            <a:solidFill>
              <a:srgbClr val="E8E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1"/>
          <p:cNvSpPr/>
          <p:nvPr/>
        </p:nvSpPr>
        <p:spPr>
          <a:xfrm>
            <a:off x="1198300" y="-801975"/>
            <a:ext cx="6747000" cy="6747000"/>
          </a:xfrm>
          <a:prstGeom prst="ellipse">
            <a:avLst/>
          </a:prstGeom>
          <a:noFill/>
          <a:ln w="9525" cap="flat" cmpd="sng">
            <a:solidFill>
              <a:srgbClr val="E8E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1"/>
          <p:cNvSpPr/>
          <p:nvPr/>
        </p:nvSpPr>
        <p:spPr>
          <a:xfrm>
            <a:off x="2267900" y="267625"/>
            <a:ext cx="4608300" cy="4608300"/>
          </a:xfrm>
          <a:prstGeom prst="ellipse">
            <a:avLst/>
          </a:prstGeom>
          <a:noFill/>
          <a:ln w="9525" cap="flat" cmpd="sng">
            <a:solidFill>
              <a:srgbClr val="E8E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1"/>
          <p:cNvSpPr/>
          <p:nvPr/>
        </p:nvSpPr>
        <p:spPr>
          <a:xfrm>
            <a:off x="-704850" y="-2705100"/>
            <a:ext cx="10553700" cy="10553700"/>
          </a:xfrm>
          <a:prstGeom prst="donut">
            <a:avLst>
              <a:gd name="adj" fmla="val 10467"/>
            </a:avLst>
          </a:prstGeom>
          <a:solidFill>
            <a:srgbClr val="000000">
              <a:alpha val="653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1"/>
          <p:cNvSpPr/>
          <p:nvPr/>
        </p:nvSpPr>
        <p:spPr>
          <a:xfrm>
            <a:off x="8556000" y="4576450"/>
            <a:ext cx="435600" cy="4356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1"/>
          <p:cNvSpPr txBox="1">
            <a:spLocks noGrp="1"/>
          </p:cNvSpPr>
          <p:nvPr>
            <p:ph type="sldNum" idx="12"/>
          </p:nvPr>
        </p:nvSpPr>
        <p:spPr>
          <a:xfrm>
            <a:off x="8555875" y="4576450"/>
            <a:ext cx="4356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  <p:grpSp>
        <p:nvGrpSpPr>
          <p:cNvPr id="20" name="Gruppieren 15">
            <a:extLst>
              <a:ext uri="{FF2B5EF4-FFF2-40B4-BE49-F238E27FC236}">
                <a16:creationId xmlns:a16="http://schemas.microsoft.com/office/drawing/2014/main" id="{5360DD37-273B-F345-891D-DCA00C42662B}"/>
              </a:ext>
            </a:extLst>
          </p:cNvPr>
          <p:cNvGrpSpPr/>
          <p:nvPr userDrawn="1"/>
        </p:nvGrpSpPr>
        <p:grpSpPr>
          <a:xfrm>
            <a:off x="-6626" y="-67987"/>
            <a:ext cx="9161411" cy="239942"/>
            <a:chOff x="-6626" y="4955532"/>
            <a:chExt cx="9161411" cy="239942"/>
          </a:xfrm>
        </p:grpSpPr>
        <p:grpSp>
          <p:nvGrpSpPr>
            <p:cNvPr id="21" name="Gruppieren 13">
              <a:extLst>
                <a:ext uri="{FF2B5EF4-FFF2-40B4-BE49-F238E27FC236}">
                  <a16:creationId xmlns:a16="http://schemas.microsoft.com/office/drawing/2014/main" id="{655142C9-7AEB-5446-913A-D8702D8E5676}"/>
                </a:ext>
              </a:extLst>
            </p:cNvPr>
            <p:cNvGrpSpPr/>
            <p:nvPr userDrawn="1"/>
          </p:nvGrpSpPr>
          <p:grpSpPr>
            <a:xfrm>
              <a:off x="-6626" y="4955532"/>
              <a:ext cx="9154785" cy="239942"/>
              <a:chOff x="-6626" y="4955532"/>
              <a:chExt cx="9154785" cy="239942"/>
            </a:xfrm>
          </p:grpSpPr>
          <p:pic>
            <p:nvPicPr>
              <p:cNvPr id="23" name="Grafik 2">
                <a:extLst>
                  <a:ext uri="{FF2B5EF4-FFF2-40B4-BE49-F238E27FC236}">
                    <a16:creationId xmlns:a16="http://schemas.microsoft.com/office/drawing/2014/main" id="{42FBB244-8DC8-CE47-A7DF-3846D4CEE15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alphaModFix amt="90000"/>
              </a:blip>
              <a:stretch>
                <a:fillRect/>
              </a:stretch>
            </p:blipFill>
            <p:spPr>
              <a:xfrm>
                <a:off x="0" y="5017062"/>
                <a:ext cx="9148159" cy="126438"/>
              </a:xfrm>
              <a:prstGeom prst="rect">
                <a:avLst/>
              </a:prstGeom>
            </p:spPr>
          </p:pic>
          <p:grpSp>
            <p:nvGrpSpPr>
              <p:cNvPr id="24" name="Gruppieren 12">
                <a:extLst>
                  <a:ext uri="{FF2B5EF4-FFF2-40B4-BE49-F238E27FC236}">
                    <a16:creationId xmlns:a16="http://schemas.microsoft.com/office/drawing/2014/main" id="{393F72E8-F7F4-144D-8BD8-2ACB646732F5}"/>
                  </a:ext>
                </a:extLst>
              </p:cNvPr>
              <p:cNvGrpSpPr/>
              <p:nvPr userDrawn="1"/>
            </p:nvGrpSpPr>
            <p:grpSpPr>
              <a:xfrm>
                <a:off x="-6626" y="4955532"/>
                <a:ext cx="6094347" cy="239942"/>
                <a:chOff x="-6626" y="4955532"/>
                <a:chExt cx="6094347" cy="239942"/>
              </a:xfrm>
            </p:grpSpPr>
            <p:sp>
              <p:nvSpPr>
                <p:cNvPr id="25" name="Textfeld 9">
                  <a:extLst>
                    <a:ext uri="{FF2B5EF4-FFF2-40B4-BE49-F238E27FC236}">
                      <a16:creationId xmlns:a16="http://schemas.microsoft.com/office/drawing/2014/main" id="{FA6F23DE-008A-E94C-B4AF-BEF1B0D0C323}"/>
                    </a:ext>
                  </a:extLst>
                </p:cNvPr>
                <p:cNvSpPr txBox="1"/>
                <p:nvPr userDrawn="1"/>
              </p:nvSpPr>
              <p:spPr>
                <a:xfrm>
                  <a:off x="-6626" y="4964642"/>
                  <a:ext cx="3062177" cy="230832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1">
                  <a:spAutoFit/>
                </a:bodyPr>
                <a:lstStyle/>
                <a:p>
                  <a:r>
                    <a:rPr lang="de-DE" sz="900" baseline="0" dirty="0">
                      <a:solidFill>
                        <a:schemeClr val="bg1"/>
                      </a:solidFill>
                      <a:latin typeface="+mj-lt"/>
                    </a:rPr>
                    <a:t>Technische Hochschule Köln Deutz</a:t>
                  </a:r>
                </a:p>
              </p:txBody>
            </p:sp>
            <p:sp>
              <p:nvSpPr>
                <p:cNvPr id="26" name="Textfeld 11">
                  <a:extLst>
                    <a:ext uri="{FF2B5EF4-FFF2-40B4-BE49-F238E27FC236}">
                      <a16:creationId xmlns:a16="http://schemas.microsoft.com/office/drawing/2014/main" id="{3B678B3A-01E0-4B4B-B4A4-DE75EE05CE3F}"/>
                    </a:ext>
                  </a:extLst>
                </p:cNvPr>
                <p:cNvSpPr txBox="1"/>
                <p:nvPr userDrawn="1"/>
              </p:nvSpPr>
              <p:spPr>
                <a:xfrm>
                  <a:off x="3056279" y="4955532"/>
                  <a:ext cx="3031442" cy="230832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1">
                  <a:spAutoFit/>
                </a:bodyPr>
                <a:lstStyle/>
                <a:p>
                  <a:r>
                    <a:rPr lang="de-DE" sz="900" dirty="0">
                      <a:solidFill>
                        <a:schemeClr val="bg1"/>
                      </a:solidFill>
                    </a:rPr>
                    <a:t>www.</a:t>
                  </a:r>
                  <a:r>
                    <a:rPr lang="de-DE" sz="900" baseline="0" dirty="0">
                      <a:solidFill>
                        <a:schemeClr val="bg1"/>
                      </a:solidFill>
                    </a:rPr>
                    <a:t>driving-e-car</a:t>
                  </a:r>
                  <a:r>
                    <a:rPr lang="de-DE" sz="900" dirty="0">
                      <a:solidFill>
                        <a:schemeClr val="bg1"/>
                      </a:solidFill>
                    </a:rPr>
                    <a:t>.de</a:t>
                  </a:r>
                </a:p>
              </p:txBody>
            </p:sp>
          </p:grpSp>
        </p:grpSp>
        <p:sp>
          <p:nvSpPr>
            <p:cNvPr id="22" name="Textfeld 14">
              <a:extLst>
                <a:ext uri="{FF2B5EF4-FFF2-40B4-BE49-F238E27FC236}">
                  <a16:creationId xmlns:a16="http://schemas.microsoft.com/office/drawing/2014/main" id="{8552E51F-6B4E-E84C-9220-A291E2EE8587}"/>
                </a:ext>
              </a:extLst>
            </p:cNvPr>
            <p:cNvSpPr txBox="1"/>
            <p:nvPr userDrawn="1"/>
          </p:nvSpPr>
          <p:spPr>
            <a:xfrm>
              <a:off x="6112559" y="4963845"/>
              <a:ext cx="3042226" cy="230832"/>
            </a:xfrm>
            <a:prstGeom prst="rect">
              <a:avLst/>
            </a:prstGeom>
            <a:noFill/>
          </p:spPr>
          <p:txBody>
            <a:bodyPr wrap="square" rtlCol="0" anchor="ctr" anchorCtr="1">
              <a:spAutoFit/>
            </a:bodyPr>
            <a:lstStyle/>
            <a:p>
              <a:r>
                <a:rPr lang="de-DE" sz="900" baseline="0" dirty="0">
                  <a:solidFill>
                    <a:schemeClr val="bg1"/>
                  </a:solidFill>
                </a:rPr>
                <a:t>WS 18/19</a:t>
              </a:r>
            </a:p>
          </p:txBody>
        </p:sp>
      </p:grpSp>
      <p:grpSp>
        <p:nvGrpSpPr>
          <p:cNvPr id="27" name="Group 8">
            <a:extLst>
              <a:ext uri="{FF2B5EF4-FFF2-40B4-BE49-F238E27FC236}">
                <a16:creationId xmlns:a16="http://schemas.microsoft.com/office/drawing/2014/main" id="{065B052B-FE79-3D42-8E56-961B4EF27CF9}"/>
              </a:ext>
            </a:extLst>
          </p:cNvPr>
          <p:cNvGrpSpPr/>
          <p:nvPr userDrawn="1"/>
        </p:nvGrpSpPr>
        <p:grpSpPr>
          <a:xfrm>
            <a:off x="0" y="4952538"/>
            <a:ext cx="9144000" cy="230832"/>
            <a:chOff x="0" y="4952538"/>
            <a:chExt cx="9144000" cy="230832"/>
          </a:xfrm>
        </p:grpSpPr>
        <p:sp>
          <p:nvSpPr>
            <p:cNvPr id="28" name="Rectangle 4">
              <a:extLst>
                <a:ext uri="{FF2B5EF4-FFF2-40B4-BE49-F238E27FC236}">
                  <a16:creationId xmlns:a16="http://schemas.microsoft.com/office/drawing/2014/main" id="{F5F34A51-FF1D-3540-8BAA-C9119947FE96}"/>
                </a:ext>
              </a:extLst>
            </p:cNvPr>
            <p:cNvSpPr/>
            <p:nvPr userDrawn="1"/>
          </p:nvSpPr>
          <p:spPr>
            <a:xfrm>
              <a:off x="0" y="5012713"/>
              <a:ext cx="9144000" cy="137243"/>
            </a:xfrm>
            <a:prstGeom prst="rect">
              <a:avLst/>
            </a:prstGeom>
            <a:solidFill>
              <a:srgbClr val="81818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29" name="TextBox 3">
              <a:extLst>
                <a:ext uri="{FF2B5EF4-FFF2-40B4-BE49-F238E27FC236}">
                  <a16:creationId xmlns:a16="http://schemas.microsoft.com/office/drawing/2014/main" id="{FB2BF6C3-DEE6-294F-9F0B-53AEDD425E19}"/>
                </a:ext>
              </a:extLst>
            </p:cNvPr>
            <p:cNvSpPr txBox="1"/>
            <p:nvPr userDrawn="1"/>
          </p:nvSpPr>
          <p:spPr>
            <a:xfrm>
              <a:off x="158548" y="4952538"/>
              <a:ext cx="882690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900" b="0" i="0" u="none" strike="noStrike" cap="none" baseline="0" dirty="0">
                  <a:solidFill>
                    <a:schemeClr val="bg1"/>
                  </a:solidFill>
                  <a:latin typeface="+mj-lt"/>
                  <a:cs typeface="Arial"/>
                  <a:sym typeface="Arial"/>
                </a:rPr>
                <a:t>Matthias Eberlein, Florian Heinrich, Fahri Kus, Simon </a:t>
              </a:r>
              <a:r>
                <a:rPr lang="de-DE" sz="900" b="0" i="0" u="none" strike="noStrike" cap="none" baseline="0" dirty="0" err="1">
                  <a:solidFill>
                    <a:schemeClr val="bg1"/>
                  </a:solidFill>
                  <a:latin typeface="+mj-lt"/>
                  <a:cs typeface="Arial"/>
                  <a:sym typeface="Arial"/>
                </a:rPr>
                <a:t>Kreuziger</a:t>
              </a:r>
              <a:endParaRPr lang="en-DE" sz="900" b="0" i="0" u="none" strike="noStrike" cap="none" baseline="0" dirty="0">
                <a:solidFill>
                  <a:schemeClr val="bg1"/>
                </a:solidFill>
                <a:latin typeface="+mj-lt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type B">
  <p:cSld name="BLANK_2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2"/>
          <p:cNvSpPr/>
          <p:nvPr/>
        </p:nvSpPr>
        <p:spPr>
          <a:xfrm>
            <a:off x="8556000" y="4576450"/>
            <a:ext cx="435600" cy="4356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12"/>
          <p:cNvSpPr txBox="1">
            <a:spLocks noGrp="1"/>
          </p:cNvSpPr>
          <p:nvPr>
            <p:ph type="sldNum" idx="12"/>
          </p:nvPr>
        </p:nvSpPr>
        <p:spPr>
          <a:xfrm>
            <a:off x="8555875" y="4576450"/>
            <a:ext cx="4356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  <p:grpSp>
        <p:nvGrpSpPr>
          <p:cNvPr id="124" name="Google Shape;124;p12"/>
          <p:cNvGrpSpPr/>
          <p:nvPr/>
        </p:nvGrpSpPr>
        <p:grpSpPr>
          <a:xfrm>
            <a:off x="818844" y="502333"/>
            <a:ext cx="2324700" cy="2324700"/>
            <a:chOff x="-474900" y="321200"/>
            <a:chExt cx="2324700" cy="2324700"/>
          </a:xfrm>
        </p:grpSpPr>
        <p:sp>
          <p:nvSpPr>
            <p:cNvPr id="125" name="Google Shape;125;p12"/>
            <p:cNvSpPr/>
            <p:nvPr/>
          </p:nvSpPr>
          <p:spPr>
            <a:xfrm>
              <a:off x="-474900" y="321200"/>
              <a:ext cx="2324700" cy="23247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2"/>
            <p:cNvSpPr/>
            <p:nvPr/>
          </p:nvSpPr>
          <p:spPr>
            <a:xfrm>
              <a:off x="120725" y="916825"/>
              <a:ext cx="1133400" cy="11334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2"/>
            <p:cNvSpPr/>
            <p:nvPr/>
          </p:nvSpPr>
          <p:spPr>
            <a:xfrm>
              <a:off x="-137125" y="658975"/>
              <a:ext cx="1649100" cy="16491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2"/>
            <p:cNvSpPr/>
            <p:nvPr/>
          </p:nvSpPr>
          <p:spPr>
            <a:xfrm>
              <a:off x="313650" y="1109750"/>
              <a:ext cx="747600" cy="7476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9" name="Google Shape;129;p12"/>
          <p:cNvSpPr/>
          <p:nvPr/>
        </p:nvSpPr>
        <p:spPr>
          <a:xfrm>
            <a:off x="1794525" y="-407900"/>
            <a:ext cx="5959200" cy="5959200"/>
          </a:xfrm>
          <a:prstGeom prst="ellipse">
            <a:avLst/>
          </a:prstGeom>
          <a:solidFill>
            <a:srgbClr val="000000">
              <a:alpha val="653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 preserve="1">
  <p:cSld name="1_Title + 1 colum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/>
          <p:nvPr/>
        </p:nvSpPr>
        <p:spPr>
          <a:xfrm>
            <a:off x="4874715" y="337284"/>
            <a:ext cx="4608000" cy="4421433"/>
          </a:xfrm>
          <a:prstGeom prst="ellipse">
            <a:avLst/>
          </a:prstGeom>
          <a:noFill/>
          <a:ln w="9525" cap="flat" cmpd="sng">
            <a:solidFill>
              <a:srgbClr val="E8E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" name="Google Shape;47;p5"/>
          <p:cNvGrpSpPr/>
          <p:nvPr/>
        </p:nvGrpSpPr>
        <p:grpSpPr>
          <a:xfrm>
            <a:off x="-442731" y="337284"/>
            <a:ext cx="2324700" cy="2324700"/>
            <a:chOff x="-474900" y="321200"/>
            <a:chExt cx="2324700" cy="2324700"/>
          </a:xfrm>
        </p:grpSpPr>
        <p:sp>
          <p:nvSpPr>
            <p:cNvPr id="48" name="Google Shape;48;p5"/>
            <p:cNvSpPr/>
            <p:nvPr/>
          </p:nvSpPr>
          <p:spPr>
            <a:xfrm>
              <a:off x="-474900" y="321200"/>
              <a:ext cx="2324700" cy="23247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5"/>
            <p:cNvSpPr/>
            <p:nvPr/>
          </p:nvSpPr>
          <p:spPr>
            <a:xfrm>
              <a:off x="120725" y="916825"/>
              <a:ext cx="1133400" cy="11334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5"/>
            <p:cNvSpPr/>
            <p:nvPr/>
          </p:nvSpPr>
          <p:spPr>
            <a:xfrm>
              <a:off x="-137125" y="658975"/>
              <a:ext cx="1649100" cy="16491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>
              <a:off x="313650" y="1109750"/>
              <a:ext cx="747600" cy="7476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/>
          <p:nvPr/>
        </p:nvSpPr>
        <p:spPr>
          <a:xfrm>
            <a:off x="8556000" y="4576450"/>
            <a:ext cx="435600" cy="4356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title"/>
          </p:nvPr>
        </p:nvSpPr>
        <p:spPr>
          <a:xfrm>
            <a:off x="457200" y="1166125"/>
            <a:ext cx="5220300" cy="6831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 dirty="0"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1"/>
          </p:nvPr>
        </p:nvSpPr>
        <p:spPr>
          <a:xfrm>
            <a:off x="1069625" y="1958050"/>
            <a:ext cx="4608000" cy="2618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30200">
              <a:spcBef>
                <a:spcPts val="600"/>
              </a:spcBef>
              <a:spcAft>
                <a:spcPts val="0"/>
              </a:spcAft>
              <a:buSzPts val="1600"/>
              <a:buChar char="￮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￮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￮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555875" y="4576450"/>
            <a:ext cx="4356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5170902" y="613735"/>
            <a:ext cx="4120513" cy="3953682"/>
          </a:xfrm>
          <a:prstGeom prst="ellipse">
            <a:avLst/>
          </a:prstGeom>
          <a:solidFill>
            <a:srgbClr val="000000">
              <a:alpha val="653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1509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1AFAAD68-D17D-461E-BF17-19C3D85675AF}"/>
              </a:ext>
            </a:extLst>
          </p:cNvPr>
          <p:cNvGrpSpPr/>
          <p:nvPr userDrawn="1"/>
        </p:nvGrpSpPr>
        <p:grpSpPr>
          <a:xfrm>
            <a:off x="0" y="4952538"/>
            <a:ext cx="9144000" cy="230832"/>
            <a:chOff x="0" y="4952538"/>
            <a:chExt cx="9144000" cy="23083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6AB65C4-4DAA-44E7-990E-FF7B4F560B25}"/>
                </a:ext>
              </a:extLst>
            </p:cNvPr>
            <p:cNvSpPr/>
            <p:nvPr userDrawn="1"/>
          </p:nvSpPr>
          <p:spPr>
            <a:xfrm>
              <a:off x="0" y="5012713"/>
              <a:ext cx="9144000" cy="137243"/>
            </a:xfrm>
            <a:prstGeom prst="rect">
              <a:avLst/>
            </a:prstGeom>
            <a:solidFill>
              <a:srgbClr val="81818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DE5E036-F03A-4A40-80A5-46C9CE7FFF6A}"/>
                </a:ext>
              </a:extLst>
            </p:cNvPr>
            <p:cNvSpPr txBox="1"/>
            <p:nvPr userDrawn="1"/>
          </p:nvSpPr>
          <p:spPr>
            <a:xfrm>
              <a:off x="158548" y="4952538"/>
              <a:ext cx="882690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900" b="0" i="0" u="none" strike="noStrike" cap="none" baseline="0" dirty="0">
                  <a:solidFill>
                    <a:schemeClr val="bg1"/>
                  </a:solidFill>
                  <a:latin typeface="+mj-lt"/>
                  <a:cs typeface="Arial"/>
                  <a:sym typeface="Arial"/>
                </a:rPr>
                <a:t>Matthias Eberlein, Florian Heinrich, Fahri Kus, Simon </a:t>
              </a:r>
              <a:r>
                <a:rPr lang="de-DE" sz="900" b="0" i="0" u="none" strike="noStrike" cap="none" baseline="0" dirty="0" err="1">
                  <a:solidFill>
                    <a:schemeClr val="bg1"/>
                  </a:solidFill>
                  <a:latin typeface="+mj-lt"/>
                  <a:cs typeface="Arial"/>
                  <a:sym typeface="Arial"/>
                </a:rPr>
                <a:t>Kreuziger</a:t>
              </a:r>
              <a:endParaRPr lang="en-DE" sz="900" b="0" i="0" u="none" strike="noStrike" cap="none" baseline="0" dirty="0">
                <a:solidFill>
                  <a:schemeClr val="bg1"/>
                </a:solidFill>
                <a:latin typeface="+mj-lt"/>
                <a:cs typeface="Arial"/>
                <a:sym typeface="Arial"/>
              </a:endParaRPr>
            </a:p>
          </p:txBody>
        </p:sp>
      </p:grpSp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549852" y="4581462"/>
            <a:ext cx="4356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457200" y="1166125"/>
            <a:ext cx="5220300" cy="6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1069625" y="1958050"/>
            <a:ext cx="4608300" cy="26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3020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￮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￮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￮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●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○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■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●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○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■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3C0818F-2DEC-420C-96CC-4EA36414DABC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6108" y="128883"/>
            <a:ext cx="836292" cy="734057"/>
          </a:xfrm>
          <a:prstGeom prst="rect">
            <a:avLst/>
          </a:prstGeom>
        </p:spPr>
      </p:pic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4F5B2171-116C-364C-815A-AEE57B4AD0AA}"/>
              </a:ext>
            </a:extLst>
          </p:cNvPr>
          <p:cNvGrpSpPr/>
          <p:nvPr userDrawn="1"/>
        </p:nvGrpSpPr>
        <p:grpSpPr>
          <a:xfrm>
            <a:off x="-6626" y="-67987"/>
            <a:ext cx="9161411" cy="239942"/>
            <a:chOff x="-6626" y="4955532"/>
            <a:chExt cx="9161411" cy="239942"/>
          </a:xfrm>
        </p:grpSpPr>
        <p:grpSp>
          <p:nvGrpSpPr>
            <p:cNvPr id="25" name="Gruppieren 13">
              <a:extLst>
                <a:ext uri="{FF2B5EF4-FFF2-40B4-BE49-F238E27FC236}">
                  <a16:creationId xmlns:a16="http://schemas.microsoft.com/office/drawing/2014/main" id="{70145CFF-3B57-1243-BD23-FEBFBAA3FB85}"/>
                </a:ext>
              </a:extLst>
            </p:cNvPr>
            <p:cNvGrpSpPr/>
            <p:nvPr userDrawn="1"/>
          </p:nvGrpSpPr>
          <p:grpSpPr>
            <a:xfrm>
              <a:off x="-6626" y="4955532"/>
              <a:ext cx="9154785" cy="239942"/>
              <a:chOff x="-6626" y="4955532"/>
              <a:chExt cx="9154785" cy="239942"/>
            </a:xfrm>
          </p:grpSpPr>
          <p:pic>
            <p:nvPicPr>
              <p:cNvPr id="27" name="Grafik 2">
                <a:extLst>
                  <a:ext uri="{FF2B5EF4-FFF2-40B4-BE49-F238E27FC236}">
                    <a16:creationId xmlns:a16="http://schemas.microsoft.com/office/drawing/2014/main" id="{8CA4D60D-03F5-3148-A3FF-46D5A75A53AD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0">
                <a:alphaModFix amt="90000"/>
              </a:blip>
              <a:stretch>
                <a:fillRect/>
              </a:stretch>
            </p:blipFill>
            <p:spPr>
              <a:xfrm>
                <a:off x="0" y="5017062"/>
                <a:ext cx="9148159" cy="126438"/>
              </a:xfrm>
              <a:prstGeom prst="rect">
                <a:avLst/>
              </a:prstGeom>
            </p:spPr>
          </p:pic>
          <p:grpSp>
            <p:nvGrpSpPr>
              <p:cNvPr id="28" name="Gruppieren 12">
                <a:extLst>
                  <a:ext uri="{FF2B5EF4-FFF2-40B4-BE49-F238E27FC236}">
                    <a16:creationId xmlns:a16="http://schemas.microsoft.com/office/drawing/2014/main" id="{31551B4F-53C1-0147-B1B7-9144C812C0A2}"/>
                  </a:ext>
                </a:extLst>
              </p:cNvPr>
              <p:cNvGrpSpPr/>
              <p:nvPr userDrawn="1"/>
            </p:nvGrpSpPr>
            <p:grpSpPr>
              <a:xfrm>
                <a:off x="-6626" y="4955532"/>
                <a:ext cx="6094347" cy="239942"/>
                <a:chOff x="-6626" y="4955532"/>
                <a:chExt cx="6094347" cy="239942"/>
              </a:xfrm>
            </p:grpSpPr>
            <p:sp>
              <p:nvSpPr>
                <p:cNvPr id="29" name="Textfeld 9">
                  <a:extLst>
                    <a:ext uri="{FF2B5EF4-FFF2-40B4-BE49-F238E27FC236}">
                      <a16:creationId xmlns:a16="http://schemas.microsoft.com/office/drawing/2014/main" id="{C94FCE5D-FA34-2E48-8083-66C3374569C7}"/>
                    </a:ext>
                  </a:extLst>
                </p:cNvPr>
                <p:cNvSpPr txBox="1"/>
                <p:nvPr userDrawn="1"/>
              </p:nvSpPr>
              <p:spPr>
                <a:xfrm>
                  <a:off x="-6626" y="4964642"/>
                  <a:ext cx="3062177" cy="230832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1">
                  <a:spAutoFit/>
                </a:bodyPr>
                <a:lstStyle/>
                <a:p>
                  <a:r>
                    <a:rPr lang="de-DE" sz="900" baseline="0" dirty="0">
                      <a:solidFill>
                        <a:schemeClr val="bg1"/>
                      </a:solidFill>
                      <a:latin typeface="+mj-lt"/>
                    </a:rPr>
                    <a:t>Technische Hochschule Köln Deutz</a:t>
                  </a:r>
                </a:p>
              </p:txBody>
            </p:sp>
            <p:sp>
              <p:nvSpPr>
                <p:cNvPr id="30" name="Textfeld 11">
                  <a:extLst>
                    <a:ext uri="{FF2B5EF4-FFF2-40B4-BE49-F238E27FC236}">
                      <a16:creationId xmlns:a16="http://schemas.microsoft.com/office/drawing/2014/main" id="{7EA26AAB-97F4-D04C-8809-ABB3034D7CFC}"/>
                    </a:ext>
                  </a:extLst>
                </p:cNvPr>
                <p:cNvSpPr txBox="1"/>
                <p:nvPr userDrawn="1"/>
              </p:nvSpPr>
              <p:spPr>
                <a:xfrm>
                  <a:off x="3056279" y="4955532"/>
                  <a:ext cx="3031442" cy="230832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1">
                  <a:spAutoFit/>
                </a:bodyPr>
                <a:lstStyle/>
                <a:p>
                  <a:r>
                    <a:rPr lang="de-DE" sz="900" dirty="0">
                      <a:solidFill>
                        <a:schemeClr val="bg1"/>
                      </a:solidFill>
                    </a:rPr>
                    <a:t>www.</a:t>
                  </a:r>
                  <a:r>
                    <a:rPr lang="de-DE" sz="900" baseline="0" dirty="0">
                      <a:solidFill>
                        <a:schemeClr val="bg1"/>
                      </a:solidFill>
                    </a:rPr>
                    <a:t>driving-e-car</a:t>
                  </a:r>
                  <a:r>
                    <a:rPr lang="de-DE" sz="900" dirty="0">
                      <a:solidFill>
                        <a:schemeClr val="bg1"/>
                      </a:solidFill>
                    </a:rPr>
                    <a:t>.de</a:t>
                  </a:r>
                </a:p>
              </p:txBody>
            </p:sp>
          </p:grpSp>
        </p:grpSp>
        <p:sp>
          <p:nvSpPr>
            <p:cNvPr id="26" name="Textfeld 14">
              <a:extLst>
                <a:ext uri="{FF2B5EF4-FFF2-40B4-BE49-F238E27FC236}">
                  <a16:creationId xmlns:a16="http://schemas.microsoft.com/office/drawing/2014/main" id="{ACF14301-B81D-054C-8FBB-0E739AECB1A7}"/>
                </a:ext>
              </a:extLst>
            </p:cNvPr>
            <p:cNvSpPr txBox="1"/>
            <p:nvPr userDrawn="1"/>
          </p:nvSpPr>
          <p:spPr>
            <a:xfrm>
              <a:off x="6112559" y="4963845"/>
              <a:ext cx="3042226" cy="230832"/>
            </a:xfrm>
            <a:prstGeom prst="rect">
              <a:avLst/>
            </a:prstGeom>
            <a:noFill/>
          </p:spPr>
          <p:txBody>
            <a:bodyPr wrap="square" rtlCol="0" anchor="ctr" anchorCtr="1">
              <a:spAutoFit/>
            </a:bodyPr>
            <a:lstStyle/>
            <a:p>
              <a:r>
                <a:rPr lang="de-DE" sz="900" baseline="0" dirty="0">
                  <a:solidFill>
                    <a:schemeClr val="bg1"/>
                  </a:solidFill>
                </a:rPr>
                <a:t>WS 18/19</a:t>
              </a: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62" r:id="rId4"/>
    <p:sldLayoutId id="2147483657" r:id="rId5"/>
    <p:sldLayoutId id="2147483658" r:id="rId6"/>
    <p:sldLayoutId id="2147483661" r:id="rId7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2.png"/><Relationship Id="rId7" Type="http://schemas.openxmlformats.org/officeDocument/2006/relationships/image" Target="../media/image6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11" Type="http://schemas.openxmlformats.org/officeDocument/2006/relationships/image" Target="../media/image16.png"/><Relationship Id="rId5" Type="http://schemas.openxmlformats.org/officeDocument/2006/relationships/image" Target="../media/image14.png"/><Relationship Id="rId10" Type="http://schemas.openxmlformats.org/officeDocument/2006/relationships/image" Target="../media/image10.png"/><Relationship Id="rId4" Type="http://schemas.openxmlformats.org/officeDocument/2006/relationships/image" Target="../media/image13.png"/><Relationship Id="rId9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.png"/><Relationship Id="rId4" Type="http://schemas.openxmlformats.org/officeDocument/2006/relationships/image" Target="../media/image2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6.svg"/><Relationship Id="rId11" Type="http://schemas.openxmlformats.org/officeDocument/2006/relationships/image" Target="../media/image31.sv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6.svg"/><Relationship Id="rId11" Type="http://schemas.openxmlformats.org/officeDocument/2006/relationships/image" Target="../media/image31.sv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>
            <a:spLocks noGrp="1"/>
          </p:cNvSpPr>
          <p:nvPr>
            <p:ph type="ctrTitle"/>
          </p:nvPr>
        </p:nvSpPr>
        <p:spPr>
          <a:xfrm>
            <a:off x="2211600" y="1238810"/>
            <a:ext cx="47208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4900" dirty="0"/>
              <a:t>d</a:t>
            </a:r>
            <a:r>
              <a:rPr lang="en" sz="4900" dirty="0"/>
              <a:t>riving-e-car</a:t>
            </a:r>
            <a:endParaRPr sz="4900" dirty="0"/>
          </a:p>
        </p:txBody>
      </p:sp>
    </p:spTree>
  </p:cSld>
  <p:clrMapOvr>
    <a:masterClrMapping/>
  </p:clrMapOvr>
  <p:transition advTm="2021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"/>
          <p:cNvSpPr txBox="1">
            <a:spLocks noGrp="1"/>
          </p:cNvSpPr>
          <p:nvPr>
            <p:ph type="ctrTitle" idx="4294967295"/>
          </p:nvPr>
        </p:nvSpPr>
        <p:spPr>
          <a:xfrm>
            <a:off x="2304162" y="485387"/>
            <a:ext cx="5315837" cy="177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dirty="0" err="1"/>
              <a:t>Guten</a:t>
            </a:r>
            <a:r>
              <a:rPr lang="en-US" sz="6000" dirty="0"/>
              <a:t> Tag</a:t>
            </a:r>
            <a:endParaRPr sz="6000" dirty="0"/>
          </a:p>
        </p:txBody>
      </p:sp>
      <p:sp>
        <p:nvSpPr>
          <p:cNvPr id="168" name="Google Shape;168;p16"/>
          <p:cNvSpPr txBox="1">
            <a:spLocks noGrp="1"/>
          </p:cNvSpPr>
          <p:nvPr>
            <p:ph type="subTitle" idx="4294967295"/>
          </p:nvPr>
        </p:nvSpPr>
        <p:spPr>
          <a:xfrm>
            <a:off x="2351800" y="2265877"/>
            <a:ext cx="4608000" cy="17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0" indent="0">
              <a:spcBef>
                <a:spcPts val="601"/>
              </a:spcBef>
              <a:buNone/>
            </a:pPr>
            <a:r>
              <a:rPr lang="en-US" b="1" spc="-1" dirty="0" err="1">
                <a:solidFill>
                  <a:srgbClr val="000000"/>
                </a:solidFill>
                <a:latin typeface="Poppins"/>
              </a:rPr>
              <a:t>Elektroautos</a:t>
            </a:r>
            <a:r>
              <a:rPr lang="en-US" b="1" spc="-1" dirty="0">
                <a:solidFill>
                  <a:srgbClr val="000000"/>
                </a:solidFill>
                <a:latin typeface="Poppins"/>
              </a:rPr>
              <a:t> </a:t>
            </a:r>
            <a:r>
              <a:rPr lang="en-US" b="1" spc="-1" dirty="0" err="1">
                <a:solidFill>
                  <a:srgbClr val="000000"/>
                </a:solidFill>
                <a:latin typeface="Poppins"/>
              </a:rPr>
              <a:t>sind</a:t>
            </a:r>
            <a:r>
              <a:rPr lang="en-US" b="1" spc="-1" dirty="0">
                <a:solidFill>
                  <a:srgbClr val="000000"/>
                </a:solidFill>
                <a:latin typeface="Poppins"/>
              </a:rPr>
              <a:t> in </a:t>
            </a:r>
            <a:r>
              <a:rPr lang="en-US" b="1" spc="-1" dirty="0" err="1">
                <a:solidFill>
                  <a:srgbClr val="000000"/>
                </a:solidFill>
                <a:latin typeface="Poppins"/>
              </a:rPr>
              <a:t>aller</a:t>
            </a:r>
            <a:r>
              <a:rPr lang="en-US" b="1" spc="-1" dirty="0">
                <a:solidFill>
                  <a:srgbClr val="000000"/>
                </a:solidFill>
                <a:latin typeface="Poppins"/>
              </a:rPr>
              <a:t> </a:t>
            </a:r>
            <a:r>
              <a:rPr lang="en-US" b="1" spc="-1" dirty="0" err="1">
                <a:solidFill>
                  <a:srgbClr val="000000"/>
                </a:solidFill>
                <a:latin typeface="Poppins"/>
              </a:rPr>
              <a:t>Munde</a:t>
            </a:r>
            <a:endParaRPr lang="en-US" spc="-1" dirty="0">
              <a:latin typeface="Arial"/>
            </a:endParaRPr>
          </a:p>
          <a:p>
            <a:pPr marL="127000" indent="0">
              <a:spcBef>
                <a:spcPts val="601"/>
              </a:spcBef>
              <a:buNone/>
            </a:pPr>
            <a:r>
              <a:rPr lang="en-US" spc="-1" dirty="0" err="1">
                <a:solidFill>
                  <a:srgbClr val="000000"/>
                </a:solidFill>
              </a:rPr>
              <a:t>Lohnt</a:t>
            </a:r>
            <a:r>
              <a:rPr lang="en-US" spc="-1" dirty="0">
                <a:solidFill>
                  <a:srgbClr val="000000"/>
                </a:solidFill>
              </a:rPr>
              <a:t> </a:t>
            </a:r>
            <a:r>
              <a:rPr lang="en-US" spc="-1" dirty="0" err="1">
                <a:solidFill>
                  <a:srgbClr val="000000"/>
                </a:solidFill>
              </a:rPr>
              <a:t>sich</a:t>
            </a:r>
            <a:r>
              <a:rPr lang="en-US" spc="-1" dirty="0">
                <a:solidFill>
                  <a:srgbClr val="000000"/>
                </a:solidFill>
              </a:rPr>
              <a:t> </a:t>
            </a:r>
            <a:r>
              <a:rPr lang="en-US" spc="-1" dirty="0" err="1">
                <a:solidFill>
                  <a:srgbClr val="000000"/>
                </a:solidFill>
              </a:rPr>
              <a:t>für</a:t>
            </a:r>
            <a:r>
              <a:rPr lang="en-US" spc="-1" dirty="0">
                <a:solidFill>
                  <a:srgbClr val="000000"/>
                </a:solidFill>
              </a:rPr>
              <a:t> </a:t>
            </a:r>
            <a:r>
              <a:rPr lang="en-US" spc="-1" dirty="0" err="1">
                <a:solidFill>
                  <a:srgbClr val="000000"/>
                </a:solidFill>
              </a:rPr>
              <a:t>mich</a:t>
            </a:r>
            <a:r>
              <a:rPr lang="en-US" spc="-1" dirty="0">
                <a:solidFill>
                  <a:srgbClr val="000000"/>
                </a:solidFill>
              </a:rPr>
              <a:t> </a:t>
            </a:r>
            <a:r>
              <a:rPr lang="en-US" spc="-1" dirty="0" err="1">
                <a:solidFill>
                  <a:srgbClr val="000000"/>
                </a:solidFill>
              </a:rPr>
              <a:t>ein</a:t>
            </a:r>
            <a:r>
              <a:rPr lang="en-US" spc="-1" dirty="0">
                <a:solidFill>
                  <a:srgbClr val="000000"/>
                </a:solidFill>
              </a:rPr>
              <a:t> </a:t>
            </a:r>
            <a:r>
              <a:rPr lang="en-US" spc="-1" dirty="0" err="1">
                <a:solidFill>
                  <a:srgbClr val="000000"/>
                </a:solidFill>
              </a:rPr>
              <a:t>Elektroauto</a:t>
            </a:r>
            <a:r>
              <a:rPr lang="en-US" spc="-1" dirty="0">
                <a:solidFill>
                  <a:srgbClr val="000000"/>
                </a:solidFill>
              </a:rPr>
              <a:t>? Welches </a:t>
            </a:r>
            <a:r>
              <a:rPr lang="en-US" spc="-1" dirty="0" err="1">
                <a:solidFill>
                  <a:srgbClr val="000000"/>
                </a:solidFill>
              </a:rPr>
              <a:t>ist</a:t>
            </a:r>
            <a:r>
              <a:rPr lang="en-US" spc="-1" dirty="0">
                <a:solidFill>
                  <a:srgbClr val="000000"/>
                </a:solidFill>
              </a:rPr>
              <a:t> </a:t>
            </a:r>
            <a:r>
              <a:rPr lang="en-US" spc="-1" dirty="0" err="1">
                <a:solidFill>
                  <a:srgbClr val="000000"/>
                </a:solidFill>
              </a:rPr>
              <a:t>für</a:t>
            </a:r>
            <a:r>
              <a:rPr lang="en-US" spc="-1" dirty="0">
                <a:solidFill>
                  <a:srgbClr val="000000"/>
                </a:solidFill>
              </a:rPr>
              <a:t> </a:t>
            </a:r>
            <a:r>
              <a:rPr lang="en-US" spc="-1" dirty="0" err="1">
                <a:solidFill>
                  <a:srgbClr val="000000"/>
                </a:solidFill>
              </a:rPr>
              <a:t>mich</a:t>
            </a:r>
            <a:r>
              <a:rPr lang="en-US" spc="-1" dirty="0">
                <a:solidFill>
                  <a:srgbClr val="000000"/>
                </a:solidFill>
              </a:rPr>
              <a:t> das </a:t>
            </a:r>
            <a:r>
              <a:rPr lang="en-US" spc="-1" dirty="0" err="1">
                <a:solidFill>
                  <a:srgbClr val="000000"/>
                </a:solidFill>
              </a:rPr>
              <a:t>Richtige</a:t>
            </a:r>
            <a:r>
              <a:rPr lang="en-US" spc="-1" dirty="0">
                <a:solidFill>
                  <a:srgbClr val="000000"/>
                </a:solidFill>
              </a:rPr>
              <a:t>?</a:t>
            </a:r>
            <a:endParaRPr lang="en-US" spc="-1" dirty="0">
              <a:latin typeface="Arial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1804239" y="1506373"/>
            <a:ext cx="339835" cy="309115"/>
          </a:xfrm>
          <a:custGeom>
            <a:avLst/>
            <a:gdLst/>
            <a:ahLst/>
            <a:cxnLst/>
            <a:rect l="l" t="t" r="r" b="b"/>
            <a:pathLst>
              <a:path w="16173" h="14711" fill="none" extrusionOk="0">
                <a:moveTo>
                  <a:pt x="8087" y="1"/>
                </a:moveTo>
                <a:lnTo>
                  <a:pt x="8087" y="1"/>
                </a:lnTo>
                <a:lnTo>
                  <a:pt x="7672" y="1"/>
                </a:lnTo>
                <a:lnTo>
                  <a:pt x="7258" y="25"/>
                </a:lnTo>
                <a:lnTo>
                  <a:pt x="6844" y="74"/>
                </a:lnTo>
                <a:lnTo>
                  <a:pt x="6455" y="122"/>
                </a:lnTo>
                <a:lnTo>
                  <a:pt x="6065" y="195"/>
                </a:lnTo>
                <a:lnTo>
                  <a:pt x="5675" y="293"/>
                </a:lnTo>
                <a:lnTo>
                  <a:pt x="5310" y="415"/>
                </a:lnTo>
                <a:lnTo>
                  <a:pt x="4945" y="536"/>
                </a:lnTo>
                <a:lnTo>
                  <a:pt x="4579" y="658"/>
                </a:lnTo>
                <a:lnTo>
                  <a:pt x="4238" y="829"/>
                </a:lnTo>
                <a:lnTo>
                  <a:pt x="3897" y="975"/>
                </a:lnTo>
                <a:lnTo>
                  <a:pt x="3557" y="1170"/>
                </a:lnTo>
                <a:lnTo>
                  <a:pt x="3240" y="1364"/>
                </a:lnTo>
                <a:lnTo>
                  <a:pt x="2948" y="1559"/>
                </a:lnTo>
                <a:lnTo>
                  <a:pt x="2655" y="1778"/>
                </a:lnTo>
                <a:lnTo>
                  <a:pt x="2363" y="1998"/>
                </a:lnTo>
                <a:lnTo>
                  <a:pt x="2095" y="2241"/>
                </a:lnTo>
                <a:lnTo>
                  <a:pt x="1852" y="2485"/>
                </a:lnTo>
                <a:lnTo>
                  <a:pt x="1608" y="2753"/>
                </a:lnTo>
                <a:lnTo>
                  <a:pt x="1389" y="3021"/>
                </a:lnTo>
                <a:lnTo>
                  <a:pt x="1170" y="3288"/>
                </a:lnTo>
                <a:lnTo>
                  <a:pt x="975" y="3581"/>
                </a:lnTo>
                <a:lnTo>
                  <a:pt x="804" y="3873"/>
                </a:lnTo>
                <a:lnTo>
                  <a:pt x="634" y="4190"/>
                </a:lnTo>
                <a:lnTo>
                  <a:pt x="488" y="4506"/>
                </a:lnTo>
                <a:lnTo>
                  <a:pt x="366" y="4823"/>
                </a:lnTo>
                <a:lnTo>
                  <a:pt x="244" y="5139"/>
                </a:lnTo>
                <a:lnTo>
                  <a:pt x="171" y="5480"/>
                </a:lnTo>
                <a:lnTo>
                  <a:pt x="98" y="5821"/>
                </a:lnTo>
                <a:lnTo>
                  <a:pt x="49" y="6162"/>
                </a:lnTo>
                <a:lnTo>
                  <a:pt x="1" y="6503"/>
                </a:lnTo>
                <a:lnTo>
                  <a:pt x="1" y="6869"/>
                </a:lnTo>
                <a:lnTo>
                  <a:pt x="1" y="6869"/>
                </a:lnTo>
                <a:lnTo>
                  <a:pt x="1" y="7234"/>
                </a:lnTo>
                <a:lnTo>
                  <a:pt x="49" y="7624"/>
                </a:lnTo>
                <a:lnTo>
                  <a:pt x="98" y="7989"/>
                </a:lnTo>
                <a:lnTo>
                  <a:pt x="196" y="8330"/>
                </a:lnTo>
                <a:lnTo>
                  <a:pt x="293" y="8695"/>
                </a:lnTo>
                <a:lnTo>
                  <a:pt x="415" y="9036"/>
                </a:lnTo>
                <a:lnTo>
                  <a:pt x="561" y="9377"/>
                </a:lnTo>
                <a:lnTo>
                  <a:pt x="731" y="9718"/>
                </a:lnTo>
                <a:lnTo>
                  <a:pt x="902" y="10035"/>
                </a:lnTo>
                <a:lnTo>
                  <a:pt x="1097" y="10327"/>
                </a:lnTo>
                <a:lnTo>
                  <a:pt x="1340" y="10644"/>
                </a:lnTo>
                <a:lnTo>
                  <a:pt x="1559" y="10936"/>
                </a:lnTo>
                <a:lnTo>
                  <a:pt x="1827" y="11204"/>
                </a:lnTo>
                <a:lnTo>
                  <a:pt x="2095" y="11472"/>
                </a:lnTo>
                <a:lnTo>
                  <a:pt x="2387" y="11740"/>
                </a:lnTo>
                <a:lnTo>
                  <a:pt x="2680" y="11983"/>
                </a:lnTo>
                <a:lnTo>
                  <a:pt x="2680" y="11983"/>
                </a:lnTo>
                <a:lnTo>
                  <a:pt x="2485" y="12349"/>
                </a:lnTo>
                <a:lnTo>
                  <a:pt x="2266" y="12714"/>
                </a:lnTo>
                <a:lnTo>
                  <a:pt x="2022" y="13104"/>
                </a:lnTo>
                <a:lnTo>
                  <a:pt x="1706" y="13469"/>
                </a:lnTo>
                <a:lnTo>
                  <a:pt x="1365" y="13834"/>
                </a:lnTo>
                <a:lnTo>
                  <a:pt x="1170" y="14005"/>
                </a:lnTo>
                <a:lnTo>
                  <a:pt x="951" y="14151"/>
                </a:lnTo>
                <a:lnTo>
                  <a:pt x="731" y="14297"/>
                </a:lnTo>
                <a:lnTo>
                  <a:pt x="512" y="14443"/>
                </a:lnTo>
                <a:lnTo>
                  <a:pt x="269" y="14540"/>
                </a:lnTo>
                <a:lnTo>
                  <a:pt x="1" y="14662"/>
                </a:lnTo>
                <a:lnTo>
                  <a:pt x="1" y="14662"/>
                </a:lnTo>
                <a:lnTo>
                  <a:pt x="122" y="14662"/>
                </a:lnTo>
                <a:lnTo>
                  <a:pt x="488" y="14711"/>
                </a:lnTo>
                <a:lnTo>
                  <a:pt x="1024" y="14711"/>
                </a:lnTo>
                <a:lnTo>
                  <a:pt x="1365" y="14711"/>
                </a:lnTo>
                <a:lnTo>
                  <a:pt x="1706" y="14687"/>
                </a:lnTo>
                <a:lnTo>
                  <a:pt x="2095" y="14614"/>
                </a:lnTo>
                <a:lnTo>
                  <a:pt x="2485" y="14540"/>
                </a:lnTo>
                <a:lnTo>
                  <a:pt x="2899" y="14419"/>
                </a:lnTo>
                <a:lnTo>
                  <a:pt x="3313" y="14273"/>
                </a:lnTo>
                <a:lnTo>
                  <a:pt x="3751" y="14078"/>
                </a:lnTo>
                <a:lnTo>
                  <a:pt x="4165" y="13834"/>
                </a:lnTo>
                <a:lnTo>
                  <a:pt x="4579" y="13566"/>
                </a:lnTo>
                <a:lnTo>
                  <a:pt x="4969" y="13201"/>
                </a:lnTo>
                <a:lnTo>
                  <a:pt x="4969" y="13201"/>
                </a:lnTo>
                <a:lnTo>
                  <a:pt x="5334" y="13323"/>
                </a:lnTo>
                <a:lnTo>
                  <a:pt x="5700" y="13444"/>
                </a:lnTo>
                <a:lnTo>
                  <a:pt x="6089" y="13518"/>
                </a:lnTo>
                <a:lnTo>
                  <a:pt x="6479" y="13591"/>
                </a:lnTo>
                <a:lnTo>
                  <a:pt x="6869" y="13664"/>
                </a:lnTo>
                <a:lnTo>
                  <a:pt x="7258" y="13712"/>
                </a:lnTo>
                <a:lnTo>
                  <a:pt x="7672" y="13737"/>
                </a:lnTo>
                <a:lnTo>
                  <a:pt x="8087" y="13737"/>
                </a:lnTo>
                <a:lnTo>
                  <a:pt x="8087" y="13737"/>
                </a:lnTo>
                <a:lnTo>
                  <a:pt x="8501" y="13737"/>
                </a:lnTo>
                <a:lnTo>
                  <a:pt x="8915" y="13712"/>
                </a:lnTo>
                <a:lnTo>
                  <a:pt x="9329" y="13664"/>
                </a:lnTo>
                <a:lnTo>
                  <a:pt x="9718" y="13591"/>
                </a:lnTo>
                <a:lnTo>
                  <a:pt x="10108" y="13518"/>
                </a:lnTo>
                <a:lnTo>
                  <a:pt x="10498" y="13420"/>
                </a:lnTo>
                <a:lnTo>
                  <a:pt x="10863" y="13323"/>
                </a:lnTo>
                <a:lnTo>
                  <a:pt x="11228" y="13201"/>
                </a:lnTo>
                <a:lnTo>
                  <a:pt x="11594" y="13055"/>
                </a:lnTo>
                <a:lnTo>
                  <a:pt x="11935" y="12909"/>
                </a:lnTo>
                <a:lnTo>
                  <a:pt x="12276" y="12738"/>
                </a:lnTo>
                <a:lnTo>
                  <a:pt x="12617" y="12568"/>
                </a:lnTo>
                <a:lnTo>
                  <a:pt x="12933" y="12373"/>
                </a:lnTo>
                <a:lnTo>
                  <a:pt x="13225" y="12178"/>
                </a:lnTo>
                <a:lnTo>
                  <a:pt x="13518" y="11959"/>
                </a:lnTo>
                <a:lnTo>
                  <a:pt x="13810" y="11715"/>
                </a:lnTo>
                <a:lnTo>
                  <a:pt x="14078" y="11496"/>
                </a:lnTo>
                <a:lnTo>
                  <a:pt x="14321" y="11228"/>
                </a:lnTo>
                <a:lnTo>
                  <a:pt x="14565" y="10985"/>
                </a:lnTo>
                <a:lnTo>
                  <a:pt x="14784" y="10717"/>
                </a:lnTo>
                <a:lnTo>
                  <a:pt x="15003" y="10424"/>
                </a:lnTo>
                <a:lnTo>
                  <a:pt x="15198" y="10132"/>
                </a:lnTo>
                <a:lnTo>
                  <a:pt x="15369" y="9840"/>
                </a:lnTo>
                <a:lnTo>
                  <a:pt x="15539" y="9548"/>
                </a:lnTo>
                <a:lnTo>
                  <a:pt x="15685" y="9231"/>
                </a:lnTo>
                <a:lnTo>
                  <a:pt x="15807" y="8914"/>
                </a:lnTo>
                <a:lnTo>
                  <a:pt x="15929" y="8574"/>
                </a:lnTo>
                <a:lnTo>
                  <a:pt x="16002" y="8257"/>
                </a:lnTo>
                <a:lnTo>
                  <a:pt x="16075" y="7916"/>
                </a:lnTo>
                <a:lnTo>
                  <a:pt x="16124" y="7575"/>
                </a:lnTo>
                <a:lnTo>
                  <a:pt x="16172" y="7210"/>
                </a:lnTo>
                <a:lnTo>
                  <a:pt x="16172" y="6869"/>
                </a:lnTo>
                <a:lnTo>
                  <a:pt x="16172" y="6869"/>
                </a:lnTo>
                <a:lnTo>
                  <a:pt x="16172" y="6503"/>
                </a:lnTo>
                <a:lnTo>
                  <a:pt x="16124" y="6162"/>
                </a:lnTo>
                <a:lnTo>
                  <a:pt x="16075" y="5821"/>
                </a:lnTo>
                <a:lnTo>
                  <a:pt x="16002" y="5480"/>
                </a:lnTo>
                <a:lnTo>
                  <a:pt x="15929" y="5139"/>
                </a:lnTo>
                <a:lnTo>
                  <a:pt x="15807" y="4823"/>
                </a:lnTo>
                <a:lnTo>
                  <a:pt x="15685" y="4506"/>
                </a:lnTo>
                <a:lnTo>
                  <a:pt x="15539" y="4190"/>
                </a:lnTo>
                <a:lnTo>
                  <a:pt x="15369" y="3873"/>
                </a:lnTo>
                <a:lnTo>
                  <a:pt x="15198" y="3581"/>
                </a:lnTo>
                <a:lnTo>
                  <a:pt x="15003" y="3288"/>
                </a:lnTo>
                <a:lnTo>
                  <a:pt x="14784" y="3021"/>
                </a:lnTo>
                <a:lnTo>
                  <a:pt x="14565" y="2753"/>
                </a:lnTo>
                <a:lnTo>
                  <a:pt x="14321" y="2485"/>
                </a:lnTo>
                <a:lnTo>
                  <a:pt x="14078" y="2241"/>
                </a:lnTo>
                <a:lnTo>
                  <a:pt x="13810" y="1998"/>
                </a:lnTo>
                <a:lnTo>
                  <a:pt x="13518" y="1778"/>
                </a:lnTo>
                <a:lnTo>
                  <a:pt x="13225" y="1559"/>
                </a:lnTo>
                <a:lnTo>
                  <a:pt x="12933" y="1364"/>
                </a:lnTo>
                <a:lnTo>
                  <a:pt x="12617" y="1170"/>
                </a:lnTo>
                <a:lnTo>
                  <a:pt x="12276" y="975"/>
                </a:lnTo>
                <a:lnTo>
                  <a:pt x="11935" y="829"/>
                </a:lnTo>
                <a:lnTo>
                  <a:pt x="11594" y="658"/>
                </a:lnTo>
                <a:lnTo>
                  <a:pt x="11228" y="536"/>
                </a:lnTo>
                <a:lnTo>
                  <a:pt x="10863" y="415"/>
                </a:lnTo>
                <a:lnTo>
                  <a:pt x="10498" y="293"/>
                </a:lnTo>
                <a:lnTo>
                  <a:pt x="10108" y="195"/>
                </a:lnTo>
                <a:lnTo>
                  <a:pt x="9718" y="122"/>
                </a:lnTo>
                <a:lnTo>
                  <a:pt x="9329" y="74"/>
                </a:lnTo>
                <a:lnTo>
                  <a:pt x="8915" y="25"/>
                </a:lnTo>
                <a:lnTo>
                  <a:pt x="8501" y="1"/>
                </a:lnTo>
                <a:lnTo>
                  <a:pt x="8087" y="1"/>
                </a:lnTo>
                <a:lnTo>
                  <a:pt x="8087" y="1"/>
                </a:lnTo>
                <a:close/>
              </a:path>
            </a:pathLst>
          </a:custGeom>
          <a:noFill/>
          <a:ln w="1217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7EC19F48-DE41-6A48-89CE-F673BFB900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2</a:t>
            </a:fld>
            <a:endParaRPr lang="de-DE" dirty="0"/>
          </a:p>
        </p:txBody>
      </p:sp>
    </p:spTree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2150" y="1054450"/>
            <a:ext cx="3034500" cy="3034500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189" name="Google Shape;189;p19"/>
          <p:cNvGrpSpPr/>
          <p:nvPr/>
        </p:nvGrpSpPr>
        <p:grpSpPr>
          <a:xfrm>
            <a:off x="5853100" y="3068600"/>
            <a:ext cx="1539600" cy="1539600"/>
            <a:chOff x="6680825" y="2549350"/>
            <a:chExt cx="1539600" cy="1539600"/>
          </a:xfrm>
        </p:grpSpPr>
        <p:sp>
          <p:nvSpPr>
            <p:cNvPr id="190" name="Google Shape;190;p19"/>
            <p:cNvSpPr/>
            <p:nvPr/>
          </p:nvSpPr>
          <p:spPr>
            <a:xfrm>
              <a:off x="6825669" y="2694194"/>
              <a:ext cx="1249800" cy="1249800"/>
            </a:xfrm>
            <a:prstGeom prst="ellipse">
              <a:avLst/>
            </a:prstGeom>
            <a:solidFill>
              <a:srgbClr val="000000">
                <a:alpha val="18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19"/>
            <p:cNvSpPr/>
            <p:nvPr/>
          </p:nvSpPr>
          <p:spPr>
            <a:xfrm>
              <a:off x="6894850" y="2763375"/>
              <a:ext cx="1111200" cy="11112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19"/>
            <p:cNvSpPr/>
            <p:nvPr/>
          </p:nvSpPr>
          <p:spPr>
            <a:xfrm>
              <a:off x="6680825" y="2549350"/>
              <a:ext cx="1539600" cy="1539600"/>
            </a:xfrm>
            <a:prstGeom prst="donut">
              <a:avLst>
                <a:gd name="adj" fmla="val 675"/>
              </a:avLst>
            </a:prstGeom>
            <a:solidFill>
              <a:srgbClr val="000000">
                <a:alpha val="65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3" name="Google Shape;193;p19"/>
          <p:cNvSpPr txBox="1">
            <a:spLocks noGrp="1"/>
          </p:cNvSpPr>
          <p:nvPr>
            <p:ph type="title"/>
          </p:nvPr>
        </p:nvSpPr>
        <p:spPr>
          <a:xfrm>
            <a:off x="457200" y="1166125"/>
            <a:ext cx="5220300" cy="68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pc="-1" dirty="0">
                <a:solidFill>
                  <a:srgbClr val="000000"/>
                </a:solidFill>
              </a:rPr>
              <a:t>Agenda</a:t>
            </a:r>
            <a:endParaRPr lang="en-US" b="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Google Shape;194;p19"/>
          <p:cNvSpPr txBox="1">
            <a:spLocks noGrp="1"/>
          </p:cNvSpPr>
          <p:nvPr>
            <p:ph type="body" idx="1"/>
          </p:nvPr>
        </p:nvSpPr>
        <p:spPr>
          <a:xfrm>
            <a:off x="1069625" y="1958050"/>
            <a:ext cx="4608000" cy="26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329760"/>
            <a:r>
              <a:rPr lang="en-US" spc="-1" dirty="0">
                <a:solidFill>
                  <a:srgbClr val="000000"/>
                </a:solidFill>
              </a:rPr>
              <a:t>Was </a:t>
            </a:r>
            <a:r>
              <a:rPr lang="en-US" spc="-1" dirty="0" err="1">
                <a:solidFill>
                  <a:srgbClr val="000000"/>
                </a:solidFill>
              </a:rPr>
              <a:t>zuletzt</a:t>
            </a:r>
            <a:r>
              <a:rPr lang="en-US" spc="-1" dirty="0">
                <a:solidFill>
                  <a:srgbClr val="000000"/>
                </a:solidFill>
              </a:rPr>
              <a:t> </a:t>
            </a:r>
            <a:r>
              <a:rPr lang="en-US" spc="-1" dirty="0" err="1">
                <a:solidFill>
                  <a:srgbClr val="000000"/>
                </a:solidFill>
              </a:rPr>
              <a:t>geschah</a:t>
            </a:r>
            <a:endParaRPr lang="en-US" spc="-1" dirty="0">
              <a:solidFill>
                <a:srgbClr val="000000"/>
              </a:solidFill>
            </a:endParaRPr>
          </a:p>
          <a:p>
            <a:pPr indent="-329760"/>
            <a:r>
              <a:rPr lang="en-US" spc="-1" dirty="0">
                <a:solidFill>
                  <a:srgbClr val="000000"/>
                </a:solidFill>
              </a:rPr>
              <a:t>Installation</a:t>
            </a:r>
            <a:endParaRPr lang="en-US" spc="-1" dirty="0">
              <a:solidFill>
                <a:srgbClr val="000000"/>
              </a:solidFill>
              <a:latin typeface="Arial"/>
            </a:endParaRPr>
          </a:p>
          <a:p>
            <a:pPr indent="-329760"/>
            <a:r>
              <a:rPr lang="en-US" spc="-1" dirty="0" err="1">
                <a:solidFill>
                  <a:srgbClr val="000000"/>
                </a:solidFill>
              </a:rPr>
              <a:t>Vorführung</a:t>
            </a:r>
            <a:endParaRPr lang="en-US" spc="-1" dirty="0">
              <a:solidFill>
                <a:srgbClr val="000000"/>
              </a:solidFill>
            </a:endParaRPr>
          </a:p>
          <a:p>
            <a:pPr indent="-329760"/>
            <a:r>
              <a:rPr lang="en-US" spc="-1" dirty="0" err="1">
                <a:solidFill>
                  <a:srgbClr val="000000"/>
                </a:solidFill>
              </a:rPr>
              <a:t>Projektanalyse</a:t>
            </a:r>
            <a:endParaRPr lang="en-US" spc="-1" dirty="0">
              <a:solidFill>
                <a:srgbClr val="000000"/>
              </a:solidFill>
            </a:endParaRPr>
          </a:p>
        </p:txBody>
      </p:sp>
      <p:grpSp>
        <p:nvGrpSpPr>
          <p:cNvPr id="196" name="Google Shape;196;p19"/>
          <p:cNvGrpSpPr/>
          <p:nvPr/>
        </p:nvGrpSpPr>
        <p:grpSpPr>
          <a:xfrm>
            <a:off x="6438110" y="3653462"/>
            <a:ext cx="369505" cy="369505"/>
            <a:chOff x="2594050" y="1631825"/>
            <a:chExt cx="439625" cy="439625"/>
          </a:xfrm>
        </p:grpSpPr>
        <p:sp>
          <p:nvSpPr>
            <p:cNvPr id="197" name="Google Shape;197;p19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9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9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9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F2144418-DD0F-E141-92B7-00BD8428583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3</a:t>
            </a:fld>
            <a:endParaRPr lang="de-DE"/>
          </a:p>
        </p:txBody>
      </p:sp>
    </p:spTree>
  </p:cSld>
  <p:clrMapOvr>
    <a:masterClrMapping/>
  </p:clrMapOvr>
  <p:transition advTm="0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7"/>
          <p:cNvSpPr txBox="1"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/>
            <a:r>
              <a:rPr lang="en-US" dirty="0"/>
              <a:t>Was </a:t>
            </a:r>
            <a:r>
              <a:rPr lang="en-US" dirty="0" err="1"/>
              <a:t>zuletzt</a:t>
            </a:r>
            <a:br>
              <a:rPr lang="en-US" dirty="0"/>
            </a:br>
            <a:r>
              <a:rPr lang="en-US" dirty="0" err="1"/>
              <a:t>geschah</a:t>
            </a:r>
            <a:endParaRPr lang="en-US" dirty="0"/>
          </a:p>
        </p:txBody>
      </p:sp>
      <p:sp>
        <p:nvSpPr>
          <p:cNvPr id="176" name="Google Shape;176;p17"/>
          <p:cNvSpPr txBox="1"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Zusammenfassung</a:t>
            </a:r>
            <a:r>
              <a:rPr lang="en-US" dirty="0"/>
              <a:t> der </a:t>
            </a:r>
            <a:r>
              <a:rPr lang="en-US" dirty="0" err="1"/>
              <a:t>Prototyp-Präsentation</a:t>
            </a:r>
            <a:endParaRPr lang="en-US" dirty="0"/>
          </a:p>
        </p:txBody>
      </p:sp>
      <p:sp>
        <p:nvSpPr>
          <p:cNvPr id="177" name="Google Shape;177;p17"/>
          <p:cNvSpPr txBox="1"/>
          <p:nvPr/>
        </p:nvSpPr>
        <p:spPr>
          <a:xfrm>
            <a:off x="1030925" y="710500"/>
            <a:ext cx="1392600" cy="13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60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advTm="239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loud 15">
            <a:extLst>
              <a:ext uri="{FF2B5EF4-FFF2-40B4-BE49-F238E27FC236}">
                <a16:creationId xmlns:a16="http://schemas.microsoft.com/office/drawing/2014/main" id="{FE329A19-5DA2-4C3A-A497-2FAB37BB9D50}"/>
              </a:ext>
            </a:extLst>
          </p:cNvPr>
          <p:cNvSpPr/>
          <p:nvPr/>
        </p:nvSpPr>
        <p:spPr>
          <a:xfrm>
            <a:off x="2155237" y="1612356"/>
            <a:ext cx="5250240" cy="2745512"/>
          </a:xfrm>
          <a:prstGeom prst="cloud">
            <a:avLst/>
          </a:prstGeom>
          <a:ln>
            <a:solidFill>
              <a:srgbClr val="81818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960747-D4B7-4076-812F-1B2CDA895271}"/>
              </a:ext>
            </a:extLst>
          </p:cNvPr>
          <p:cNvSpPr/>
          <p:nvPr/>
        </p:nvSpPr>
        <p:spPr>
          <a:xfrm>
            <a:off x="10282057" y="3312265"/>
            <a:ext cx="400243" cy="87079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E0DC24-B072-4A64-9325-BD32EAB5B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66125"/>
            <a:ext cx="5220300" cy="683100"/>
          </a:xfrm>
        </p:spPr>
        <p:txBody>
          <a:bodyPr/>
          <a:lstStyle/>
          <a:p>
            <a:r>
              <a:rPr lang="de-DE" dirty="0"/>
              <a:t>Geeignet?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863EFF-DB0B-4BD3-9CC1-CEC07ECFEF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5A2103A-94E8-46BB-8FF6-E49C0518B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6753" y="3864902"/>
            <a:ext cx="290849" cy="29084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6E3D096-88F0-403D-AB7A-CFF4325392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6753" y="3478537"/>
            <a:ext cx="290849" cy="296070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11486821-1AA3-4DB8-91ED-3B2863FBC2F7}"/>
              </a:ext>
            </a:extLst>
          </p:cNvPr>
          <p:cNvSpPr/>
          <p:nvPr/>
        </p:nvSpPr>
        <p:spPr>
          <a:xfrm>
            <a:off x="1189806" y="2949852"/>
            <a:ext cx="322475" cy="219776"/>
          </a:xfrm>
          <a:prstGeom prst="ellipse">
            <a:avLst/>
          </a:prstGeom>
          <a:ln>
            <a:solidFill>
              <a:srgbClr val="81818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EB691D4-5E6C-4E61-8602-B4F66439CD50}"/>
              </a:ext>
            </a:extLst>
          </p:cNvPr>
          <p:cNvSpPr/>
          <p:nvPr/>
        </p:nvSpPr>
        <p:spPr>
          <a:xfrm>
            <a:off x="1597255" y="2762142"/>
            <a:ext cx="499213" cy="375420"/>
          </a:xfrm>
          <a:prstGeom prst="ellipse">
            <a:avLst/>
          </a:prstGeom>
          <a:ln>
            <a:solidFill>
              <a:srgbClr val="81818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E2A5BDE-3588-49D3-AA80-A29F7B642D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1026" y="4794250"/>
            <a:ext cx="1201197" cy="1201197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FD0AEA60-0256-DE49-975B-BD39D9E833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288" y="2736318"/>
            <a:ext cx="1329512" cy="2482114"/>
          </a:xfrm>
          <a:prstGeom prst="rect">
            <a:avLst/>
          </a:prstGeom>
        </p:spPr>
      </p:pic>
      <p:pic>
        <p:nvPicPr>
          <p:cNvPr id="19" name="Grafik 18" descr="Ein Bild, das Objekt enthält.&#10;&#10;&#10;&#10;Automatisch generierte Beschreibung">
            <a:extLst>
              <a:ext uri="{FF2B5EF4-FFF2-40B4-BE49-F238E27FC236}">
                <a16:creationId xmlns:a16="http://schemas.microsoft.com/office/drawing/2014/main" id="{E59662BE-AF42-BF44-AEA6-1ACBB77533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88499" y="2057821"/>
            <a:ext cx="564207" cy="1689842"/>
          </a:xfrm>
          <a:prstGeom prst="rect">
            <a:avLst/>
          </a:prstGeom>
        </p:spPr>
      </p:pic>
      <p:sp>
        <p:nvSpPr>
          <p:cNvPr id="20" name="Plus 19">
            <a:extLst>
              <a:ext uri="{FF2B5EF4-FFF2-40B4-BE49-F238E27FC236}">
                <a16:creationId xmlns:a16="http://schemas.microsoft.com/office/drawing/2014/main" id="{D9F06EE4-A9E2-C44F-8C7B-5A3CB854FCDD}"/>
              </a:ext>
            </a:extLst>
          </p:cNvPr>
          <p:cNvSpPr/>
          <p:nvPr/>
        </p:nvSpPr>
        <p:spPr>
          <a:xfrm>
            <a:off x="4862504" y="2687299"/>
            <a:ext cx="564207" cy="525106"/>
          </a:xfrm>
          <a:prstGeom prst="mathPlus">
            <a:avLst/>
          </a:prstGeom>
          <a:solidFill>
            <a:srgbClr val="818181"/>
          </a:solidFill>
          <a:ln>
            <a:solidFill>
              <a:srgbClr val="81818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0B29D134-EAA1-864E-B9FA-855589DFCD8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42626" y="2546095"/>
            <a:ext cx="2115423" cy="713293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0ACDE9E8-9AF5-1E44-8CA0-F98231B61E9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879269">
            <a:off x="4259505" y="2020363"/>
            <a:ext cx="314686" cy="506503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40FB1B03-E39D-3947-9D10-C2C9B6252F8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53523">
            <a:off x="6197205" y="1804569"/>
            <a:ext cx="314686" cy="506503"/>
          </a:xfrm>
          <a:prstGeom prst="rect">
            <a:avLst/>
          </a:prstGeom>
        </p:spPr>
      </p:pic>
      <p:pic>
        <p:nvPicPr>
          <p:cNvPr id="28" name="Grafik 27">
            <a:extLst>
              <a:ext uri="{FF2B5EF4-FFF2-40B4-BE49-F238E27FC236}">
                <a16:creationId xmlns:a16="http://schemas.microsoft.com/office/drawing/2014/main" id="{0CDA6B0B-4219-8F41-BC6F-E6E677E8F76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9511502">
            <a:off x="5146276" y="1870952"/>
            <a:ext cx="314686" cy="506503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E84D2196-7C17-A842-BD82-37A2D7B05D7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53689" y="1994420"/>
            <a:ext cx="314686" cy="506503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0C4C0369-F857-204D-B2B9-11E210DD446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424532">
            <a:off x="6325619" y="2425897"/>
            <a:ext cx="314686" cy="506503"/>
          </a:xfrm>
          <a:prstGeom prst="rect">
            <a:avLst/>
          </a:prstGeom>
        </p:spPr>
      </p:pic>
      <p:pic>
        <p:nvPicPr>
          <p:cNvPr id="31" name="Grafik 30">
            <a:extLst>
              <a:ext uri="{FF2B5EF4-FFF2-40B4-BE49-F238E27FC236}">
                <a16:creationId xmlns:a16="http://schemas.microsoft.com/office/drawing/2014/main" id="{705F5E08-98A5-AD43-9D4A-8E26A04D160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0728826">
            <a:off x="5100900" y="3359097"/>
            <a:ext cx="314686" cy="506503"/>
          </a:xfrm>
          <a:prstGeom prst="rect">
            <a:avLst/>
          </a:prstGeom>
        </p:spPr>
      </p:pic>
      <p:pic>
        <p:nvPicPr>
          <p:cNvPr id="32" name="Grafik 31">
            <a:extLst>
              <a:ext uri="{FF2B5EF4-FFF2-40B4-BE49-F238E27FC236}">
                <a16:creationId xmlns:a16="http://schemas.microsoft.com/office/drawing/2014/main" id="{A87A5F3B-DC6E-DB4C-B3D5-97FB805B7DA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179541">
            <a:off x="4504122" y="3322013"/>
            <a:ext cx="314686" cy="506503"/>
          </a:xfrm>
          <a:prstGeom prst="rect">
            <a:avLst/>
          </a:prstGeom>
        </p:spPr>
      </p:pic>
      <p:pic>
        <p:nvPicPr>
          <p:cNvPr id="33" name="Grafik 32">
            <a:extLst>
              <a:ext uri="{FF2B5EF4-FFF2-40B4-BE49-F238E27FC236}">
                <a16:creationId xmlns:a16="http://schemas.microsoft.com/office/drawing/2014/main" id="{ACB04858-1787-BC48-9FBE-0546CFED0C1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179541">
            <a:off x="3356137" y="3323642"/>
            <a:ext cx="314686" cy="506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445428"/>
      </p:ext>
    </p:extLst>
  </p:cSld>
  <p:clrMapOvr>
    <a:masterClrMapping/>
  </p:clrMapOvr>
  <p:transition advTm="195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eart 6">
            <a:extLst>
              <a:ext uri="{FF2B5EF4-FFF2-40B4-BE49-F238E27FC236}">
                <a16:creationId xmlns:a16="http://schemas.microsoft.com/office/drawing/2014/main" id="{CE9A215E-5E4B-40DC-9F5F-C3F0A5A283B9}"/>
              </a:ext>
            </a:extLst>
          </p:cNvPr>
          <p:cNvSpPr/>
          <p:nvPr/>
        </p:nvSpPr>
        <p:spPr>
          <a:xfrm>
            <a:off x="9144000" y="-1429664"/>
            <a:ext cx="5488525" cy="3415553"/>
          </a:xfrm>
          <a:prstGeom prst="heart">
            <a:avLst/>
          </a:prstGeom>
          <a:solidFill>
            <a:srgbClr val="FF71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E0DC24-B072-4A64-9325-BD32EAB5B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Driving-E-Car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863EFF-DB0B-4BD3-9CC1-CEC07ECFEF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9E1C27-721B-43F5-BC79-2BF9601E0F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5279" y="3814780"/>
            <a:ext cx="761671" cy="15233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418DDF-C26B-4849-A4CB-DE302A9423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503" y="2080138"/>
            <a:ext cx="1032775" cy="10327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047623E-A92D-4FE5-BFF3-E87EF339C8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1795" y="-317195"/>
            <a:ext cx="3452500" cy="2070152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CA088E2B-03FB-4898-921D-9016CF75BB05}"/>
              </a:ext>
            </a:extLst>
          </p:cNvPr>
          <p:cNvSpPr/>
          <p:nvPr/>
        </p:nvSpPr>
        <p:spPr>
          <a:xfrm>
            <a:off x="12749023" y="-614141"/>
            <a:ext cx="734182" cy="1173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6CA06C3-9434-4294-8B0A-BF8E0C414C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60322" y="-145096"/>
            <a:ext cx="376727" cy="37672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8453B20-EB18-4322-9904-2970BDD526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95179" y="-538130"/>
            <a:ext cx="441870" cy="4418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7111254-2B8A-4EEE-AA34-0E64BED314FB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-7227" b="14959"/>
          <a:stretch/>
        </p:blipFill>
        <p:spPr>
          <a:xfrm rot="5400000" flipH="1">
            <a:off x="12659324" y="389503"/>
            <a:ext cx="734182" cy="58227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EC3AFA9-0BB5-4A76-A26E-F9F96F5ED6D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83703" y="3290654"/>
            <a:ext cx="1201197" cy="1201197"/>
          </a:xfrm>
          <a:prstGeom prst="rect">
            <a:avLst/>
          </a:prstGeom>
        </p:spPr>
      </p:pic>
      <p:sp>
        <p:nvSpPr>
          <p:cNvPr id="23" name="Heart 22">
            <a:extLst>
              <a:ext uri="{FF2B5EF4-FFF2-40B4-BE49-F238E27FC236}">
                <a16:creationId xmlns:a16="http://schemas.microsoft.com/office/drawing/2014/main" id="{F2FA11F2-5541-4ED8-A450-82B2D8D8EB19}"/>
              </a:ext>
            </a:extLst>
          </p:cNvPr>
          <p:cNvSpPr/>
          <p:nvPr/>
        </p:nvSpPr>
        <p:spPr>
          <a:xfrm>
            <a:off x="12444295" y="2388972"/>
            <a:ext cx="1343638" cy="1183578"/>
          </a:xfrm>
          <a:prstGeom prst="heart">
            <a:avLst/>
          </a:prstGeom>
          <a:solidFill>
            <a:srgbClr val="FF71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7472170B-F2A0-C749-8802-24A598A9B25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01306" y="2216099"/>
            <a:ext cx="4741229" cy="1598681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DCF31D01-E32D-0441-A3EB-59A4738C51D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569295">
            <a:off x="6094828" y="2693536"/>
            <a:ext cx="214287" cy="872384"/>
          </a:xfrm>
          <a:prstGeom prst="rect">
            <a:avLst/>
          </a:prstGeom>
        </p:spPr>
      </p:pic>
      <p:pic>
        <p:nvPicPr>
          <p:cNvPr id="16" name="Grafik 15" descr="Ein Bild, das Objekt enthält.&#10;&#10;&#10;&#10;Automatisch generierte Beschreibung">
            <a:extLst>
              <a:ext uri="{FF2B5EF4-FFF2-40B4-BE49-F238E27FC236}">
                <a16:creationId xmlns:a16="http://schemas.microsoft.com/office/drawing/2014/main" id="{E7F71EDB-4856-DF4F-890E-358CA65A5DA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963" y="2975739"/>
            <a:ext cx="2447603" cy="2262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780169"/>
      </p:ext>
    </p:extLst>
  </p:cSld>
  <p:clrMapOvr>
    <a:masterClrMapping/>
  </p:clrMapOvr>
  <p:transition advTm="211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29F10EBE-92C0-4A93-A107-9BC7F9AC34F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7</a:t>
            </a:fld>
            <a:endParaRPr lang="de-DE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AB6E73B8-92A1-487F-828F-E14511BDA105}"/>
              </a:ext>
            </a:extLst>
          </p:cNvPr>
          <p:cNvSpPr/>
          <p:nvPr/>
        </p:nvSpPr>
        <p:spPr>
          <a:xfrm>
            <a:off x="1494064" y="171450"/>
            <a:ext cx="6172200" cy="451485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87ABC1D6-E6C0-4DE2-9C7B-126717671C24}"/>
              </a:ext>
            </a:extLst>
          </p:cNvPr>
          <p:cNvSpPr/>
          <p:nvPr/>
        </p:nvSpPr>
        <p:spPr>
          <a:xfrm>
            <a:off x="1110343" y="244929"/>
            <a:ext cx="6849836" cy="451485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419E0D09-4733-4070-AA11-E245E861D1EF}"/>
              </a:ext>
            </a:extLst>
          </p:cNvPr>
          <p:cNvSpPr/>
          <p:nvPr/>
        </p:nvSpPr>
        <p:spPr>
          <a:xfrm>
            <a:off x="947057" y="653143"/>
            <a:ext cx="7249886" cy="83275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3F88C16A-828F-40D5-BED2-4EF5A6000EFC}"/>
              </a:ext>
            </a:extLst>
          </p:cNvPr>
          <p:cNvSpPr/>
          <p:nvPr/>
        </p:nvSpPr>
        <p:spPr>
          <a:xfrm>
            <a:off x="7388679" y="1208314"/>
            <a:ext cx="1036864" cy="273503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EEB542A1-C3D1-4D5F-A1CB-EBCC6E652D86}"/>
              </a:ext>
            </a:extLst>
          </p:cNvPr>
          <p:cNvSpPr/>
          <p:nvPr/>
        </p:nvSpPr>
        <p:spPr>
          <a:xfrm>
            <a:off x="747032" y="1347107"/>
            <a:ext cx="1036864" cy="273503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70FC5DD2-9FC6-4302-9268-4ACB6A3B54DD}"/>
              </a:ext>
            </a:extLst>
          </p:cNvPr>
          <p:cNvSpPr/>
          <p:nvPr/>
        </p:nvSpPr>
        <p:spPr>
          <a:xfrm rot="5400000">
            <a:off x="4206648" y="3094264"/>
            <a:ext cx="1036864" cy="273503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F57FF77F-DA31-4A36-9A23-52C61AD95D6A}"/>
              </a:ext>
            </a:extLst>
          </p:cNvPr>
          <p:cNvSpPr/>
          <p:nvPr/>
        </p:nvSpPr>
        <p:spPr>
          <a:xfrm rot="16200000">
            <a:off x="2209800" y="-714375"/>
            <a:ext cx="1036864" cy="273503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E8B1876C-8DA4-4C95-8681-2465FFE73B1F}"/>
              </a:ext>
            </a:extLst>
          </p:cNvPr>
          <p:cNvSpPr/>
          <p:nvPr/>
        </p:nvSpPr>
        <p:spPr>
          <a:xfrm rot="16200000">
            <a:off x="5780314" y="-714375"/>
            <a:ext cx="1036864" cy="273503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2ED82C1B-48CF-4FAB-9E74-B6BB349C5C53}"/>
              </a:ext>
            </a:extLst>
          </p:cNvPr>
          <p:cNvSpPr/>
          <p:nvPr/>
        </p:nvSpPr>
        <p:spPr>
          <a:xfrm rot="16200000">
            <a:off x="5815861" y="3092590"/>
            <a:ext cx="1036864" cy="273503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B14ACE08-59A3-4D85-90BC-CA40C78A176E}"/>
              </a:ext>
            </a:extLst>
          </p:cNvPr>
          <p:cNvSpPr/>
          <p:nvPr/>
        </p:nvSpPr>
        <p:spPr>
          <a:xfrm rot="16200000">
            <a:off x="2068285" y="3102429"/>
            <a:ext cx="1036864" cy="273503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545260A5-88E9-4B37-B58C-91FBBF218530}"/>
              </a:ext>
            </a:extLst>
          </p:cNvPr>
          <p:cNvSpPr/>
          <p:nvPr/>
        </p:nvSpPr>
        <p:spPr>
          <a:xfrm>
            <a:off x="7161099" y="1614855"/>
            <a:ext cx="1036864" cy="273503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9CB24FB0-9728-594B-9A7D-EA2B171BF4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78" y="244929"/>
            <a:ext cx="7583771" cy="4661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714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"/>
          <p:cNvSpPr txBox="1">
            <a:spLocks noGrp="1"/>
          </p:cNvSpPr>
          <p:nvPr>
            <p:ph type="ctrTitle" idx="4294967295"/>
          </p:nvPr>
        </p:nvSpPr>
        <p:spPr>
          <a:xfrm>
            <a:off x="2092625" y="2954950"/>
            <a:ext cx="49587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Big concept</a:t>
            </a:r>
            <a:endParaRPr sz="6000"/>
          </a:p>
        </p:txBody>
      </p:sp>
      <p:sp>
        <p:nvSpPr>
          <p:cNvPr id="206" name="Google Shape;206;p20"/>
          <p:cNvSpPr txBox="1">
            <a:spLocks noGrp="1"/>
          </p:cNvSpPr>
          <p:nvPr>
            <p:ph type="subTitle" idx="4294967295"/>
          </p:nvPr>
        </p:nvSpPr>
        <p:spPr>
          <a:xfrm>
            <a:off x="2092625" y="4097352"/>
            <a:ext cx="49587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buNone/>
            </a:pPr>
            <a:r>
              <a:rPr lang="de-DE" sz="1400" dirty="0"/>
              <a:t>In </a:t>
            </a:r>
            <a:r>
              <a:rPr lang="de-DE" sz="1400" dirty="0" err="1"/>
              <a:t>Koorperation</a:t>
            </a:r>
            <a:r>
              <a:rPr lang="de-DE" sz="1400" dirty="0"/>
              <a:t> mit Team 03: "</a:t>
            </a:r>
            <a:r>
              <a:rPr lang="de-DE" sz="1400" dirty="0" err="1"/>
              <a:t>LogistGo</a:t>
            </a:r>
            <a:r>
              <a:rPr lang="de-DE" sz="1400" dirty="0"/>
              <a:t>"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C8B70310-85DF-994A-81A4-44B6132C8B9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8</a:t>
            </a:fld>
            <a:endParaRPr lang="de-DE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8CCDB16-DF91-4EBC-B6F8-5331377DC4BB}"/>
              </a:ext>
            </a:extLst>
          </p:cNvPr>
          <p:cNvGrpSpPr/>
          <p:nvPr/>
        </p:nvGrpSpPr>
        <p:grpSpPr>
          <a:xfrm>
            <a:off x="3390536" y="1032504"/>
            <a:ext cx="2362877" cy="1539246"/>
            <a:chOff x="3390536" y="1032504"/>
            <a:chExt cx="2362877" cy="1539246"/>
          </a:xfrm>
        </p:grpSpPr>
        <p:pic>
          <p:nvPicPr>
            <p:cNvPr id="17" name="Grafik 2">
              <a:extLst>
                <a:ext uri="{FF2B5EF4-FFF2-40B4-BE49-F238E27FC236}">
                  <a16:creationId xmlns:a16="http://schemas.microsoft.com/office/drawing/2014/main" id="{FF6C35CA-AD7E-4F5A-B8E1-FC20773C4B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390536" y="1032504"/>
              <a:ext cx="2362877" cy="1539246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8924C288-64FB-4C06-82F5-5595BD4B7E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04397" y="1451512"/>
              <a:ext cx="1135206" cy="996428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23BED0B-3491-4A26-A8D9-FE2D68E4B72B}"/>
              </a:ext>
            </a:extLst>
          </p:cNvPr>
          <p:cNvGrpSpPr/>
          <p:nvPr/>
        </p:nvGrpSpPr>
        <p:grpSpPr>
          <a:xfrm>
            <a:off x="1579873" y="1009112"/>
            <a:ext cx="864360" cy="1109520"/>
            <a:chOff x="1463040" y="993600"/>
            <a:chExt cx="864360" cy="1109520"/>
          </a:xfrm>
        </p:grpSpPr>
        <p:sp>
          <p:nvSpPr>
            <p:cNvPr id="18" name="CustomShape 4">
              <a:extLst>
                <a:ext uri="{FF2B5EF4-FFF2-40B4-BE49-F238E27FC236}">
                  <a16:creationId xmlns:a16="http://schemas.microsoft.com/office/drawing/2014/main" id="{D519429B-2CCD-4B2A-96CE-530C2535203D}"/>
                </a:ext>
              </a:extLst>
            </p:cNvPr>
            <p:cNvSpPr/>
            <p:nvPr/>
          </p:nvSpPr>
          <p:spPr>
            <a:xfrm>
              <a:off x="1463040" y="993600"/>
              <a:ext cx="864360" cy="1109520"/>
            </a:xfrm>
            <a:custGeom>
              <a:avLst/>
              <a:gdLst/>
              <a:ahLst/>
              <a:cxnLst/>
              <a:rect l="l" t="t" r="r" b="b"/>
              <a:pathLst>
                <a:path w="15978" h="2050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w="1224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EDC991B7-F1F1-4917-9C23-F688909B6FA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16734" y="1271830"/>
              <a:ext cx="555004" cy="487155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418C144-992A-408B-BFFE-D19181497087}"/>
              </a:ext>
            </a:extLst>
          </p:cNvPr>
          <p:cNvGrpSpPr/>
          <p:nvPr/>
        </p:nvGrpSpPr>
        <p:grpSpPr>
          <a:xfrm>
            <a:off x="845803" y="1758985"/>
            <a:ext cx="457200" cy="792360"/>
            <a:chOff x="914400" y="1676520"/>
            <a:chExt cx="457200" cy="792360"/>
          </a:xfrm>
        </p:grpSpPr>
        <p:sp>
          <p:nvSpPr>
            <p:cNvPr id="19" name="CustomShape 5">
              <a:extLst>
                <a:ext uri="{FF2B5EF4-FFF2-40B4-BE49-F238E27FC236}">
                  <a16:creationId xmlns:a16="http://schemas.microsoft.com/office/drawing/2014/main" id="{4F948CDD-64E3-4B2F-9D8F-18A5FC957C67}"/>
                </a:ext>
              </a:extLst>
            </p:cNvPr>
            <p:cNvSpPr/>
            <p:nvPr/>
          </p:nvSpPr>
          <p:spPr>
            <a:xfrm>
              <a:off x="914400" y="1676520"/>
              <a:ext cx="457200" cy="792360"/>
            </a:xfrm>
            <a:custGeom>
              <a:avLst/>
              <a:gdLst/>
              <a:ahLst/>
              <a:cxnLst/>
              <a:rect l="l" t="t" r="r" b="b"/>
              <a:pathLst>
                <a:path w="11838" h="2050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w="1224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3EA8B292-E00E-4D11-A3E3-1D9A393FB5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0626" y="1896883"/>
              <a:ext cx="317366" cy="278568"/>
            </a:xfrm>
            <a:prstGeom prst="rect">
              <a:avLst/>
            </a:prstGeom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38AABC0-B769-4318-8F12-E6157CDE298C}"/>
              </a:ext>
            </a:extLst>
          </p:cNvPr>
          <p:cNvGrpSpPr/>
          <p:nvPr/>
        </p:nvGrpSpPr>
        <p:grpSpPr>
          <a:xfrm>
            <a:off x="6601131" y="981734"/>
            <a:ext cx="1393560" cy="1319760"/>
            <a:chOff x="6601131" y="981734"/>
            <a:chExt cx="1393560" cy="1319760"/>
          </a:xfrm>
        </p:grpSpPr>
        <p:grpSp>
          <p:nvGrpSpPr>
            <p:cNvPr id="20" name="Group 6">
              <a:extLst>
                <a:ext uri="{FF2B5EF4-FFF2-40B4-BE49-F238E27FC236}">
                  <a16:creationId xmlns:a16="http://schemas.microsoft.com/office/drawing/2014/main" id="{6C3B0BF7-C9D0-4D85-8FEA-9A86ED4ED279}"/>
                </a:ext>
              </a:extLst>
            </p:cNvPr>
            <p:cNvGrpSpPr/>
            <p:nvPr/>
          </p:nvGrpSpPr>
          <p:grpSpPr>
            <a:xfrm>
              <a:off x="6601131" y="981734"/>
              <a:ext cx="1393560" cy="1319760"/>
              <a:chOff x="6126480" y="1188720"/>
              <a:chExt cx="1393560" cy="1319760"/>
            </a:xfrm>
          </p:grpSpPr>
          <p:sp>
            <p:nvSpPr>
              <p:cNvPr id="21" name="CustomShape 7">
                <a:extLst>
                  <a:ext uri="{FF2B5EF4-FFF2-40B4-BE49-F238E27FC236}">
                    <a16:creationId xmlns:a16="http://schemas.microsoft.com/office/drawing/2014/main" id="{D5FD9872-ACCB-493C-A24B-3D7EB1612B37}"/>
                  </a:ext>
                </a:extLst>
              </p:cNvPr>
              <p:cNvSpPr/>
              <p:nvPr/>
            </p:nvSpPr>
            <p:spPr>
              <a:xfrm>
                <a:off x="6483600" y="2222640"/>
                <a:ext cx="679320" cy="285840"/>
              </a:xfrm>
              <a:custGeom>
                <a:avLst/>
                <a:gdLst/>
                <a:ahLst/>
                <a:cxnLst/>
                <a:rect l="l" t="t" r="r" b="b"/>
                <a:pathLst>
                  <a:path w="9012" h="3800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w="1224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2" name="CustomShape 8">
                <a:extLst>
                  <a:ext uri="{FF2B5EF4-FFF2-40B4-BE49-F238E27FC236}">
                    <a16:creationId xmlns:a16="http://schemas.microsoft.com/office/drawing/2014/main" id="{D51B9A51-96C9-44FE-930A-9345CC3A81B8}"/>
                  </a:ext>
                </a:extLst>
              </p:cNvPr>
              <p:cNvSpPr/>
              <p:nvPr/>
            </p:nvSpPr>
            <p:spPr>
              <a:xfrm>
                <a:off x="6126480" y="1188720"/>
                <a:ext cx="1393560" cy="1014480"/>
              </a:xfrm>
              <a:custGeom>
                <a:avLst/>
                <a:gdLst/>
                <a:ahLst/>
                <a:cxnLst/>
                <a:rect l="l" t="t" r="r" b="b"/>
                <a:pathLst>
                  <a:path w="18462" h="13445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w="1224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BA7C6E2F-F22A-4BA6-8E86-D237572DFFC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16084" y="1165761"/>
              <a:ext cx="764876" cy="671371"/>
            </a:xfrm>
            <a:prstGeom prst="rect">
              <a:avLst/>
            </a:prstGeom>
          </p:spPr>
        </p:pic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B205E6EB-9D9B-4AD8-8B41-DB0F2028BF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6108" y="128883"/>
            <a:ext cx="836292" cy="734057"/>
          </a:xfrm>
          <a:prstGeom prst="rect">
            <a:avLst/>
          </a:prstGeom>
        </p:spPr>
      </p:pic>
    </p:spTree>
  </p:cSld>
  <p:clrMapOvr>
    <a:masterClrMapping/>
  </p:clrMapOvr>
  <p:transition advTm="288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45FBD7-CC5B-457A-8F47-C2256CA3993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85F353E-729D-41CA-B0BD-7BDBF765A482}"/>
              </a:ext>
            </a:extLst>
          </p:cNvPr>
          <p:cNvGrpSpPr/>
          <p:nvPr/>
        </p:nvGrpSpPr>
        <p:grpSpPr>
          <a:xfrm>
            <a:off x="596935" y="314779"/>
            <a:ext cx="3455123" cy="4327175"/>
            <a:chOff x="2606039" y="57978"/>
            <a:chExt cx="3931922" cy="4924315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3FFAC714-E4BD-4437-89F9-DE21CD2ED44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425" t="2701" r="3425" b="2939"/>
            <a:stretch/>
          </p:blipFill>
          <p:spPr>
            <a:xfrm>
              <a:off x="2606039" y="156754"/>
              <a:ext cx="3931922" cy="4825539"/>
            </a:xfrm>
            <a:prstGeom prst="rect">
              <a:avLst/>
            </a:prstGeom>
          </p:spPr>
        </p:pic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B8E393C-D742-462B-8BA0-9B9B373F5B67}"/>
                </a:ext>
              </a:extLst>
            </p:cNvPr>
            <p:cNvGrpSpPr/>
            <p:nvPr/>
          </p:nvGrpSpPr>
          <p:grpSpPr>
            <a:xfrm>
              <a:off x="5363156" y="57978"/>
              <a:ext cx="1150949" cy="1663225"/>
              <a:chOff x="7098928" y="42076"/>
              <a:chExt cx="1150949" cy="1663225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073C9B73-FEAB-4024-A612-B13E9743CF98}"/>
                  </a:ext>
                </a:extLst>
              </p:cNvPr>
              <p:cNvGrpSpPr/>
              <p:nvPr/>
            </p:nvGrpSpPr>
            <p:grpSpPr>
              <a:xfrm>
                <a:off x="7098928" y="317795"/>
                <a:ext cx="1150949" cy="1178957"/>
                <a:chOff x="7098928" y="317795"/>
                <a:chExt cx="1150949" cy="1178957"/>
              </a:xfrm>
            </p:grpSpPr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E0303E49-7F0B-4181-84E0-21255715AF61}"/>
                    </a:ext>
                  </a:extLst>
                </p:cNvPr>
                <p:cNvSpPr/>
                <p:nvPr/>
              </p:nvSpPr>
              <p:spPr>
                <a:xfrm rot="2700000">
                  <a:off x="7306930" y="646347"/>
                  <a:ext cx="978468" cy="32136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DE" sz="2800" b="1" spc="600" dirty="0">
                    <a:latin typeface="Poppins" panose="020B0604020202020204" charset="0"/>
                    <a:cs typeface="Poppins" panose="020B0604020202020204" charset="0"/>
                  </a:endParaRPr>
                </a:p>
              </p:txBody>
            </p:sp>
            <p:sp>
              <p:nvSpPr>
                <p:cNvPr id="25" name="Isosceles Triangle 24">
                  <a:extLst>
                    <a:ext uri="{FF2B5EF4-FFF2-40B4-BE49-F238E27FC236}">
                      <a16:creationId xmlns:a16="http://schemas.microsoft.com/office/drawing/2014/main" id="{01E95E65-5D0E-4D0C-AB4B-C92C08816A84}"/>
                    </a:ext>
                  </a:extLst>
                </p:cNvPr>
                <p:cNvSpPr/>
                <p:nvPr/>
              </p:nvSpPr>
              <p:spPr>
                <a:xfrm rot="10800000">
                  <a:off x="7098928" y="347468"/>
                  <a:ext cx="460327" cy="396496"/>
                </a:xfrm>
                <a:prstGeom prst="triangle">
                  <a:avLst>
                    <a:gd name="adj" fmla="val 11181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DE" sz="2800" b="1" spc="600">
                    <a:latin typeface="Poppins" panose="020B0604020202020204" charset="0"/>
                    <a:cs typeface="Poppins" panose="020B0604020202020204" charset="0"/>
                  </a:endParaRPr>
                </a:p>
              </p:txBody>
            </p:sp>
            <p:sp>
              <p:nvSpPr>
                <p:cNvPr id="26" name="Isosceles Triangle 25">
                  <a:extLst>
                    <a:ext uri="{FF2B5EF4-FFF2-40B4-BE49-F238E27FC236}">
                      <a16:creationId xmlns:a16="http://schemas.microsoft.com/office/drawing/2014/main" id="{CA2A4CF6-17D9-489A-9CE7-954E75FA0845}"/>
                    </a:ext>
                  </a:extLst>
                </p:cNvPr>
                <p:cNvSpPr/>
                <p:nvPr/>
              </p:nvSpPr>
              <p:spPr>
                <a:xfrm rot="5400000" flipV="1">
                  <a:off x="7821465" y="1068341"/>
                  <a:ext cx="460327" cy="396496"/>
                </a:xfrm>
                <a:prstGeom prst="triangle">
                  <a:avLst>
                    <a:gd name="adj" fmla="val 11181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DE" sz="2800" b="1" spc="600">
                    <a:latin typeface="Poppins" panose="020B0604020202020204" charset="0"/>
                    <a:cs typeface="Poppins" panose="020B0604020202020204" charset="0"/>
                  </a:endParaRPr>
                </a:p>
              </p:txBody>
            </p:sp>
          </p:grp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9B51AF2A-B260-40BE-9640-8CC167D95B43}"/>
                  </a:ext>
                </a:extLst>
              </p:cNvPr>
              <p:cNvSpPr/>
              <p:nvPr/>
            </p:nvSpPr>
            <p:spPr>
              <a:xfrm rot="2700000">
                <a:off x="6990314" y="752574"/>
                <a:ext cx="1663225" cy="24223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1" spc="600" dirty="0">
                    <a:solidFill>
                      <a:srgbClr val="818181"/>
                    </a:solidFill>
                    <a:latin typeface="Poppins" panose="020B0604020202020204" charset="0"/>
                    <a:cs typeface="Poppins" panose="020B0604020202020204" charset="0"/>
                  </a:rPr>
                  <a:t>Mobile</a:t>
                </a:r>
                <a:endParaRPr lang="en-DE" sz="1800" b="1" spc="600" dirty="0">
                  <a:solidFill>
                    <a:srgbClr val="818181"/>
                  </a:solidFill>
                  <a:latin typeface="Poppins" panose="020B0604020202020204" charset="0"/>
                  <a:cs typeface="Poppins" panose="020B0604020202020204" charset="0"/>
                </a:endParaRPr>
              </a:p>
            </p:txBody>
          </p:sp>
        </p:grp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E3A9CDB-0C94-4CE9-BC18-B418A8215B0C}"/>
              </a:ext>
            </a:extLst>
          </p:cNvPr>
          <p:cNvGrpSpPr/>
          <p:nvPr/>
        </p:nvGrpSpPr>
        <p:grpSpPr>
          <a:xfrm>
            <a:off x="4663645" y="374522"/>
            <a:ext cx="3503005" cy="4294486"/>
            <a:chOff x="4310447" y="79275"/>
            <a:chExt cx="4023656" cy="4932775"/>
          </a:xfrm>
        </p:grpSpPr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8CEDD63B-B24D-45B6-8635-984F7542E5F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3070" t="2556" r="2154" b="2554"/>
            <a:stretch/>
          </p:blipFill>
          <p:spPr>
            <a:xfrm>
              <a:off x="4310447" y="131449"/>
              <a:ext cx="4023656" cy="4880601"/>
            </a:xfrm>
            <a:prstGeom prst="rect">
              <a:avLst/>
            </a:prstGeom>
          </p:spPr>
        </p:pic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C56EC94A-4F44-428C-A945-A4198D8E7FEF}"/>
                </a:ext>
              </a:extLst>
            </p:cNvPr>
            <p:cNvGrpSpPr/>
            <p:nvPr/>
          </p:nvGrpSpPr>
          <p:grpSpPr>
            <a:xfrm>
              <a:off x="7098928" y="79275"/>
              <a:ext cx="1150949" cy="1569660"/>
              <a:chOff x="7098928" y="79275"/>
              <a:chExt cx="1150949" cy="1569660"/>
            </a:xfrm>
          </p:grpSpPr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DA23FB68-4753-4722-9859-12BEAAC0E0A5}"/>
                  </a:ext>
                </a:extLst>
              </p:cNvPr>
              <p:cNvGrpSpPr/>
              <p:nvPr/>
            </p:nvGrpSpPr>
            <p:grpSpPr>
              <a:xfrm>
                <a:off x="7098928" y="317795"/>
                <a:ext cx="1150949" cy="1178957"/>
                <a:chOff x="7098928" y="317795"/>
                <a:chExt cx="1150949" cy="1178957"/>
              </a:xfrm>
            </p:grpSpPr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E350B757-E9C1-4C18-B4D5-7BA5087AF819}"/>
                    </a:ext>
                  </a:extLst>
                </p:cNvPr>
                <p:cNvSpPr/>
                <p:nvPr/>
              </p:nvSpPr>
              <p:spPr>
                <a:xfrm rot="2700000">
                  <a:off x="7306930" y="646347"/>
                  <a:ext cx="978468" cy="32136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DE" sz="2800" b="1" spc="600" dirty="0">
                    <a:latin typeface="Poppins" panose="020B0604020202020204" charset="0"/>
                    <a:cs typeface="Poppins" panose="020B0604020202020204" charset="0"/>
                  </a:endParaRPr>
                </a:p>
              </p:txBody>
            </p:sp>
            <p:sp>
              <p:nvSpPr>
                <p:cNvPr id="41" name="Isosceles Triangle 40">
                  <a:extLst>
                    <a:ext uri="{FF2B5EF4-FFF2-40B4-BE49-F238E27FC236}">
                      <a16:creationId xmlns:a16="http://schemas.microsoft.com/office/drawing/2014/main" id="{1943E9E5-16E8-4E23-A0E6-7ADC044671E0}"/>
                    </a:ext>
                  </a:extLst>
                </p:cNvPr>
                <p:cNvSpPr/>
                <p:nvPr/>
              </p:nvSpPr>
              <p:spPr>
                <a:xfrm rot="10800000">
                  <a:off x="7098928" y="347468"/>
                  <a:ext cx="460327" cy="396496"/>
                </a:xfrm>
                <a:prstGeom prst="triangle">
                  <a:avLst>
                    <a:gd name="adj" fmla="val 11181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DE" sz="2800" b="1" spc="600">
                    <a:latin typeface="Poppins" panose="020B0604020202020204" charset="0"/>
                    <a:cs typeface="Poppins" panose="020B0604020202020204" charset="0"/>
                  </a:endParaRPr>
                </a:p>
              </p:txBody>
            </p:sp>
            <p:sp>
              <p:nvSpPr>
                <p:cNvPr id="42" name="Isosceles Triangle 41">
                  <a:extLst>
                    <a:ext uri="{FF2B5EF4-FFF2-40B4-BE49-F238E27FC236}">
                      <a16:creationId xmlns:a16="http://schemas.microsoft.com/office/drawing/2014/main" id="{4FE716F3-A5AB-45F5-A5EB-04696005DFFA}"/>
                    </a:ext>
                  </a:extLst>
                </p:cNvPr>
                <p:cNvSpPr/>
                <p:nvPr/>
              </p:nvSpPr>
              <p:spPr>
                <a:xfrm rot="5400000" flipV="1">
                  <a:off x="7821465" y="1068341"/>
                  <a:ext cx="460327" cy="396496"/>
                </a:xfrm>
                <a:prstGeom prst="triangle">
                  <a:avLst>
                    <a:gd name="adj" fmla="val 11181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DE" sz="2800" b="1" spc="600">
                    <a:latin typeface="Poppins" panose="020B0604020202020204" charset="0"/>
                    <a:cs typeface="Poppins" panose="020B0604020202020204" charset="0"/>
                  </a:endParaRPr>
                </a:p>
              </p:txBody>
            </p:sp>
          </p:grp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997C3B3D-AAEE-41F9-9ECE-D301E8864732}"/>
                  </a:ext>
                </a:extLst>
              </p:cNvPr>
              <p:cNvSpPr/>
              <p:nvPr/>
            </p:nvSpPr>
            <p:spPr>
              <a:xfrm rot="2700000">
                <a:off x="7027510" y="742990"/>
                <a:ext cx="1569660" cy="24223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b="1" spc="600" dirty="0">
                    <a:solidFill>
                      <a:srgbClr val="818181"/>
                    </a:solidFill>
                    <a:latin typeface="Poppins" panose="020B0604020202020204" charset="0"/>
                    <a:cs typeface="Poppins" panose="020B0604020202020204" charset="0"/>
                  </a:rPr>
                  <a:t>Web</a:t>
                </a:r>
                <a:endParaRPr lang="en-DE" sz="1800" b="1" spc="600" dirty="0">
                  <a:solidFill>
                    <a:srgbClr val="818181"/>
                  </a:solidFill>
                  <a:latin typeface="Poppins" panose="020B0604020202020204" charset="0"/>
                  <a:cs typeface="Poppins" panose="020B0604020202020204" charset="0"/>
                </a:endParaRPr>
              </a:p>
            </p:txBody>
          </p:sp>
        </p:grp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FFF7E371-8BD6-4447-83F9-94143A63D4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6108" y="128883"/>
            <a:ext cx="836292" cy="73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79100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48148E-6 L -0.22795 -0.00124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406" y="-62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" dur="2000" fill="hold"/>
                                        <p:tgtEl>
                                          <p:spTgt spid="19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" dur="1250" fill="hold"/>
                                        <p:tgtEl>
                                          <p:spTgt spid="35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94C5B1-BAA3-47AC-9E21-832556908F6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8C7BFF-7EC7-4C39-A7C2-1CA58EE6C5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0907" y="3146112"/>
            <a:ext cx="764362" cy="764362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A6A9F355-B7D4-426E-A5F8-7B3A68FD5562}"/>
              </a:ext>
            </a:extLst>
          </p:cNvPr>
          <p:cNvGrpSpPr/>
          <p:nvPr/>
        </p:nvGrpSpPr>
        <p:grpSpPr>
          <a:xfrm>
            <a:off x="673388" y="2214512"/>
            <a:ext cx="2174578" cy="715341"/>
            <a:chOff x="673388" y="2214512"/>
            <a:chExt cx="2174578" cy="71534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2D66CB1-004F-4FEB-A620-EF025A1DF3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32625" y="2214512"/>
              <a:ext cx="715341" cy="715341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20EB12E3-6276-449F-B06E-5791B4201FD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30144" b="32176"/>
            <a:stretch/>
          </p:blipFill>
          <p:spPr>
            <a:xfrm>
              <a:off x="673388" y="2274655"/>
              <a:ext cx="1545427" cy="582319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02BF038B-7A1E-4E46-9DFF-5EE033A94F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55884" y="1145529"/>
            <a:ext cx="934412" cy="934412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F93E06A-6D9C-4F55-B856-1972EBAD6F0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0679" y="197321"/>
            <a:ext cx="1484819" cy="90850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26B2BA6-3446-4C98-9833-2F0580938E22}"/>
              </a:ext>
            </a:extLst>
          </p:cNvPr>
          <p:cNvSpPr txBox="1"/>
          <p:nvPr/>
        </p:nvSpPr>
        <p:spPr>
          <a:xfrm>
            <a:off x="3106270" y="389965"/>
            <a:ext cx="43165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Open-Source, cross-platform JavaScript </a:t>
            </a:r>
            <a:r>
              <a:rPr lang="en-US" dirty="0" err="1"/>
              <a:t>Laufzeitumgebung</a:t>
            </a:r>
            <a:endParaRPr lang="en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A7B8C3-D18B-4C1B-90A8-2A2CAF265864}"/>
              </a:ext>
            </a:extLst>
          </p:cNvPr>
          <p:cNvSpPr txBox="1"/>
          <p:nvPr/>
        </p:nvSpPr>
        <p:spPr>
          <a:xfrm>
            <a:off x="3106270" y="1348871"/>
            <a:ext cx="45407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Clientseitiges</a:t>
            </a:r>
            <a:r>
              <a:rPr lang="en-US" dirty="0"/>
              <a:t> JavaScript-</a:t>
            </a:r>
            <a:r>
              <a:rPr lang="en-US" dirty="0" err="1"/>
              <a:t>Webframework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die </a:t>
            </a:r>
            <a:r>
              <a:rPr lang="en-US" dirty="0" err="1"/>
              <a:t>Benutzeroberfläche</a:t>
            </a:r>
            <a:endParaRPr lang="en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A5252E-3FD9-44EE-B35E-DA3631E06BBC}"/>
              </a:ext>
            </a:extLst>
          </p:cNvPr>
          <p:cNvSpPr txBox="1"/>
          <p:nvPr/>
        </p:nvSpPr>
        <p:spPr>
          <a:xfrm>
            <a:off x="3106270" y="2307777"/>
            <a:ext cx="43165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Open-Source Framework </a:t>
            </a:r>
            <a:r>
              <a:rPr lang="en-US" dirty="0" err="1"/>
              <a:t>zur</a:t>
            </a:r>
            <a:r>
              <a:rPr lang="en-US" dirty="0"/>
              <a:t> </a:t>
            </a:r>
            <a:r>
              <a:rPr lang="en-US" dirty="0" err="1"/>
              <a:t>Erstellung</a:t>
            </a:r>
            <a:r>
              <a:rPr lang="en-US" dirty="0"/>
              <a:t> von Mobile </a:t>
            </a:r>
            <a:r>
              <a:rPr lang="en-US" dirty="0" err="1"/>
              <a:t>Applikationen</a:t>
            </a:r>
            <a:r>
              <a:rPr lang="en-US" dirty="0"/>
              <a:t>. </a:t>
            </a:r>
            <a:r>
              <a:rPr lang="en-US" dirty="0" err="1"/>
              <a:t>Basiert</a:t>
            </a:r>
            <a:r>
              <a:rPr lang="en-US" dirty="0"/>
              <a:t> auf Cordova.</a:t>
            </a:r>
            <a:endParaRPr lang="en-DE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401F35-E243-4CE6-906F-6D1F1FDD7F56}"/>
              </a:ext>
            </a:extLst>
          </p:cNvPr>
          <p:cNvSpPr txBox="1"/>
          <p:nvPr/>
        </p:nvSpPr>
        <p:spPr>
          <a:xfrm>
            <a:off x="3106270" y="3240557"/>
            <a:ext cx="43165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Open-Source Framework, welches die </a:t>
            </a:r>
            <a:r>
              <a:rPr lang="en-US" dirty="0" err="1"/>
              <a:t>Ausführung</a:t>
            </a:r>
            <a:r>
              <a:rPr lang="en-US" dirty="0"/>
              <a:t> von cross-platform Desktop-</a:t>
            </a:r>
            <a:r>
              <a:rPr lang="en-US" dirty="0" err="1"/>
              <a:t>Anwendungen</a:t>
            </a:r>
            <a:r>
              <a:rPr lang="en-US" dirty="0"/>
              <a:t> </a:t>
            </a:r>
            <a:r>
              <a:rPr lang="en-US" dirty="0" err="1"/>
              <a:t>ermöglicht</a:t>
            </a:r>
            <a:r>
              <a:rPr lang="en-US" dirty="0"/>
              <a:t>.</a:t>
            </a:r>
            <a:endParaRPr lang="en-DE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D28BA2-883D-42BF-8ED5-7433DDA53178}"/>
              </a:ext>
            </a:extLst>
          </p:cNvPr>
          <p:cNvSpPr txBox="1"/>
          <p:nvPr/>
        </p:nvSpPr>
        <p:spPr>
          <a:xfrm>
            <a:off x="3106270" y="4225589"/>
            <a:ext cx="43165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Freie Webanwendung zur Administration von MySQL-Datenbanken</a:t>
            </a:r>
            <a:endParaRPr lang="en-DE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B8F585BA-34EE-4F91-88FF-387484E0D91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92938" y="4041661"/>
            <a:ext cx="1260299" cy="89107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053D17A-0B89-4683-8E40-4F859847194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6108" y="128883"/>
            <a:ext cx="836292" cy="73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906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94C5B1-BAA3-47AC-9E21-832556908F6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8C7BFF-7EC7-4C39-A7C2-1CA58EE6C5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0907" y="3146112"/>
            <a:ext cx="764362" cy="764362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A6A9F355-B7D4-426E-A5F8-7B3A68FD5562}"/>
              </a:ext>
            </a:extLst>
          </p:cNvPr>
          <p:cNvGrpSpPr/>
          <p:nvPr/>
        </p:nvGrpSpPr>
        <p:grpSpPr>
          <a:xfrm>
            <a:off x="673388" y="2214512"/>
            <a:ext cx="2174578" cy="715341"/>
            <a:chOff x="673388" y="2214512"/>
            <a:chExt cx="2174578" cy="71534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2D66CB1-004F-4FEB-A620-EF025A1DF3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32625" y="2214512"/>
              <a:ext cx="715341" cy="715341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20EB12E3-6276-449F-B06E-5791B4201FD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30144" b="32176"/>
            <a:stretch/>
          </p:blipFill>
          <p:spPr>
            <a:xfrm>
              <a:off x="673388" y="2274655"/>
              <a:ext cx="1545427" cy="582319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02BF038B-7A1E-4E46-9DFF-5EE033A94F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55884" y="1145529"/>
            <a:ext cx="934412" cy="934412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F93E06A-6D9C-4F55-B856-1972EBAD6F0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0679" y="197321"/>
            <a:ext cx="1484819" cy="90850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26B2BA6-3446-4C98-9833-2F0580938E22}"/>
              </a:ext>
            </a:extLst>
          </p:cNvPr>
          <p:cNvSpPr txBox="1"/>
          <p:nvPr/>
        </p:nvSpPr>
        <p:spPr>
          <a:xfrm>
            <a:off x="3106270" y="389965"/>
            <a:ext cx="43165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Open-Source, cross-platform JavaScript </a:t>
            </a:r>
            <a:r>
              <a:rPr lang="en-US" dirty="0" err="1"/>
              <a:t>Laufzeitumgebung</a:t>
            </a:r>
            <a:endParaRPr lang="en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A7B8C3-D18B-4C1B-90A8-2A2CAF265864}"/>
              </a:ext>
            </a:extLst>
          </p:cNvPr>
          <p:cNvSpPr txBox="1"/>
          <p:nvPr/>
        </p:nvSpPr>
        <p:spPr>
          <a:xfrm>
            <a:off x="3106270" y="1348871"/>
            <a:ext cx="45407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Clientseitiges</a:t>
            </a:r>
            <a:r>
              <a:rPr lang="en-US" dirty="0"/>
              <a:t> JavaScript-</a:t>
            </a:r>
            <a:r>
              <a:rPr lang="en-US" dirty="0" err="1"/>
              <a:t>Webframework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die </a:t>
            </a:r>
            <a:r>
              <a:rPr lang="en-US" dirty="0" err="1"/>
              <a:t>Benutzeroberfläche</a:t>
            </a:r>
            <a:endParaRPr lang="en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A5252E-3FD9-44EE-B35E-DA3631E06BBC}"/>
              </a:ext>
            </a:extLst>
          </p:cNvPr>
          <p:cNvSpPr txBox="1"/>
          <p:nvPr/>
        </p:nvSpPr>
        <p:spPr>
          <a:xfrm>
            <a:off x="3106270" y="2307777"/>
            <a:ext cx="43165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Open-Source Framework </a:t>
            </a:r>
            <a:r>
              <a:rPr lang="en-US" dirty="0" err="1"/>
              <a:t>zur</a:t>
            </a:r>
            <a:r>
              <a:rPr lang="en-US" dirty="0"/>
              <a:t> </a:t>
            </a:r>
            <a:r>
              <a:rPr lang="en-US" dirty="0" err="1"/>
              <a:t>Erstellung</a:t>
            </a:r>
            <a:r>
              <a:rPr lang="en-US" dirty="0"/>
              <a:t> von Mobile </a:t>
            </a:r>
            <a:r>
              <a:rPr lang="en-US" dirty="0" err="1"/>
              <a:t>Applikationen</a:t>
            </a:r>
            <a:r>
              <a:rPr lang="en-US" dirty="0"/>
              <a:t>. </a:t>
            </a:r>
            <a:r>
              <a:rPr lang="en-US" dirty="0" err="1"/>
              <a:t>Basiert</a:t>
            </a:r>
            <a:r>
              <a:rPr lang="en-US" dirty="0"/>
              <a:t> auf Cordova.</a:t>
            </a:r>
            <a:endParaRPr lang="en-DE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401F35-E243-4CE6-906F-6D1F1FDD7F56}"/>
              </a:ext>
            </a:extLst>
          </p:cNvPr>
          <p:cNvSpPr txBox="1"/>
          <p:nvPr/>
        </p:nvSpPr>
        <p:spPr>
          <a:xfrm>
            <a:off x="3106270" y="3240557"/>
            <a:ext cx="43165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Open-Source Framework, welches die </a:t>
            </a:r>
            <a:r>
              <a:rPr lang="en-US" dirty="0" err="1"/>
              <a:t>Ausführung</a:t>
            </a:r>
            <a:r>
              <a:rPr lang="en-US" dirty="0"/>
              <a:t> von cross-platform Desktop-</a:t>
            </a:r>
            <a:r>
              <a:rPr lang="en-US" dirty="0" err="1"/>
              <a:t>Anwendungen</a:t>
            </a:r>
            <a:r>
              <a:rPr lang="en-US" dirty="0"/>
              <a:t> </a:t>
            </a:r>
            <a:r>
              <a:rPr lang="en-US" dirty="0" err="1"/>
              <a:t>ermöglicht</a:t>
            </a:r>
            <a:r>
              <a:rPr lang="en-US" dirty="0"/>
              <a:t>.</a:t>
            </a:r>
            <a:endParaRPr lang="en-DE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D28BA2-883D-42BF-8ED5-7433DDA53178}"/>
              </a:ext>
            </a:extLst>
          </p:cNvPr>
          <p:cNvSpPr txBox="1"/>
          <p:nvPr/>
        </p:nvSpPr>
        <p:spPr>
          <a:xfrm>
            <a:off x="3106270" y="4225589"/>
            <a:ext cx="43165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Freie Webanwendung zur Administration von MySQL-Datenbanken</a:t>
            </a:r>
            <a:endParaRPr lang="en-DE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B8F585BA-34EE-4F91-88FF-387484E0D91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92938" y="4041661"/>
            <a:ext cx="1260299" cy="89107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053D17A-0B89-4683-8E40-4F859847194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6108" y="128883"/>
            <a:ext cx="836292" cy="73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254377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7"/>
          <p:cNvSpPr txBox="1">
            <a:spLocks noGrp="1"/>
          </p:cNvSpPr>
          <p:nvPr>
            <p:ph type="ctrTitle"/>
          </p:nvPr>
        </p:nvSpPr>
        <p:spPr>
          <a:xfrm>
            <a:off x="1629680" y="2246931"/>
            <a:ext cx="5872871" cy="956700"/>
          </a:xfrm>
        </p:spPr>
        <p:txBody>
          <a:bodyPr/>
          <a:lstStyle/>
          <a:p>
            <a:r>
              <a:rPr lang="en-US" spc="-1" dirty="0"/>
              <a:t>Installation</a:t>
            </a:r>
            <a:endParaRPr lang="en-US" dirty="0"/>
          </a:p>
        </p:txBody>
      </p:sp>
      <p:sp>
        <p:nvSpPr>
          <p:cNvPr id="176" name="Google Shape;176;p17"/>
          <p:cNvSpPr txBox="1"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pc="-1" dirty="0"/>
              <a:t>???</a:t>
            </a:r>
            <a:endParaRPr lang="en-US" spc="-1" dirty="0">
              <a:latin typeface="Arial"/>
            </a:endParaRPr>
          </a:p>
        </p:txBody>
      </p:sp>
      <p:sp>
        <p:nvSpPr>
          <p:cNvPr id="177" name="Google Shape;177;p17"/>
          <p:cNvSpPr txBox="1"/>
          <p:nvPr/>
        </p:nvSpPr>
        <p:spPr>
          <a:xfrm>
            <a:off x="1030925" y="710500"/>
            <a:ext cx="1392600" cy="13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0" b="1" dirty="0">
                <a:solidFill>
                  <a:srgbClr val="FFFFFF"/>
                </a:solidFill>
                <a:latin typeface="Poppins"/>
                <a:cs typeface="Poppins"/>
                <a:sym typeface="Poppins"/>
              </a:rPr>
              <a:t>2</a:t>
            </a:r>
            <a:endParaRPr sz="6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1560664"/>
      </p:ext>
    </p:extLst>
  </p:cSld>
  <p:clrMapOvr>
    <a:masterClrMapping/>
  </p:clrMapOvr>
  <p:transition advTm="188"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7"/>
          <p:cNvSpPr txBox="1">
            <a:spLocks noGrp="1"/>
          </p:cNvSpPr>
          <p:nvPr>
            <p:ph type="ctrTitle"/>
          </p:nvPr>
        </p:nvSpPr>
        <p:spPr>
          <a:xfrm>
            <a:off x="1629680" y="2246931"/>
            <a:ext cx="5872871" cy="956700"/>
          </a:xfrm>
        </p:spPr>
        <p:txBody>
          <a:bodyPr/>
          <a:lstStyle/>
          <a:p>
            <a:pPr lvl="0"/>
            <a:r>
              <a:rPr lang="en-US" dirty="0" err="1"/>
              <a:t>Vorführung</a:t>
            </a:r>
            <a:endParaRPr lang="en-US" dirty="0"/>
          </a:p>
        </p:txBody>
      </p:sp>
      <p:sp>
        <p:nvSpPr>
          <p:cNvPr id="176" name="Google Shape;176;p17"/>
          <p:cNvSpPr txBox="1"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pc="-1" dirty="0" err="1"/>
              <a:t>Endprodukt</a:t>
            </a:r>
            <a:r>
              <a:rPr lang="en-US" spc="-1" dirty="0"/>
              <a:t> Demonstration</a:t>
            </a:r>
            <a:endParaRPr lang="en-US" spc="-1" dirty="0">
              <a:latin typeface="Arial"/>
            </a:endParaRPr>
          </a:p>
        </p:txBody>
      </p:sp>
      <p:sp>
        <p:nvSpPr>
          <p:cNvPr id="177" name="Google Shape;177;p17"/>
          <p:cNvSpPr txBox="1"/>
          <p:nvPr/>
        </p:nvSpPr>
        <p:spPr>
          <a:xfrm>
            <a:off x="1030925" y="710500"/>
            <a:ext cx="1392600" cy="13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0" b="1" dirty="0">
                <a:solidFill>
                  <a:srgbClr val="FFFFFF"/>
                </a:solidFill>
                <a:latin typeface="Poppins"/>
                <a:cs typeface="Poppins"/>
                <a:sym typeface="Poppins"/>
              </a:rPr>
              <a:t>3</a:t>
            </a:r>
            <a:endParaRPr sz="6000" dirty="0">
              <a:solidFill>
                <a:srgbClr val="FFFFFF"/>
              </a:solidFill>
            </a:endParaRPr>
          </a:p>
        </p:txBody>
      </p:sp>
      <p:grpSp>
        <p:nvGrpSpPr>
          <p:cNvPr id="5" name="Group 3">
            <a:extLst>
              <a:ext uri="{FF2B5EF4-FFF2-40B4-BE49-F238E27FC236}">
                <a16:creationId xmlns:a16="http://schemas.microsoft.com/office/drawing/2014/main" id="{92467520-DBF1-0F46-B336-CAE18F4D8C27}"/>
              </a:ext>
            </a:extLst>
          </p:cNvPr>
          <p:cNvGrpSpPr/>
          <p:nvPr/>
        </p:nvGrpSpPr>
        <p:grpSpPr>
          <a:xfrm>
            <a:off x="7480299" y="-511232"/>
            <a:ext cx="1825761" cy="2980532"/>
            <a:chOff x="7480299" y="-498532"/>
            <a:chExt cx="1825761" cy="2980532"/>
          </a:xfrm>
        </p:grpSpPr>
        <p:sp>
          <p:nvSpPr>
            <p:cNvPr id="6" name="Rectangle 1">
              <a:extLst>
                <a:ext uri="{FF2B5EF4-FFF2-40B4-BE49-F238E27FC236}">
                  <a16:creationId xmlns:a16="http://schemas.microsoft.com/office/drawing/2014/main" id="{40F16BE8-435B-0241-8092-A8A0E6AC6733}"/>
                </a:ext>
              </a:extLst>
            </p:cNvPr>
            <p:cNvSpPr/>
            <p:nvPr/>
          </p:nvSpPr>
          <p:spPr>
            <a:xfrm rot="2700000">
              <a:off x="7749296" y="925236"/>
              <a:ext cx="2519663" cy="593865"/>
            </a:xfrm>
            <a:prstGeom prst="rect">
              <a:avLst/>
            </a:prstGeom>
            <a:solidFill>
              <a:srgbClr val="8989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 sz="2800" b="1" spc="600" dirty="0">
                <a:latin typeface="Poppins" panose="020B0604020202020204" charset="0"/>
                <a:cs typeface="Poppins" panose="020B0604020202020204" charset="0"/>
              </a:endParaRPr>
            </a:p>
          </p:txBody>
        </p:sp>
        <p:sp>
          <p:nvSpPr>
            <p:cNvPr id="7" name="Isosceles Triangle 2">
              <a:extLst>
                <a:ext uri="{FF2B5EF4-FFF2-40B4-BE49-F238E27FC236}">
                  <a16:creationId xmlns:a16="http://schemas.microsoft.com/office/drawing/2014/main" id="{2931104B-C7B6-C348-A8A4-2474632908CC}"/>
                </a:ext>
              </a:extLst>
            </p:cNvPr>
            <p:cNvSpPr/>
            <p:nvPr/>
          </p:nvSpPr>
          <p:spPr>
            <a:xfrm rot="10800000">
              <a:off x="7480299" y="124543"/>
              <a:ext cx="846417" cy="732705"/>
            </a:xfrm>
            <a:prstGeom prst="triangle">
              <a:avLst>
                <a:gd name="adj" fmla="val 11181"/>
              </a:avLst>
            </a:prstGeom>
            <a:solidFill>
              <a:srgbClr val="8989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DE" sz="2800" b="1" spc="600">
                <a:latin typeface="Poppins" panose="020B0604020202020204" charset="0"/>
                <a:cs typeface="Poppins" panose="020B0604020202020204" charset="0"/>
              </a:endParaRPr>
            </a:p>
          </p:txBody>
        </p:sp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37FF3B15-17D4-C34E-8021-E1866F8561FB}"/>
                </a:ext>
              </a:extLst>
            </p:cNvPr>
            <p:cNvSpPr/>
            <p:nvPr/>
          </p:nvSpPr>
          <p:spPr>
            <a:xfrm rot="2700000">
              <a:off x="7272683" y="464367"/>
              <a:ext cx="2519663" cy="5938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spc="600" dirty="0">
                  <a:latin typeface="Poppins" panose="020B0604020202020204" charset="0"/>
                  <a:cs typeface="Poppins" panose="020B0604020202020204" charset="0"/>
                </a:rPr>
                <a:t>DEMO</a:t>
              </a:r>
              <a:endParaRPr lang="en-DE" sz="2800" b="1" spc="600" dirty="0">
                <a:latin typeface="Poppins" panose="020B0604020202020204" charset="0"/>
                <a:cs typeface="Poppins" panose="020B060402020202020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17824043"/>
      </p:ext>
    </p:extLst>
  </p:cSld>
  <p:clrMapOvr>
    <a:masterClrMapping/>
  </p:clrMapOvr>
  <p:transition advTm="252"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7"/>
          <p:cNvSpPr txBox="1">
            <a:spLocks noGrp="1"/>
          </p:cNvSpPr>
          <p:nvPr>
            <p:ph type="ctrTitle"/>
          </p:nvPr>
        </p:nvSpPr>
        <p:spPr>
          <a:xfrm>
            <a:off x="1629680" y="2246931"/>
            <a:ext cx="5872871" cy="956700"/>
          </a:xfrm>
        </p:spPr>
        <p:txBody>
          <a:bodyPr/>
          <a:lstStyle/>
          <a:p>
            <a:r>
              <a:rPr lang="en-US" spc="-1" dirty="0" err="1"/>
              <a:t>Projektanalyse</a:t>
            </a:r>
            <a:endParaRPr lang="en-US" b="0" spc="-1" dirty="0">
              <a:latin typeface="Arial"/>
            </a:endParaRPr>
          </a:p>
        </p:txBody>
      </p:sp>
      <p:sp>
        <p:nvSpPr>
          <p:cNvPr id="176" name="Google Shape;176;p17"/>
          <p:cNvSpPr txBox="1"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pc="-1" dirty="0">
                <a:latin typeface="Arial"/>
              </a:rPr>
              <a:t>… und </a:t>
            </a:r>
            <a:r>
              <a:rPr lang="en-US" spc="-1" dirty="0" err="1">
                <a:latin typeface="Arial"/>
              </a:rPr>
              <a:t>Fazit</a:t>
            </a:r>
            <a:endParaRPr lang="en-US" spc="-1" dirty="0">
              <a:latin typeface="Arial"/>
            </a:endParaRPr>
          </a:p>
        </p:txBody>
      </p:sp>
      <p:sp>
        <p:nvSpPr>
          <p:cNvPr id="177" name="Google Shape;177;p17"/>
          <p:cNvSpPr txBox="1"/>
          <p:nvPr/>
        </p:nvSpPr>
        <p:spPr>
          <a:xfrm>
            <a:off x="1030925" y="710500"/>
            <a:ext cx="1392600" cy="13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0" b="1" dirty="0">
                <a:solidFill>
                  <a:srgbClr val="FFFFFF"/>
                </a:solidFill>
                <a:latin typeface="Poppins"/>
                <a:cs typeface="Poppins"/>
                <a:sym typeface="Poppins"/>
              </a:rPr>
              <a:t>4</a:t>
            </a:r>
            <a:endParaRPr sz="6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94384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CAB0F6-F10E-A241-9BA7-F4862868D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Meilenstein 1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CD254DF-89E4-E743-91D4-40B7FABDEA4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13623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CAB0F6-F10E-A241-9BA7-F4862868D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Meilenstein 2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CD254DF-89E4-E743-91D4-40B7FABDEA4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01336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CAB0F6-F10E-A241-9BA7-F4862868D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Meilenstein 3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CD254DF-89E4-E743-91D4-40B7FABDEA4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38307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CAB0F6-F10E-A241-9BA7-F4862868D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Meilenstein 4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CD254DF-89E4-E743-91D4-40B7FABDEA4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9242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CAB0F6-F10E-A241-9BA7-F4862868D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Meilenstein 5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CD254DF-89E4-E743-91D4-40B7FABDEA4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364417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CAB0F6-F10E-A241-9BA7-F4862868D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Fazit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CD254DF-89E4-E743-91D4-40B7FABDEA4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983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40"/>
          <p:cNvSpPr txBox="1"/>
          <p:nvPr/>
        </p:nvSpPr>
        <p:spPr>
          <a:xfrm>
            <a:off x="2773450" y="1150500"/>
            <a:ext cx="5782500" cy="13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200" b="1" dirty="0" err="1">
                <a:latin typeface="Poppins"/>
                <a:cs typeface="Poppins"/>
                <a:sym typeface="Poppins Light"/>
              </a:rPr>
              <a:t>Vielen</a:t>
            </a:r>
            <a:r>
              <a:rPr lang="en-US" sz="5200" b="1" dirty="0">
                <a:latin typeface="Poppins"/>
                <a:cs typeface="Poppins"/>
                <a:sym typeface="Poppins Light"/>
              </a:rPr>
              <a:t> Dank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b="1" dirty="0" err="1">
                <a:latin typeface="Poppins"/>
                <a:cs typeface="Poppins"/>
                <a:sym typeface="Poppins Light"/>
              </a:rPr>
              <a:t>für</a:t>
            </a:r>
            <a:r>
              <a:rPr lang="en-US" sz="2800" b="1" dirty="0">
                <a:latin typeface="Poppins"/>
                <a:cs typeface="Poppins"/>
                <a:sym typeface="Poppins Light"/>
              </a:rPr>
              <a:t> </a:t>
            </a:r>
            <a:r>
              <a:rPr lang="en-US" sz="2800" b="1" dirty="0" err="1">
                <a:latin typeface="Poppins"/>
                <a:cs typeface="Poppins"/>
                <a:sym typeface="Poppins Light"/>
              </a:rPr>
              <a:t>Ihre</a:t>
            </a:r>
            <a:r>
              <a:rPr lang="en-US" sz="2800" b="1" dirty="0">
                <a:latin typeface="Poppins"/>
                <a:cs typeface="Poppins"/>
                <a:sym typeface="Poppins Light"/>
              </a:rPr>
              <a:t> </a:t>
            </a:r>
            <a:r>
              <a:rPr lang="en-US" sz="2800" b="1" dirty="0" err="1">
                <a:latin typeface="Poppins"/>
                <a:cs typeface="Poppins"/>
                <a:sym typeface="Poppins Light"/>
              </a:rPr>
              <a:t>Aufmerksamkeit</a:t>
            </a:r>
            <a:endParaRPr sz="2800" b="1" dirty="0">
              <a:latin typeface="Poppins"/>
              <a:cs typeface="Poppins"/>
              <a:sym typeface="Poppi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FB328C7-FCBF-A645-A47C-5AC64030C7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21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5373A055-D2F8-4A09-A2AD-BF5176E2C9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800" y="1181100"/>
            <a:ext cx="876300" cy="8763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B284316E-3D1A-1947-9EA7-C9FCA60C98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8220" y="2666418"/>
            <a:ext cx="4192876" cy="200062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ymbeline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555</Words>
  <Application>Microsoft Macintosh PowerPoint</Application>
  <PresentationFormat>Bildschirmpräsentation (16:9)</PresentationFormat>
  <Paragraphs>158</Paragraphs>
  <Slides>21</Slides>
  <Notes>21</Notes>
  <HiddenSlides>2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21</vt:i4>
      </vt:variant>
    </vt:vector>
  </HeadingPairs>
  <TitlesOfParts>
    <vt:vector size="26" baseType="lpstr">
      <vt:lpstr>Arial</vt:lpstr>
      <vt:lpstr>Symbol</vt:lpstr>
      <vt:lpstr>Poppins Light</vt:lpstr>
      <vt:lpstr>Poppins</vt:lpstr>
      <vt:lpstr>Cymbeline template</vt:lpstr>
      <vt:lpstr>driving-e-car</vt:lpstr>
      <vt:lpstr>Guten Tag</vt:lpstr>
      <vt:lpstr>Agenda</vt:lpstr>
      <vt:lpstr>Was zuletzt geschah</vt:lpstr>
      <vt:lpstr>Geeignet?</vt:lpstr>
      <vt:lpstr>Driving-E-Car</vt:lpstr>
      <vt:lpstr>PowerPoint-Präsentation</vt:lpstr>
      <vt:lpstr>Big concept</vt:lpstr>
      <vt:lpstr>PowerPoint-Präsentation</vt:lpstr>
      <vt:lpstr>PowerPoint-Präsentation</vt:lpstr>
      <vt:lpstr>PowerPoint-Präsentation</vt:lpstr>
      <vt:lpstr>Installation</vt:lpstr>
      <vt:lpstr>Vorführung</vt:lpstr>
      <vt:lpstr>Projektanalyse</vt:lpstr>
      <vt:lpstr>Meilenstein 1</vt:lpstr>
      <vt:lpstr>Meilenstein 2</vt:lpstr>
      <vt:lpstr>Meilenstein 3</vt:lpstr>
      <vt:lpstr>Meilenstein 4</vt:lpstr>
      <vt:lpstr>Meilenstein 5</vt:lpstr>
      <vt:lpstr>Fazit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cp:lastModifiedBy>Simson Example</cp:lastModifiedBy>
  <cp:revision>73</cp:revision>
  <cp:lastPrinted>2018-12-13T11:32:07Z</cp:lastPrinted>
  <dcterms:modified xsi:type="dcterms:W3CDTF">2019-01-15T15:30:47Z</dcterms:modified>
</cp:coreProperties>
</file>